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484" autoAdjust="0"/>
  </p:normalViewPr>
  <p:slideViewPr>
    <p:cSldViewPr snapToGrid="0">
      <p:cViewPr varScale="1">
        <p:scale>
          <a:sx n="68" d="100"/>
          <a:sy n="68" d="100"/>
        </p:scale>
        <p:origin x="1039" y="3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Nhóm em xin trình bày đề tài “Dự đoán mức độ tương tác của học viên trên nền tảng MOOC dựa trên dữ liệu hành vi học tập”.</a:t>
            </a:r>
            <a:br>
              <a:rPr lang="vi-VN" dirty="0"/>
            </a:br>
            <a:r>
              <a:rPr lang="vi-VN" dirty="0"/>
              <a:t>Đề tài thuộc lĩnh vực khai phá dữ liệu và học máy, với mục tiêu xây dựng một hệ thống có khả năng dự đoán sớm mức độ tương tác của người học.</a:t>
            </a: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Đây là tên đề tài bằng tiếng Việt và tiếng Anh.</a:t>
            </a:r>
            <a:br>
              <a:rPr lang="vi-VN" dirty="0"/>
            </a:br>
            <a:r>
              <a:rPr lang="vi-VN" dirty="0"/>
              <a:t>Từ khóa quan trọng ở đây là </a:t>
            </a:r>
            <a:r>
              <a:rPr lang="vi-VN" i="1" dirty="0"/>
              <a:t>data-driven labeling</a:t>
            </a:r>
            <a:r>
              <a:rPr lang="vi-VN" dirty="0"/>
              <a:t>, tức là nhóm không sử dụng nhãn có sẵn mà xây dựng nhãn trực tiếp từ dữ liệu.</a:t>
            </a:r>
            <a:endParaRPr dirty="0"/>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Đề tài nằm ở giao điểm của ba lĩnh vực: Data Science, Educational Data Mining và Machine Learning.</a:t>
            </a:r>
            <a:br>
              <a:rPr lang="vi-VN" dirty="0"/>
            </a:br>
            <a:r>
              <a:rPr lang="vi-VN" dirty="0"/>
              <a:t>Trong đó, trọng tâm là phân tích hành vi học tập từ dữ liệu lớn.</a:t>
            </a:r>
            <a:endParaRPr dirty="0"/>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Trong MOOC, tỷ lệ bỏ học rất cao do thiếu tương tác trực tiếp.</a:t>
            </a:r>
            <a:br>
              <a:rPr lang="vi-VN" dirty="0"/>
            </a:br>
            <a:r>
              <a:rPr lang="vi-VN" dirty="0"/>
              <a:t>Vì vậy, nếu có thể dự đoán sớm mức độ tương tác, hệ thống có thể can thiệp kịp thời.</a:t>
            </a:r>
            <a:br>
              <a:rPr lang="vi-VN" dirty="0"/>
            </a:br>
            <a:r>
              <a:rPr lang="vi-VN" dirty="0"/>
              <a:t>Ý tưởng của nhóm là sử dụng dữ liệu hành vi để xây dựng hệ thống cảnh báo sớm này.</a:t>
            </a:r>
            <a:endParaRPr dirty="0"/>
          </a:p>
        </p:txBody>
      </p:sp>
      <p:sp>
        <p:nvSpPr>
          <p:cNvPr id="127" name="Google Shape;12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Bài toán được định nghĩa là một bài toán phân loại đa lớp.</a:t>
            </a:r>
            <a:br>
              <a:rPr lang="vi-VN" dirty="0"/>
            </a:br>
            <a:r>
              <a:rPr lang="vi-VN" dirty="0"/>
              <a:t>Input là dữ liệu hành vi và thông tin người học,</a:t>
            </a:r>
            <a:br>
              <a:rPr lang="vi-VN" dirty="0"/>
            </a:br>
            <a:r>
              <a:rPr lang="vi-VN" dirty="0"/>
              <a:t>Output là 3 mức độ tương tác: High, Medium và Low.</a:t>
            </a:r>
            <a:endParaRPr dirty="0"/>
          </a:p>
        </p:txBody>
      </p:sp>
      <p:sp>
        <p:nvSpPr>
          <p:cNvPr id="149" name="Google Shape;14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dirty="0"/>
              <a:t>Điểm mới của đề tài nằm ở 3 yếu tố chính:</a:t>
            </a:r>
            <a:br>
              <a:rPr lang="vi-VN" dirty="0"/>
            </a:br>
            <a:r>
              <a:rPr lang="vi-VN" dirty="0"/>
              <a:t>Thứ nhất, sử dụng WES để tạo nhãn thay vì nhãn có sẵn.</a:t>
            </a:r>
            <a:br>
              <a:rPr lang="vi-VN" dirty="0"/>
            </a:br>
            <a:r>
              <a:rPr lang="vi-VN" dirty="0"/>
              <a:t>Thứ hai, dự đoán dựa trên 28 ngày đầu — tức là early prediction.</a:t>
            </a:r>
            <a:br>
              <a:rPr lang="vi-VN" dirty="0"/>
            </a:br>
            <a:r>
              <a:rPr lang="vi-VN" dirty="0"/>
              <a:t>Và thứ ba là sử dụng SHAP để giải thích mô hình.</a:t>
            </a:r>
          </a:p>
          <a:p>
            <a:pPr marL="0" lvl="0" indent="0" algn="l" rtl="0">
              <a:spcBef>
                <a:spcPts val="0"/>
              </a:spcBef>
              <a:spcAft>
                <a:spcPts val="0"/>
              </a:spcAft>
              <a:buNone/>
            </a:pPr>
            <a:endParaRPr dirty="0"/>
          </a:p>
        </p:txBody>
      </p:sp>
      <p:sp>
        <p:nvSpPr>
          <p:cNvPr id="166" name="Google Shape;16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dirty="0"/>
              <a:t>Các hướng nghiên cứu trước đây chủ yếu dùng clustering hoặc supervised learning.</a:t>
            </a:r>
            <a:br>
              <a:rPr lang="vi-VN" dirty="0"/>
            </a:br>
            <a:r>
              <a:rPr lang="vi-VN" dirty="0"/>
              <a:t>Tuy nhiên, hạn chế lớn là thiếu nhãn và dữ liệu nhiễu.</a:t>
            </a:r>
            <a:br>
              <a:rPr lang="vi-VN" dirty="0"/>
            </a:br>
            <a:r>
              <a:rPr lang="vi-VN" dirty="0"/>
              <a:t>Đây cũng chính là lý do nhóm chọn hướng tiếp cận khác.</a:t>
            </a:r>
          </a:p>
        </p:txBody>
      </p:sp>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Nhóm chọn kết hợp WES + percentile để tạo nhãn.</a:t>
            </a:r>
            <a:br>
              <a:rPr lang="vi-VN" dirty="0"/>
            </a:br>
            <a:r>
              <a:rPr lang="vi-VN" dirty="0"/>
              <a:t>Sau đó sử dụng hành vi trong 28 ngày đầu để train mô hình machine learning.</a:t>
            </a:r>
            <a:endParaRPr dirty="0"/>
          </a:p>
        </p:txBody>
      </p:sp>
      <p:sp>
        <p:nvSpPr>
          <p:cNvPr id="194" name="Google Shape;19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Dataset sử dụng là MOOCCubeX, gồm hơn 4.4 triệu log và khoảng 129 nghìn người dùng.</a:t>
            </a:r>
            <a:br>
              <a:rPr lang="vi-VN" dirty="0"/>
            </a:br>
            <a:r>
              <a:rPr lang="vi-VN" dirty="0"/>
              <a:t>Đây là một dataset lớn, phù hợp cho bài toán learning analytics.</a:t>
            </a:r>
            <a:endParaRPr dirty="0"/>
          </a:p>
        </p:txBody>
      </p:sp>
      <p:sp>
        <p:nvSpPr>
          <p:cNvPr id="208" name="Google Shape;20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Sau khi tiền xử lý, dữ liệu được flatten từ JSON sang dạng bảng.</a:t>
            </a:r>
            <a:br>
              <a:rPr lang="vi-VN" dirty="0"/>
            </a:br>
            <a:r>
              <a:rPr lang="vi-VN" dirty="0"/>
              <a:t>Dataset cuối cùng có khoảng 129K samples và nhãn được phân bố cân bằng 1:1:1.</a:t>
            </a:r>
            <a:endParaRPr dirty="0"/>
          </a:p>
        </p:txBody>
      </p:sp>
      <p:sp>
        <p:nvSpPr>
          <p:cNvPr id="224" name="Google Shape;22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Pipeline của nhóm gồm 4 bước chính:</a:t>
            </a:r>
            <a:br>
              <a:rPr lang="vi-VN" dirty="0"/>
            </a:br>
            <a:r>
              <a:rPr lang="vi-VN" dirty="0"/>
              <a:t>xây dựng nhãn, trích xuất đặc trưng, huấn luyện mô hình và giải thích kết quả.</a:t>
            </a:r>
            <a:endParaRPr dirty="0"/>
          </a:p>
        </p:txBody>
      </p:sp>
      <p:sp>
        <p:nvSpPr>
          <p:cNvPr id="241" name="Google Shape;24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Dữ liệu từ nhiều nguồn được hợp nhất theo user_id.</a:t>
            </a:r>
            <a:br>
              <a:rPr lang="vi-VN" dirty="0"/>
            </a:br>
            <a:r>
              <a:rPr lang="vi-VN" dirty="0"/>
              <a:t>Sau đó xử lý JSON và làm sạch dữ liệu để chuẩn bị cho các bước tiếp theo.</a:t>
            </a:r>
            <a:endParaRPr dirty="0"/>
          </a:p>
        </p:txBody>
      </p:sp>
      <p:sp>
        <p:nvSpPr>
          <p:cNvPr id="257" name="Google Shape;25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Nhóm sử dụng thống kê mô tả và phân tích tương quan.</a:t>
            </a:r>
            <a:br>
              <a:rPr lang="vi-VN" dirty="0"/>
            </a:br>
            <a:r>
              <a:rPr lang="vi-VN" dirty="0"/>
              <a:t>Kết quả cho thấy dữ liệu có phân phối lệch và tồn tại nhiều outliers.</a:t>
            </a:r>
            <a:endParaRPr dirty="0"/>
          </a:p>
        </p:txBody>
      </p:sp>
      <p:sp>
        <p:nvSpPr>
          <p:cNvPr id="274" name="Google Shape;27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Feature được trích xuất trong 28 ngày đầu, ví dụ như số lần làm bài, điểm và độ chính xác.</a:t>
            </a:r>
            <a:br>
              <a:rPr lang="vi-VN" dirty="0"/>
            </a:br>
            <a:r>
              <a:rPr lang="vi-VN" dirty="0"/>
              <a:t>Label được tạo bằng WES kết hợp với phương pháp percentile.</a:t>
            </a:r>
            <a:endParaRPr dirty="0"/>
          </a:p>
        </p:txBody>
      </p:sp>
      <p:sp>
        <p:nvSpPr>
          <p:cNvPr id="287" name="Google Shape;28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WES là tổng có trọng số của các đặc trưng đã chuẩn hóa.</a:t>
            </a:r>
            <a:br>
              <a:rPr lang="vi-VN" dirty="0"/>
            </a:br>
            <a:r>
              <a:rPr lang="vi-VN" dirty="0"/>
              <a:t>Nó giúp tổng hợp nhiều hành vi khác nhau thành một chỉ số duy nhất phản ánh mức độ engagement.</a:t>
            </a:r>
            <a:endParaRPr dirty="0"/>
          </a:p>
        </p:txBody>
      </p:sp>
      <p:sp>
        <p:nvSpPr>
          <p:cNvPr id="301" name="Google Shape;30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Nhóm thử nghiệm nhiều mô hình như Logistic Regression, Random Forest, XGBoost và CatBoost.</a:t>
            </a:r>
            <a:br>
              <a:rPr lang="vi-VN" dirty="0"/>
            </a:br>
            <a:r>
              <a:rPr lang="vi-VN" dirty="0"/>
              <a:t>Sau đó chọn mô hình tốt nhất dựa trên kết quả đánh giá.</a:t>
            </a:r>
            <a:endParaRPr dirty="0"/>
          </a:p>
        </p:txBody>
      </p:sp>
      <p:sp>
        <p:nvSpPr>
          <p:cNvPr id="317" name="Google Shape;31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dirty="0"/>
              <a:t>Dữ liệu được chia theo tỷ lệ 80-10-10 với stratified sampling.</a:t>
            </a:r>
            <a:br>
              <a:rPr lang="vi-VN" dirty="0"/>
            </a:br>
            <a:r>
              <a:rPr lang="vi-VN" dirty="0"/>
              <a:t>SMOTE được áp dụng trên tập train để xử lý mất cân bằng dữ liệu.</a:t>
            </a:r>
          </a:p>
          <a:p>
            <a:pPr marL="0" lvl="0" indent="0" algn="l" rtl="0">
              <a:spcBef>
                <a:spcPts val="0"/>
              </a:spcBef>
              <a:spcAft>
                <a:spcPts val="0"/>
              </a:spcAft>
              <a:buNone/>
            </a:pPr>
            <a:endParaRPr dirty="0"/>
          </a:p>
        </p:txBody>
      </p:sp>
      <p:sp>
        <p:nvSpPr>
          <p:cNvPr id="338" name="Google Shape;33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Mô hình được đánh giá bằng các metrics như Accuracy, Precision, Recall và F1-score</a:t>
            </a:r>
            <a:br>
              <a:rPr lang="vi-VN" dirty="0"/>
            </a:br>
            <a:r>
              <a:rPr lang="vi-VN" dirty="0"/>
              <a:t>để đảm bảo đánh giá toàn diện hiệu năng.</a:t>
            </a:r>
            <a:endParaRPr dirty="0"/>
          </a:p>
        </p:txBody>
      </p:sp>
      <p:sp>
        <p:nvSpPr>
          <p:cNvPr id="352" name="Google Shape;35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Kết quả có thể dùng để xây dựng hệ thống cảnh báo sớm,</a:t>
            </a:r>
            <a:br>
              <a:rPr lang="vi-VN" dirty="0"/>
            </a:br>
            <a:r>
              <a:rPr lang="vi-VN" dirty="0"/>
              <a:t>dashboard theo dõi học viên và hỗ trợ cá nhân hóa học tập.</a:t>
            </a:r>
            <a:endParaRPr dirty="0"/>
          </a:p>
        </p:txBody>
      </p:sp>
      <p:sp>
        <p:nvSpPr>
          <p:cNvPr id="376" name="Google Shape;37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dirty="0"/>
              <a:t>Nhóm đã xây dựng thành công pipeline từ dữ liệu đến mô hình.</a:t>
            </a:r>
            <a:br>
              <a:rPr lang="vi-VN" dirty="0"/>
            </a:br>
            <a:r>
              <a:rPr lang="vi-VN" dirty="0"/>
              <a:t>Kết quả đạt khoảng 0.62 accuracy và có thể triển khai thực tế trong hệ thống MOOC.</a:t>
            </a:r>
          </a:p>
          <a:p>
            <a:pPr marL="0" lvl="0" indent="0" algn="l" rtl="0">
              <a:spcBef>
                <a:spcPts val="0"/>
              </a:spcBef>
              <a:spcAft>
                <a:spcPts val="0"/>
              </a:spcAft>
              <a:buNone/>
            </a:pPr>
            <a:endParaRPr dirty="0"/>
          </a:p>
        </p:txBody>
      </p:sp>
      <p:sp>
        <p:nvSpPr>
          <p:cNvPr id="392" name="Google Shape;39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4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1.png"/><Relationship Id="rId7"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1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png"/><Relationship Id="rId7" Type="http://schemas.openxmlformats.org/officeDocument/2006/relationships/image" Target="../media/image6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86" name="Google Shape;86;p13"/>
          <p:cNvSpPr txBox="1"/>
          <p:nvPr/>
        </p:nvSpPr>
        <p:spPr>
          <a:xfrm>
            <a:off x="295275" y="1464022"/>
            <a:ext cx="11601450" cy="166199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500" b="1" i="0" u="none" strike="noStrike" cap="none">
                <a:solidFill>
                  <a:srgbClr val="002060"/>
                </a:solidFill>
                <a:latin typeface="+mj-lt"/>
                <a:ea typeface="Poppins"/>
                <a:cs typeface="Poppins"/>
                <a:sym typeface="Poppins"/>
              </a:rPr>
              <a:t>DỰ ĐOÁN MỨC ĐỘ TƯƠNG TÁC</a:t>
            </a:r>
            <a:br>
              <a:rPr lang="en-US" sz="1800" b="0" i="0" u="none" strike="noStrike" cap="none">
                <a:solidFill>
                  <a:schemeClr val="dk1"/>
                </a:solidFill>
                <a:latin typeface="+mj-lt"/>
                <a:ea typeface="Calibri"/>
                <a:cs typeface="Calibri"/>
                <a:sym typeface="Calibri"/>
              </a:rPr>
            </a:br>
            <a:r>
              <a:rPr lang="en-US" sz="4500" b="1" i="0" u="none" strike="noStrike" cap="none">
                <a:solidFill>
                  <a:srgbClr val="002060"/>
                </a:solidFill>
                <a:latin typeface="+mj-lt"/>
                <a:ea typeface="Poppins"/>
                <a:cs typeface="Poppins"/>
                <a:sym typeface="Poppins"/>
              </a:rPr>
              <a:t> CỦA HỌC VIÊN TRÊN MOOC</a:t>
            </a:r>
            <a:endParaRPr>
              <a:latin typeface="+mj-lt"/>
            </a:endParaRPr>
          </a:p>
        </p:txBody>
      </p:sp>
      <p:sp>
        <p:nvSpPr>
          <p:cNvPr id="87" name="Google Shape;87;p13"/>
          <p:cNvSpPr/>
          <p:nvPr/>
        </p:nvSpPr>
        <p:spPr>
          <a:xfrm>
            <a:off x="5619750" y="3216622"/>
            <a:ext cx="952500" cy="76200"/>
          </a:xfrm>
          <a:prstGeom prst="rect">
            <a:avLst/>
          </a:prstGeom>
          <a:solidFill>
            <a:srgbClr val="0047A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88" name="Google Shape;88;p13"/>
          <p:cNvSpPr txBox="1"/>
          <p:nvPr/>
        </p:nvSpPr>
        <p:spPr>
          <a:xfrm>
            <a:off x="571500" y="3816697"/>
            <a:ext cx="11049000" cy="48013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50" b="0" i="0" u="none" strike="noStrike" cap="none">
                <a:solidFill>
                  <a:srgbClr val="64748B"/>
                </a:solidFill>
                <a:latin typeface="+mj-lt"/>
                <a:ea typeface="Lato"/>
                <a:cs typeface="Lato"/>
                <a:sym typeface="Lato"/>
              </a:rPr>
              <a:t>Dựa trên dữ liệu hành vi học tập (MOOCCubeX)</a:t>
            </a:r>
            <a:endParaRPr>
              <a:latin typeface="+mj-lt"/>
            </a:endParaRPr>
          </a:p>
        </p:txBody>
      </p:sp>
      <p:sp>
        <p:nvSpPr>
          <p:cNvPr id="89" name="Google Shape;89;p13"/>
          <p:cNvSpPr txBox="1"/>
          <p:nvPr/>
        </p:nvSpPr>
        <p:spPr>
          <a:xfrm>
            <a:off x="571500" y="4784377"/>
            <a:ext cx="11049000" cy="40626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1" i="0" u="none" strike="noStrike" cap="none">
                <a:solidFill>
                  <a:srgbClr val="002060"/>
                </a:solidFill>
                <a:latin typeface="+mj-lt"/>
                <a:ea typeface="Lato"/>
                <a:cs typeface="Lato"/>
                <a:sym typeface="Lato"/>
              </a:rPr>
              <a:t>Nhóm 3 | Môn: Khai phá dữ liệu</a:t>
            </a:r>
            <a:endParaRPr>
              <a:latin typeface="+mj-lt"/>
            </a:endParaRPr>
          </a:p>
        </p:txBody>
      </p:sp>
      <p:sp>
        <p:nvSpPr>
          <p:cNvPr id="90" name="Google Shape;90;p13"/>
          <p:cNvSpPr txBox="1"/>
          <p:nvPr/>
        </p:nvSpPr>
        <p:spPr>
          <a:xfrm>
            <a:off x="571500" y="5214788"/>
            <a:ext cx="11049000" cy="332399"/>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GVHD: ThS. Nguyễn Thị Anh Thư</a:t>
            </a:r>
            <a:endParaRPr>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
        <p:cNvGrpSpPr/>
        <p:nvPr/>
      </p:nvGrpSpPr>
      <p:grpSpPr>
        <a:xfrm>
          <a:off x="0" y="0"/>
          <a:ext cx="0" cy="0"/>
          <a:chOff x="0" y="0"/>
          <a:chExt cx="0" cy="0"/>
        </a:xfrm>
      </p:grpSpPr>
      <p:pic>
        <p:nvPicPr>
          <p:cNvPr id="95" name="Google Shape;95;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6" name="Google Shape;96;p14" descr="image.png"/>
          <p:cNvPicPr preferRelativeResize="0"/>
          <p:nvPr/>
        </p:nvPicPr>
        <p:blipFill rotWithShape="1">
          <a:blip r:embed="rId4">
            <a:alphaModFix/>
          </a:blip>
          <a:srcRect/>
          <a:stretch/>
        </p:blipFill>
        <p:spPr>
          <a:xfrm>
            <a:off x="571500" y="1362075"/>
            <a:ext cx="11049000" cy="2414587"/>
          </a:xfrm>
          <a:prstGeom prst="rect">
            <a:avLst/>
          </a:prstGeom>
          <a:noFill/>
          <a:ln>
            <a:noFill/>
          </a:ln>
        </p:spPr>
      </p:pic>
      <p:pic>
        <p:nvPicPr>
          <p:cNvPr id="97" name="Google Shape;97;p14" descr="image.png"/>
          <p:cNvPicPr preferRelativeResize="0"/>
          <p:nvPr/>
        </p:nvPicPr>
        <p:blipFill rotWithShape="1">
          <a:blip r:embed="rId5">
            <a:alphaModFix/>
          </a:blip>
          <a:srcRect/>
          <a:stretch/>
        </p:blipFill>
        <p:spPr>
          <a:xfrm>
            <a:off x="571500" y="4062412"/>
            <a:ext cx="11049000" cy="2414587"/>
          </a:xfrm>
          <a:prstGeom prst="rect">
            <a:avLst/>
          </a:prstGeom>
          <a:noFill/>
          <a:ln>
            <a:noFill/>
          </a:ln>
        </p:spPr>
      </p:pic>
      <p:sp>
        <p:nvSpPr>
          <p:cNvPr id="98" name="Google Shape;98;p14"/>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99" name="Google Shape;99;p14"/>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47AB"/>
                </a:solidFill>
                <a:latin typeface="+mj-lt"/>
                <a:ea typeface="Poppins"/>
                <a:cs typeface="Poppins"/>
                <a:sym typeface="Poppins"/>
              </a:rPr>
              <a:t>A1</a:t>
            </a:r>
            <a:r>
              <a:rPr lang="en-US" sz="2550" b="1" i="0" u="none" strike="noStrike" cap="none">
                <a:solidFill>
                  <a:srgbClr val="002060"/>
                </a:solidFill>
                <a:latin typeface="+mj-lt"/>
                <a:ea typeface="Poppins"/>
                <a:cs typeface="Poppins"/>
                <a:sym typeface="Poppins"/>
              </a:rPr>
              <a:t> Tên đề tài nghiên cứu</a:t>
            </a:r>
            <a:endParaRPr>
              <a:latin typeface="+mj-lt"/>
            </a:endParaRPr>
          </a:p>
        </p:txBody>
      </p:sp>
      <p:sp>
        <p:nvSpPr>
          <p:cNvPr id="100" name="Google Shape;100;p14"/>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01" name="Google Shape;101;p14"/>
          <p:cNvSpPr txBox="1"/>
          <p:nvPr/>
        </p:nvSpPr>
        <p:spPr>
          <a:xfrm>
            <a:off x="933450" y="1657350"/>
            <a:ext cx="10911363"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47AB"/>
                </a:solidFill>
                <a:latin typeface="+mj-lt"/>
                <a:ea typeface="Poppins"/>
                <a:cs typeface="Poppins"/>
                <a:sym typeface="Poppins"/>
              </a:rPr>
              <a:t>Tiếng Việt</a:t>
            </a:r>
            <a:endParaRPr>
              <a:latin typeface="+mj-lt"/>
            </a:endParaRPr>
          </a:p>
        </p:txBody>
      </p:sp>
      <p:sp>
        <p:nvSpPr>
          <p:cNvPr id="102" name="Google Shape;102;p14"/>
          <p:cNvSpPr txBox="1"/>
          <p:nvPr/>
        </p:nvSpPr>
        <p:spPr>
          <a:xfrm>
            <a:off x="933450" y="2133600"/>
            <a:ext cx="10391775"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err="1">
                <a:solidFill>
                  <a:srgbClr val="334155"/>
                </a:solidFill>
                <a:latin typeface="+mj-lt"/>
                <a:ea typeface="Lato"/>
                <a:cs typeface="Lato"/>
                <a:sym typeface="Lato"/>
              </a:rPr>
              <a:t>Dự</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đoán</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mức</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độ</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tương</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tác</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của</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học</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viên</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trên</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nền</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tảng</a:t>
            </a:r>
            <a:r>
              <a:rPr lang="en-US" sz="1600" b="0" i="0" u="none" strike="noStrike" cap="none" dirty="0">
                <a:solidFill>
                  <a:srgbClr val="334155"/>
                </a:solidFill>
                <a:latin typeface="+mj-lt"/>
                <a:ea typeface="Lato"/>
                <a:cs typeface="Lato"/>
                <a:sym typeface="Lato"/>
              </a:rPr>
              <a:t> MOOC </a:t>
            </a:r>
            <a:r>
              <a:rPr lang="en-US" sz="1600" b="0" i="0" u="none" strike="noStrike" cap="none" dirty="0" err="1">
                <a:solidFill>
                  <a:srgbClr val="334155"/>
                </a:solidFill>
                <a:latin typeface="+mj-lt"/>
                <a:ea typeface="Lato"/>
                <a:cs typeface="Lato"/>
                <a:sym typeface="Lato"/>
              </a:rPr>
              <a:t>dựa</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trên</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dữ</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liệu</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hành</a:t>
            </a:r>
            <a:r>
              <a:rPr lang="en-US" sz="1600" b="0" i="0" u="none" strike="noStrike" cap="none" dirty="0">
                <a:solidFill>
                  <a:srgbClr val="334155"/>
                </a:solidFill>
                <a:latin typeface="+mj-lt"/>
                <a:ea typeface="Lato"/>
                <a:cs typeface="Lato"/>
                <a:sym typeface="Lato"/>
              </a:rPr>
              <a:t> vi </a:t>
            </a:r>
            <a:r>
              <a:rPr lang="en-US" sz="1600" b="0" i="0" u="none" strike="noStrike" cap="none" dirty="0" err="1">
                <a:solidFill>
                  <a:srgbClr val="334155"/>
                </a:solidFill>
                <a:latin typeface="+mj-lt"/>
                <a:ea typeface="Lato"/>
                <a:cs typeface="Lato"/>
                <a:sym typeface="Lato"/>
              </a:rPr>
              <a:t>học</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tập</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với</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phương</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pháp</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gán</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nhãn</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theo</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phân</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bố</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dữ</a:t>
            </a:r>
            <a:r>
              <a:rPr lang="en-US" sz="1600" b="0" i="0" u="none" strike="noStrike" cap="none" dirty="0">
                <a:solidFill>
                  <a:srgbClr val="334155"/>
                </a:solidFill>
                <a:latin typeface="+mj-lt"/>
                <a:ea typeface="Lato"/>
                <a:cs typeface="Lato"/>
                <a:sym typeface="Lato"/>
              </a:rPr>
              <a:t> </a:t>
            </a:r>
            <a:r>
              <a:rPr lang="en-US" sz="1600" b="0" i="0" u="none" strike="noStrike" cap="none" dirty="0" err="1">
                <a:solidFill>
                  <a:srgbClr val="334155"/>
                </a:solidFill>
                <a:latin typeface="+mj-lt"/>
                <a:ea typeface="Lato"/>
                <a:cs typeface="Lato"/>
                <a:sym typeface="Lato"/>
              </a:rPr>
              <a:t>liệu</a:t>
            </a:r>
            <a:r>
              <a:rPr lang="en-US" sz="1600" b="0" i="0" u="none" strike="noStrike" cap="none" dirty="0">
                <a:solidFill>
                  <a:srgbClr val="334155"/>
                </a:solidFill>
                <a:latin typeface="+mj-lt"/>
                <a:ea typeface="Lato"/>
                <a:cs typeface="Lato"/>
                <a:sym typeface="Lato"/>
              </a:rPr>
              <a:t> (3 </a:t>
            </a:r>
            <a:r>
              <a:rPr lang="en-US" sz="1600" b="0" i="0" u="none" strike="noStrike" cap="none" dirty="0" err="1">
                <a:solidFill>
                  <a:srgbClr val="334155"/>
                </a:solidFill>
                <a:latin typeface="+mj-lt"/>
                <a:ea typeface="Lato"/>
                <a:cs typeface="Lato"/>
                <a:sym typeface="Lato"/>
              </a:rPr>
              <a:t>nhãn</a:t>
            </a:r>
            <a:r>
              <a:rPr lang="en-US" sz="1600" b="0" i="0" u="none" strike="noStrike" cap="none" dirty="0">
                <a:solidFill>
                  <a:srgbClr val="334155"/>
                </a:solidFill>
                <a:latin typeface="+mj-lt"/>
                <a:ea typeface="Lato"/>
                <a:cs typeface="Lato"/>
                <a:sym typeface="Lato"/>
              </a:rPr>
              <a:t>)</a:t>
            </a:r>
            <a:endParaRPr sz="1600" dirty="0">
              <a:latin typeface="+mj-lt"/>
            </a:endParaRPr>
          </a:p>
        </p:txBody>
      </p:sp>
      <p:sp>
        <p:nvSpPr>
          <p:cNvPr id="103" name="Google Shape;103;p14"/>
          <p:cNvSpPr txBox="1"/>
          <p:nvPr/>
        </p:nvSpPr>
        <p:spPr>
          <a:xfrm>
            <a:off x="933450" y="4357687"/>
            <a:ext cx="10911363"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64748B"/>
                </a:solidFill>
                <a:latin typeface="+mj-lt"/>
                <a:ea typeface="Poppins"/>
                <a:cs typeface="Poppins"/>
                <a:sym typeface="Poppins"/>
              </a:rPr>
              <a:t>English Title</a:t>
            </a:r>
            <a:endParaRPr>
              <a:latin typeface="+mj-lt"/>
            </a:endParaRPr>
          </a:p>
        </p:txBody>
      </p:sp>
      <p:sp>
        <p:nvSpPr>
          <p:cNvPr id="104" name="Google Shape;104;p14"/>
          <p:cNvSpPr txBox="1"/>
          <p:nvPr/>
        </p:nvSpPr>
        <p:spPr>
          <a:xfrm>
            <a:off x="933450" y="4833937"/>
            <a:ext cx="10391775" cy="39395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1" u="none" strike="noStrike" cap="none" dirty="0">
                <a:solidFill>
                  <a:srgbClr val="334155"/>
                </a:solidFill>
                <a:latin typeface="+mj-lt"/>
                <a:ea typeface="Lato"/>
                <a:cs typeface="Lato"/>
                <a:sym typeface="Lato"/>
              </a:rPr>
              <a:t>Predicting Learner Engagement Levels in MOOC Platforms Using Behavioral Data with Data-Driven Labeling</a:t>
            </a:r>
            <a:endParaRPr sz="1600"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8"/>
        <p:cNvGrpSpPr/>
        <p:nvPr/>
      </p:nvGrpSpPr>
      <p:grpSpPr>
        <a:xfrm>
          <a:off x="0" y="0"/>
          <a:ext cx="0" cy="0"/>
          <a:chOff x="0" y="0"/>
          <a:chExt cx="0" cy="0"/>
        </a:xfrm>
      </p:grpSpPr>
      <p:pic>
        <p:nvPicPr>
          <p:cNvPr id="109" name="Google Shape;10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0" name="Google Shape;110;p15" descr="image.png"/>
          <p:cNvPicPr preferRelativeResize="0"/>
          <p:nvPr/>
        </p:nvPicPr>
        <p:blipFill rotWithShape="1">
          <a:blip r:embed="rId4">
            <a:alphaModFix/>
          </a:blip>
          <a:srcRect/>
          <a:stretch/>
        </p:blipFill>
        <p:spPr>
          <a:xfrm>
            <a:off x="571500" y="2717452"/>
            <a:ext cx="3524250" cy="2404020"/>
          </a:xfrm>
          <a:prstGeom prst="rect">
            <a:avLst/>
          </a:prstGeom>
          <a:noFill/>
          <a:ln>
            <a:noFill/>
          </a:ln>
        </p:spPr>
      </p:pic>
      <p:pic>
        <p:nvPicPr>
          <p:cNvPr id="111" name="Google Shape;111;p15" descr="image.png"/>
          <p:cNvPicPr preferRelativeResize="0"/>
          <p:nvPr/>
        </p:nvPicPr>
        <p:blipFill rotWithShape="1">
          <a:blip r:embed="rId4">
            <a:alphaModFix/>
          </a:blip>
          <a:srcRect/>
          <a:stretch/>
        </p:blipFill>
        <p:spPr>
          <a:xfrm>
            <a:off x="4333875" y="2717452"/>
            <a:ext cx="3524250" cy="2404020"/>
          </a:xfrm>
          <a:prstGeom prst="rect">
            <a:avLst/>
          </a:prstGeom>
          <a:noFill/>
          <a:ln>
            <a:noFill/>
          </a:ln>
        </p:spPr>
      </p:pic>
      <p:pic>
        <p:nvPicPr>
          <p:cNvPr id="112" name="Google Shape;112;p15" descr="image.png"/>
          <p:cNvPicPr preferRelativeResize="0"/>
          <p:nvPr/>
        </p:nvPicPr>
        <p:blipFill rotWithShape="1">
          <a:blip r:embed="rId5">
            <a:alphaModFix/>
          </a:blip>
          <a:srcRect/>
          <a:stretch/>
        </p:blipFill>
        <p:spPr>
          <a:xfrm>
            <a:off x="8096250" y="2717452"/>
            <a:ext cx="3524250" cy="2404020"/>
          </a:xfrm>
          <a:prstGeom prst="rect">
            <a:avLst/>
          </a:prstGeom>
          <a:noFill/>
          <a:ln>
            <a:noFill/>
          </a:ln>
        </p:spPr>
      </p:pic>
      <p:sp>
        <p:nvSpPr>
          <p:cNvPr id="113" name="Google Shape;113;p15"/>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14" name="Google Shape;114;p15"/>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dirty="0">
                <a:solidFill>
                  <a:srgbClr val="0047AB"/>
                </a:solidFill>
                <a:latin typeface="+mj-lt"/>
                <a:ea typeface="Poppins"/>
                <a:cs typeface="Poppins"/>
                <a:sym typeface="Poppins"/>
              </a:rPr>
              <a:t>A2</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Lĩnh</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vực</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nghiên</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cứu</a:t>
            </a:r>
            <a:endParaRPr dirty="0">
              <a:latin typeface="+mj-lt"/>
            </a:endParaRPr>
          </a:p>
        </p:txBody>
      </p:sp>
      <p:sp>
        <p:nvSpPr>
          <p:cNvPr id="115" name="Google Shape;115;p15"/>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16" name="Google Shape;116;p15"/>
          <p:cNvSpPr txBox="1"/>
          <p:nvPr/>
        </p:nvSpPr>
        <p:spPr>
          <a:xfrm>
            <a:off x="866775" y="3527077"/>
            <a:ext cx="30803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Data Science</a:t>
            </a:r>
            <a:endParaRPr>
              <a:latin typeface="+mj-lt"/>
            </a:endParaRPr>
          </a:p>
        </p:txBody>
      </p:sp>
      <p:sp>
        <p:nvSpPr>
          <p:cNvPr id="117" name="Google Shape;117;p15"/>
          <p:cNvSpPr txBox="1"/>
          <p:nvPr/>
        </p:nvSpPr>
        <p:spPr>
          <a:xfrm>
            <a:off x="866775" y="4003327"/>
            <a:ext cx="2933700"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Khoa học dữ liệu ứng dụng trong việc phân tích các tập dữ liệu lớn và không cấu trúc.</a:t>
            </a:r>
            <a:endParaRPr>
              <a:latin typeface="+mj-lt"/>
            </a:endParaRPr>
          </a:p>
        </p:txBody>
      </p:sp>
      <p:sp>
        <p:nvSpPr>
          <p:cNvPr id="118" name="Google Shape;118;p15"/>
          <p:cNvSpPr txBox="1"/>
          <p:nvPr/>
        </p:nvSpPr>
        <p:spPr>
          <a:xfrm>
            <a:off x="4629150" y="3527077"/>
            <a:ext cx="30803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Educational DM</a:t>
            </a:r>
            <a:endParaRPr>
              <a:latin typeface="+mj-lt"/>
            </a:endParaRPr>
          </a:p>
        </p:txBody>
      </p:sp>
      <p:sp>
        <p:nvSpPr>
          <p:cNvPr id="119" name="Google Shape;119;p15"/>
          <p:cNvSpPr txBox="1"/>
          <p:nvPr/>
        </p:nvSpPr>
        <p:spPr>
          <a:xfrm>
            <a:off x="4629150" y="4003327"/>
            <a:ext cx="2933700"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Khai phá dữ liệu giáo dục (EDM) để thấu hiểu hành vi người học trực tuyến.</a:t>
            </a:r>
            <a:endParaRPr>
              <a:latin typeface="+mj-lt"/>
            </a:endParaRPr>
          </a:p>
        </p:txBody>
      </p:sp>
      <p:sp>
        <p:nvSpPr>
          <p:cNvPr id="120" name="Google Shape;120;p15"/>
          <p:cNvSpPr txBox="1"/>
          <p:nvPr/>
        </p:nvSpPr>
        <p:spPr>
          <a:xfrm>
            <a:off x="8391525" y="3527077"/>
            <a:ext cx="30803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Machine Learning</a:t>
            </a:r>
            <a:endParaRPr>
              <a:latin typeface="+mj-lt"/>
            </a:endParaRPr>
          </a:p>
        </p:txBody>
      </p:sp>
      <p:sp>
        <p:nvSpPr>
          <p:cNvPr id="121" name="Google Shape;121;p15"/>
          <p:cNvSpPr txBox="1"/>
          <p:nvPr/>
        </p:nvSpPr>
        <p:spPr>
          <a:xfrm>
            <a:off x="8391525" y="4003327"/>
            <a:ext cx="2933700"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Xây dựng các mô hình dự báo tự động dựa trên các thuật toán học máy hiện đại.</a:t>
            </a:r>
            <a:endParaRPr>
              <a:latin typeface="+mj-lt"/>
            </a:endParaRPr>
          </a:p>
        </p:txBody>
      </p:sp>
      <p:pic>
        <p:nvPicPr>
          <p:cNvPr id="122" name="Google Shape;122;p15" descr="image.png"/>
          <p:cNvPicPr preferRelativeResize="0"/>
          <p:nvPr/>
        </p:nvPicPr>
        <p:blipFill rotWithShape="1">
          <a:blip r:embed="rId6">
            <a:alphaModFix/>
          </a:blip>
          <a:srcRect/>
          <a:stretch/>
        </p:blipFill>
        <p:spPr>
          <a:xfrm>
            <a:off x="866775" y="3050827"/>
            <a:ext cx="304800" cy="304800"/>
          </a:xfrm>
          <a:prstGeom prst="rect">
            <a:avLst/>
          </a:prstGeom>
          <a:noFill/>
          <a:ln>
            <a:noFill/>
          </a:ln>
        </p:spPr>
      </p:pic>
      <p:pic>
        <p:nvPicPr>
          <p:cNvPr id="123" name="Google Shape;123;p15" descr="image.png"/>
          <p:cNvPicPr preferRelativeResize="0"/>
          <p:nvPr/>
        </p:nvPicPr>
        <p:blipFill rotWithShape="1">
          <a:blip r:embed="rId7">
            <a:alphaModFix/>
          </a:blip>
          <a:srcRect/>
          <a:stretch/>
        </p:blipFill>
        <p:spPr>
          <a:xfrm>
            <a:off x="4629150" y="3050827"/>
            <a:ext cx="381000" cy="304800"/>
          </a:xfrm>
          <a:prstGeom prst="rect">
            <a:avLst/>
          </a:prstGeom>
          <a:noFill/>
          <a:ln>
            <a:noFill/>
          </a:ln>
        </p:spPr>
      </p:pic>
      <p:pic>
        <p:nvPicPr>
          <p:cNvPr id="124" name="Google Shape;124;p15" descr="image.png"/>
          <p:cNvPicPr preferRelativeResize="0"/>
          <p:nvPr/>
        </p:nvPicPr>
        <p:blipFill rotWithShape="1">
          <a:blip r:embed="rId8">
            <a:alphaModFix/>
          </a:blip>
          <a:srcRect/>
          <a:stretch/>
        </p:blipFill>
        <p:spPr>
          <a:xfrm>
            <a:off x="8391525" y="3050827"/>
            <a:ext cx="381000" cy="304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8"/>
        <p:cNvGrpSpPr/>
        <p:nvPr/>
      </p:nvGrpSpPr>
      <p:grpSpPr>
        <a:xfrm>
          <a:off x="0" y="0"/>
          <a:ext cx="0" cy="0"/>
          <a:chOff x="0" y="0"/>
          <a:chExt cx="0" cy="0"/>
        </a:xfrm>
      </p:grpSpPr>
      <p:pic>
        <p:nvPicPr>
          <p:cNvPr id="129" name="Google Shape;129;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0" name="Google Shape;130;p16"/>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31" name="Google Shape;131;p16"/>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47AB"/>
                </a:solidFill>
                <a:latin typeface="+mj-lt"/>
                <a:ea typeface="Poppins"/>
                <a:cs typeface="Poppins"/>
                <a:sym typeface="Poppins"/>
              </a:rPr>
              <a:t>B1.1</a:t>
            </a:r>
            <a:r>
              <a:rPr lang="en-US" sz="2550" b="1" i="0" u="none" strike="noStrike" cap="none">
                <a:solidFill>
                  <a:srgbClr val="002060"/>
                </a:solidFill>
                <a:latin typeface="+mj-lt"/>
                <a:ea typeface="Poppins"/>
                <a:cs typeface="Poppins"/>
                <a:sym typeface="Poppins"/>
              </a:rPr>
              <a:t> Ý tưởng &amp; Tính cấp thiết</a:t>
            </a:r>
            <a:endParaRPr>
              <a:latin typeface="+mj-lt"/>
            </a:endParaRPr>
          </a:p>
        </p:txBody>
      </p:sp>
      <p:sp>
        <p:nvSpPr>
          <p:cNvPr id="132" name="Google Shape;132;p16"/>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33" name="Google Shape;133;p16"/>
          <p:cNvSpPr txBox="1"/>
          <p:nvPr/>
        </p:nvSpPr>
        <p:spPr>
          <a:xfrm>
            <a:off x="1000125" y="2338125"/>
            <a:ext cx="5600700" cy="21608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err="1">
                <a:solidFill>
                  <a:srgbClr val="002060"/>
                </a:solidFill>
                <a:latin typeface="+mj-lt"/>
                <a:ea typeface="Poppins"/>
                <a:cs typeface="Poppins"/>
                <a:sym typeface="Poppins"/>
              </a:rPr>
              <a:t>Thách</a:t>
            </a:r>
            <a:r>
              <a:rPr lang="en-US" sz="1404" b="1" i="0" u="none" strike="noStrike" cap="none" dirty="0">
                <a:solidFill>
                  <a:srgbClr val="002060"/>
                </a:solidFill>
                <a:latin typeface="+mj-lt"/>
                <a:ea typeface="Poppins"/>
                <a:cs typeface="Poppins"/>
                <a:sym typeface="Poppins"/>
              </a:rPr>
              <a:t> </a:t>
            </a:r>
            <a:r>
              <a:rPr lang="en-US" sz="1404" b="1" i="0" u="none" strike="noStrike" cap="none" dirty="0" err="1">
                <a:solidFill>
                  <a:srgbClr val="002060"/>
                </a:solidFill>
                <a:latin typeface="+mj-lt"/>
                <a:ea typeface="Poppins"/>
                <a:cs typeface="Poppins"/>
                <a:sym typeface="Poppins"/>
              </a:rPr>
              <a:t>thức</a:t>
            </a:r>
            <a:r>
              <a:rPr lang="en-US" sz="1404" b="1" i="0" u="none" strike="noStrike" cap="none" dirty="0">
                <a:solidFill>
                  <a:srgbClr val="002060"/>
                </a:solidFill>
                <a:latin typeface="+mj-lt"/>
                <a:ea typeface="Poppins"/>
                <a:cs typeface="Poppins"/>
                <a:sym typeface="Poppins"/>
              </a:rPr>
              <a:t> </a:t>
            </a:r>
            <a:r>
              <a:rPr lang="en-US" sz="1404" b="1" i="0" u="none" strike="noStrike" cap="none" dirty="0" err="1">
                <a:solidFill>
                  <a:srgbClr val="002060"/>
                </a:solidFill>
                <a:latin typeface="+mj-lt"/>
                <a:ea typeface="Poppins"/>
                <a:cs typeface="Poppins"/>
                <a:sym typeface="Poppins"/>
              </a:rPr>
              <a:t>hiện</a:t>
            </a:r>
            <a:r>
              <a:rPr lang="en-US" sz="1404" b="1" i="0" u="none" strike="noStrike" cap="none" dirty="0">
                <a:solidFill>
                  <a:srgbClr val="002060"/>
                </a:solidFill>
                <a:latin typeface="+mj-lt"/>
                <a:ea typeface="Poppins"/>
                <a:cs typeface="Poppins"/>
                <a:sym typeface="Poppins"/>
              </a:rPr>
              <a:t> </a:t>
            </a:r>
            <a:r>
              <a:rPr lang="en-US" sz="1404" b="1" i="0" u="none" strike="noStrike" cap="none" dirty="0" err="1">
                <a:solidFill>
                  <a:srgbClr val="002060"/>
                </a:solidFill>
                <a:latin typeface="+mj-lt"/>
                <a:ea typeface="Poppins"/>
                <a:cs typeface="Poppins"/>
                <a:sym typeface="Poppins"/>
              </a:rPr>
              <a:t>tại</a:t>
            </a:r>
            <a:endParaRPr dirty="0">
              <a:latin typeface="+mj-lt"/>
            </a:endParaRPr>
          </a:p>
        </p:txBody>
      </p:sp>
      <p:sp>
        <p:nvSpPr>
          <p:cNvPr id="134" name="Google Shape;134;p16"/>
          <p:cNvSpPr txBox="1"/>
          <p:nvPr/>
        </p:nvSpPr>
        <p:spPr>
          <a:xfrm>
            <a:off x="6367462" y="2338125"/>
            <a:ext cx="5600700" cy="21608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a:solidFill>
                  <a:srgbClr val="002060"/>
                </a:solidFill>
                <a:latin typeface="+mj-lt"/>
                <a:ea typeface="Poppins"/>
                <a:cs typeface="Poppins"/>
                <a:sym typeface="Poppins"/>
              </a:rPr>
              <a:t>Ý </a:t>
            </a:r>
            <a:r>
              <a:rPr lang="en-US" sz="1404" b="1" i="0" u="none" strike="noStrike" cap="none" dirty="0" err="1">
                <a:solidFill>
                  <a:srgbClr val="002060"/>
                </a:solidFill>
                <a:latin typeface="+mj-lt"/>
                <a:ea typeface="Poppins"/>
                <a:cs typeface="Poppins"/>
                <a:sym typeface="Poppins"/>
              </a:rPr>
              <a:t>tưởng</a:t>
            </a:r>
            <a:r>
              <a:rPr lang="en-US" sz="1404" b="1" i="0" u="none" strike="noStrike" cap="none" dirty="0">
                <a:solidFill>
                  <a:srgbClr val="002060"/>
                </a:solidFill>
                <a:latin typeface="+mj-lt"/>
                <a:ea typeface="Poppins"/>
                <a:cs typeface="Poppins"/>
                <a:sym typeface="Poppins"/>
              </a:rPr>
              <a:t> </a:t>
            </a:r>
            <a:r>
              <a:rPr lang="en-US" sz="1404" b="1" i="0" u="none" strike="noStrike" cap="none" dirty="0" err="1">
                <a:solidFill>
                  <a:srgbClr val="002060"/>
                </a:solidFill>
                <a:latin typeface="+mj-lt"/>
                <a:ea typeface="Poppins"/>
                <a:cs typeface="Poppins"/>
                <a:sym typeface="Poppins"/>
              </a:rPr>
              <a:t>chính</a:t>
            </a:r>
            <a:endParaRPr dirty="0">
              <a:latin typeface="+mj-lt"/>
            </a:endParaRPr>
          </a:p>
        </p:txBody>
      </p:sp>
      <p:sp>
        <p:nvSpPr>
          <p:cNvPr id="135" name="Google Shape;135;p16"/>
          <p:cNvSpPr txBox="1"/>
          <p:nvPr/>
        </p:nvSpPr>
        <p:spPr>
          <a:xfrm>
            <a:off x="1000125" y="2862560"/>
            <a:ext cx="4905375"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dirty="0">
                <a:solidFill>
                  <a:srgbClr val="334155"/>
                </a:solidFill>
                <a:latin typeface="+mj-lt"/>
                <a:ea typeface="Lato"/>
                <a:cs typeface="Lato"/>
                <a:sym typeface="Lato"/>
              </a:rPr>
              <a:t>MOOC </a:t>
            </a:r>
            <a:r>
              <a:rPr lang="en-US" sz="1650" b="0" i="0" u="none" strike="noStrike" cap="none" dirty="0" err="1">
                <a:solidFill>
                  <a:srgbClr val="334155"/>
                </a:solidFill>
                <a:latin typeface="+mj-lt"/>
                <a:ea typeface="Lato"/>
                <a:cs typeface="Lato"/>
                <a:sym typeface="Lato"/>
              </a:rPr>
              <a:t>có</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tỷ</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lệ</a:t>
            </a:r>
            <a:r>
              <a:rPr lang="en-US" sz="1650" b="0" i="0" u="none" strike="noStrike" cap="none" dirty="0">
                <a:solidFill>
                  <a:srgbClr val="334155"/>
                </a:solidFill>
                <a:latin typeface="+mj-lt"/>
                <a:ea typeface="Lato"/>
                <a:cs typeface="Lato"/>
                <a:sym typeface="Lato"/>
              </a:rPr>
              <a:t> </a:t>
            </a:r>
            <a:r>
              <a:rPr lang="en-US" sz="1650" b="1" i="0" u="none" strike="noStrike" cap="none" dirty="0">
                <a:solidFill>
                  <a:srgbClr val="002060"/>
                </a:solidFill>
                <a:latin typeface="+mj-lt"/>
                <a:ea typeface="Lato"/>
                <a:cs typeface="Lato"/>
                <a:sym typeface="Lato"/>
              </a:rPr>
              <a:t>dropout</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bỏ</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học</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cực</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kỳ</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cao</a:t>
            </a:r>
            <a:r>
              <a:rPr lang="en-US" sz="1650" b="0" i="0" u="none" strike="noStrike" cap="none" dirty="0">
                <a:solidFill>
                  <a:srgbClr val="334155"/>
                </a:solidFill>
                <a:latin typeface="+mj-lt"/>
                <a:ea typeface="Lato"/>
                <a:cs typeface="Lato"/>
                <a:sym typeface="Lato"/>
              </a:rPr>
              <a:t>.</a:t>
            </a:r>
            <a:endParaRPr dirty="0">
              <a:latin typeface="+mj-lt"/>
            </a:endParaRPr>
          </a:p>
        </p:txBody>
      </p:sp>
      <p:sp>
        <p:nvSpPr>
          <p:cNvPr id="136" name="Google Shape;136;p16"/>
          <p:cNvSpPr txBox="1"/>
          <p:nvPr/>
        </p:nvSpPr>
        <p:spPr>
          <a:xfrm>
            <a:off x="1000125" y="3435846"/>
            <a:ext cx="4905375"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dirty="0" err="1">
                <a:solidFill>
                  <a:srgbClr val="334155"/>
                </a:solidFill>
                <a:latin typeface="+mj-lt"/>
                <a:ea typeface="Lato"/>
                <a:cs typeface="Lato"/>
                <a:sym typeface="Lato"/>
              </a:rPr>
              <a:t>Thiếu</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sự</a:t>
            </a:r>
            <a:r>
              <a:rPr lang="en-US" sz="1650" b="0" i="0" u="none" strike="noStrike" cap="none" dirty="0">
                <a:solidFill>
                  <a:srgbClr val="334155"/>
                </a:solidFill>
                <a:latin typeface="+mj-lt"/>
                <a:ea typeface="Lato"/>
                <a:cs typeface="Lato"/>
                <a:sym typeface="Lato"/>
              </a:rPr>
              <a:t> </a:t>
            </a:r>
            <a:r>
              <a:rPr lang="en-US" sz="1650" b="1" i="0" u="none" strike="noStrike" cap="none" dirty="0" err="1">
                <a:solidFill>
                  <a:srgbClr val="002060"/>
                </a:solidFill>
                <a:latin typeface="+mj-lt"/>
                <a:ea typeface="Lato"/>
                <a:cs typeface="Lato"/>
                <a:sym typeface="Lato"/>
              </a:rPr>
              <a:t>tương</a:t>
            </a:r>
            <a:r>
              <a:rPr lang="en-US" sz="1650" b="1" i="0" u="none" strike="noStrike" cap="none" dirty="0">
                <a:solidFill>
                  <a:srgbClr val="002060"/>
                </a:solidFill>
                <a:latin typeface="+mj-lt"/>
                <a:ea typeface="Lato"/>
                <a:cs typeface="Lato"/>
                <a:sym typeface="Lato"/>
              </a:rPr>
              <a:t> </a:t>
            </a:r>
            <a:r>
              <a:rPr lang="en-US" sz="1650" b="1" i="0" u="none" strike="noStrike" cap="none" dirty="0" err="1">
                <a:solidFill>
                  <a:srgbClr val="002060"/>
                </a:solidFill>
                <a:latin typeface="+mj-lt"/>
                <a:ea typeface="Lato"/>
                <a:cs typeface="Lato"/>
                <a:sym typeface="Lato"/>
              </a:rPr>
              <a:t>tác</a:t>
            </a:r>
            <a:r>
              <a:rPr lang="en-US" sz="1650" b="1" i="0" u="none" strike="noStrike" cap="none" dirty="0">
                <a:solidFill>
                  <a:srgbClr val="002060"/>
                </a:solidFill>
                <a:latin typeface="+mj-lt"/>
                <a:ea typeface="Lato"/>
                <a:cs typeface="Lato"/>
                <a:sym typeface="Lato"/>
              </a:rPr>
              <a:t> </a:t>
            </a:r>
            <a:r>
              <a:rPr lang="en-US" sz="1650" b="1" i="0" u="none" strike="noStrike" cap="none" dirty="0" err="1">
                <a:solidFill>
                  <a:srgbClr val="002060"/>
                </a:solidFill>
                <a:latin typeface="+mj-lt"/>
                <a:ea typeface="Lato"/>
                <a:cs typeface="Lato"/>
                <a:sym typeface="Lato"/>
              </a:rPr>
              <a:t>trực</a:t>
            </a:r>
            <a:r>
              <a:rPr lang="en-US" sz="1650" b="1" i="0" u="none" strike="noStrike" cap="none" dirty="0">
                <a:solidFill>
                  <a:srgbClr val="002060"/>
                </a:solidFill>
                <a:latin typeface="+mj-lt"/>
                <a:ea typeface="Lato"/>
                <a:cs typeface="Lato"/>
                <a:sym typeface="Lato"/>
              </a:rPr>
              <a:t> </a:t>
            </a:r>
            <a:r>
              <a:rPr lang="en-US" sz="1650" b="1" i="0" u="none" strike="noStrike" cap="none" dirty="0" err="1">
                <a:solidFill>
                  <a:srgbClr val="002060"/>
                </a:solidFill>
                <a:latin typeface="+mj-lt"/>
                <a:ea typeface="Lato"/>
                <a:cs typeface="Lato"/>
                <a:sym typeface="Lato"/>
              </a:rPr>
              <a:t>tiếp</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giữa</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giảng</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viên</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và</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học</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viên</a:t>
            </a:r>
            <a:r>
              <a:rPr lang="en-US" sz="1650" b="0" i="0" u="none" strike="noStrike" cap="none" dirty="0">
                <a:solidFill>
                  <a:srgbClr val="334155"/>
                </a:solidFill>
                <a:latin typeface="+mj-lt"/>
                <a:ea typeface="Lato"/>
                <a:cs typeface="Lato"/>
                <a:sym typeface="Lato"/>
              </a:rPr>
              <a:t>.</a:t>
            </a:r>
            <a:endParaRPr dirty="0">
              <a:latin typeface="+mj-lt"/>
            </a:endParaRPr>
          </a:p>
        </p:txBody>
      </p:sp>
      <p:sp>
        <p:nvSpPr>
          <p:cNvPr id="137" name="Google Shape;137;p16"/>
          <p:cNvSpPr txBox="1"/>
          <p:nvPr/>
        </p:nvSpPr>
        <p:spPr>
          <a:xfrm>
            <a:off x="1000125" y="4344292"/>
            <a:ext cx="4905375"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334155"/>
                </a:solidFill>
                <a:latin typeface="+mj-lt"/>
                <a:ea typeface="Lato"/>
                <a:cs typeface="Lato"/>
                <a:sym typeface="Lato"/>
              </a:rPr>
              <a:t>Cần một hệ thống có thể </a:t>
            </a:r>
            <a:r>
              <a:rPr lang="en-US" sz="1650" b="1" i="0" u="none" strike="noStrike" cap="none">
                <a:solidFill>
                  <a:srgbClr val="002060"/>
                </a:solidFill>
                <a:latin typeface="+mj-lt"/>
                <a:ea typeface="Lato"/>
                <a:cs typeface="Lato"/>
                <a:sym typeface="Lato"/>
              </a:rPr>
              <a:t>dự đoán sớm</a:t>
            </a:r>
            <a:r>
              <a:rPr lang="en-US" sz="1650" b="0" i="0" u="none" strike="noStrike" cap="none">
                <a:solidFill>
                  <a:srgbClr val="334155"/>
                </a:solidFill>
                <a:latin typeface="+mj-lt"/>
                <a:ea typeface="Lato"/>
                <a:cs typeface="Lato"/>
                <a:sym typeface="Lato"/>
              </a:rPr>
              <a:t> để can thiệp kịp thời.</a:t>
            </a:r>
            <a:endParaRPr>
              <a:latin typeface="+mj-lt"/>
            </a:endParaRPr>
          </a:p>
        </p:txBody>
      </p:sp>
      <p:sp>
        <p:nvSpPr>
          <p:cNvPr id="138" name="Google Shape;138;p16"/>
          <p:cNvSpPr txBox="1"/>
          <p:nvPr/>
        </p:nvSpPr>
        <p:spPr>
          <a:xfrm>
            <a:off x="6715125" y="2862560"/>
            <a:ext cx="4905375"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334155"/>
                </a:solidFill>
                <a:latin typeface="+mj-lt"/>
                <a:ea typeface="Lato"/>
                <a:cs typeface="Lato"/>
                <a:sym typeface="Lato"/>
              </a:rPr>
              <a:t>Khai thác triệt để </a:t>
            </a:r>
            <a:r>
              <a:rPr lang="en-US" sz="1650" b="1" i="0" u="none" strike="noStrike" cap="none">
                <a:solidFill>
                  <a:srgbClr val="002060"/>
                </a:solidFill>
                <a:latin typeface="+mj-lt"/>
                <a:ea typeface="Lato"/>
                <a:cs typeface="Lato"/>
                <a:sym typeface="Lato"/>
              </a:rPr>
              <a:t>log hành vi</a:t>
            </a:r>
            <a:r>
              <a:rPr lang="en-US" sz="1650" b="0" i="0" u="none" strike="noStrike" cap="none">
                <a:solidFill>
                  <a:srgbClr val="334155"/>
                </a:solidFill>
                <a:latin typeface="+mj-lt"/>
                <a:ea typeface="Lato"/>
                <a:cs typeface="Lato"/>
                <a:sym typeface="Lato"/>
              </a:rPr>
              <a:t> của học viên.</a:t>
            </a:r>
            <a:endParaRPr>
              <a:latin typeface="+mj-lt"/>
            </a:endParaRPr>
          </a:p>
        </p:txBody>
      </p:sp>
      <p:sp>
        <p:nvSpPr>
          <p:cNvPr id="139" name="Google Shape;139;p16"/>
          <p:cNvSpPr txBox="1"/>
          <p:nvPr/>
        </p:nvSpPr>
        <p:spPr>
          <a:xfrm>
            <a:off x="6715125" y="3435846"/>
            <a:ext cx="4905375"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334155"/>
                </a:solidFill>
                <a:latin typeface="+mj-lt"/>
                <a:ea typeface="Lato"/>
                <a:cs typeface="Lato"/>
                <a:sym typeface="Lato"/>
              </a:rPr>
              <a:t>Định lượng hóa mức độ </a:t>
            </a:r>
            <a:r>
              <a:rPr lang="en-US" sz="1650" b="1" i="0" u="none" strike="noStrike" cap="none">
                <a:solidFill>
                  <a:srgbClr val="002060"/>
                </a:solidFill>
                <a:latin typeface="+mj-lt"/>
                <a:ea typeface="Lato"/>
                <a:cs typeface="Lato"/>
                <a:sym typeface="Lato"/>
              </a:rPr>
              <a:t>engagement</a:t>
            </a:r>
            <a:r>
              <a:rPr lang="en-US" sz="1650" b="0" i="0" u="none" strike="noStrike" cap="none">
                <a:solidFill>
                  <a:srgbClr val="334155"/>
                </a:solidFill>
                <a:latin typeface="+mj-lt"/>
                <a:ea typeface="Lato"/>
                <a:cs typeface="Lato"/>
                <a:sym typeface="Lato"/>
              </a:rPr>
              <a:t> tự động.</a:t>
            </a:r>
            <a:endParaRPr>
              <a:latin typeface="+mj-lt"/>
            </a:endParaRPr>
          </a:p>
        </p:txBody>
      </p:sp>
      <p:sp>
        <p:nvSpPr>
          <p:cNvPr id="140" name="Google Shape;140;p16"/>
          <p:cNvSpPr txBox="1"/>
          <p:nvPr/>
        </p:nvSpPr>
        <p:spPr>
          <a:xfrm>
            <a:off x="6715125" y="4009132"/>
            <a:ext cx="4905375"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334155"/>
                </a:solidFill>
                <a:latin typeface="+mj-lt"/>
                <a:ea typeface="Lato"/>
                <a:cs typeface="Lato"/>
                <a:sym typeface="Lato"/>
              </a:rPr>
              <a:t>Xây dựng cơ chế </a:t>
            </a:r>
            <a:r>
              <a:rPr lang="en-US" sz="1650" b="1" i="0" u="none" strike="noStrike" cap="none">
                <a:solidFill>
                  <a:srgbClr val="002060"/>
                </a:solidFill>
                <a:latin typeface="+mj-lt"/>
                <a:ea typeface="Lato"/>
                <a:cs typeface="Lato"/>
                <a:sym typeface="Lato"/>
              </a:rPr>
              <a:t>cảnh báo sớm</a:t>
            </a:r>
            <a:r>
              <a:rPr lang="en-US" sz="1650" b="0" i="0" u="none" strike="noStrike" cap="none">
                <a:solidFill>
                  <a:srgbClr val="334155"/>
                </a:solidFill>
                <a:latin typeface="+mj-lt"/>
                <a:ea typeface="Lato"/>
                <a:cs typeface="Lato"/>
                <a:sym typeface="Lato"/>
              </a:rPr>
              <a:t> hiệu quả.</a:t>
            </a:r>
            <a:endParaRPr>
              <a:latin typeface="+mj-lt"/>
            </a:endParaRPr>
          </a:p>
        </p:txBody>
      </p:sp>
      <p:pic>
        <p:nvPicPr>
          <p:cNvPr id="141" name="Google Shape;141;p16" descr="image.png"/>
          <p:cNvPicPr preferRelativeResize="0"/>
          <p:nvPr/>
        </p:nvPicPr>
        <p:blipFill rotWithShape="1">
          <a:blip r:embed="rId4">
            <a:alphaModFix/>
          </a:blip>
          <a:srcRect/>
          <a:stretch/>
        </p:blipFill>
        <p:spPr>
          <a:xfrm>
            <a:off x="571500" y="2910185"/>
            <a:ext cx="228600" cy="247650"/>
          </a:xfrm>
          <a:prstGeom prst="rect">
            <a:avLst/>
          </a:prstGeom>
          <a:noFill/>
          <a:ln>
            <a:noFill/>
          </a:ln>
        </p:spPr>
      </p:pic>
      <p:pic>
        <p:nvPicPr>
          <p:cNvPr id="142" name="Google Shape;142;p16" descr="image.png"/>
          <p:cNvPicPr preferRelativeResize="0"/>
          <p:nvPr/>
        </p:nvPicPr>
        <p:blipFill rotWithShape="1">
          <a:blip r:embed="rId5">
            <a:alphaModFix/>
          </a:blip>
          <a:srcRect/>
          <a:stretch/>
        </p:blipFill>
        <p:spPr>
          <a:xfrm>
            <a:off x="571500" y="3483471"/>
            <a:ext cx="285750" cy="247650"/>
          </a:xfrm>
          <a:prstGeom prst="rect">
            <a:avLst/>
          </a:prstGeom>
          <a:noFill/>
          <a:ln>
            <a:noFill/>
          </a:ln>
        </p:spPr>
      </p:pic>
      <p:pic>
        <p:nvPicPr>
          <p:cNvPr id="143" name="Google Shape;143;p16" descr="image.png"/>
          <p:cNvPicPr preferRelativeResize="0"/>
          <p:nvPr/>
        </p:nvPicPr>
        <p:blipFill rotWithShape="1">
          <a:blip r:embed="rId6">
            <a:alphaModFix/>
          </a:blip>
          <a:srcRect/>
          <a:stretch/>
        </p:blipFill>
        <p:spPr>
          <a:xfrm>
            <a:off x="571500" y="4391917"/>
            <a:ext cx="228600" cy="247650"/>
          </a:xfrm>
          <a:prstGeom prst="rect">
            <a:avLst/>
          </a:prstGeom>
          <a:noFill/>
          <a:ln>
            <a:noFill/>
          </a:ln>
        </p:spPr>
      </p:pic>
      <p:pic>
        <p:nvPicPr>
          <p:cNvPr id="144" name="Google Shape;144;p16" descr="image.png"/>
          <p:cNvPicPr preferRelativeResize="0"/>
          <p:nvPr/>
        </p:nvPicPr>
        <p:blipFill rotWithShape="1">
          <a:blip r:embed="rId7">
            <a:alphaModFix/>
          </a:blip>
          <a:srcRect/>
          <a:stretch/>
        </p:blipFill>
        <p:spPr>
          <a:xfrm>
            <a:off x="6286500" y="2910185"/>
            <a:ext cx="171450" cy="247650"/>
          </a:xfrm>
          <a:prstGeom prst="rect">
            <a:avLst/>
          </a:prstGeom>
          <a:noFill/>
          <a:ln>
            <a:noFill/>
          </a:ln>
        </p:spPr>
      </p:pic>
      <p:pic>
        <p:nvPicPr>
          <p:cNvPr id="145" name="Google Shape;145;p16" descr="image.png"/>
          <p:cNvPicPr preferRelativeResize="0"/>
          <p:nvPr/>
        </p:nvPicPr>
        <p:blipFill rotWithShape="1">
          <a:blip r:embed="rId8">
            <a:alphaModFix/>
          </a:blip>
          <a:srcRect/>
          <a:stretch/>
        </p:blipFill>
        <p:spPr>
          <a:xfrm>
            <a:off x="6286500" y="3483471"/>
            <a:ext cx="228600" cy="247650"/>
          </a:xfrm>
          <a:prstGeom prst="rect">
            <a:avLst/>
          </a:prstGeom>
          <a:noFill/>
          <a:ln>
            <a:noFill/>
          </a:ln>
        </p:spPr>
      </p:pic>
      <p:pic>
        <p:nvPicPr>
          <p:cNvPr id="146" name="Google Shape;146;p16" descr="image.png"/>
          <p:cNvPicPr preferRelativeResize="0"/>
          <p:nvPr/>
        </p:nvPicPr>
        <p:blipFill rotWithShape="1">
          <a:blip r:embed="rId9">
            <a:alphaModFix/>
          </a:blip>
          <a:srcRect/>
          <a:stretch/>
        </p:blipFill>
        <p:spPr>
          <a:xfrm>
            <a:off x="6286500" y="4056757"/>
            <a:ext cx="200025" cy="247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0"/>
        <p:cNvGrpSpPr/>
        <p:nvPr/>
      </p:nvGrpSpPr>
      <p:grpSpPr>
        <a:xfrm>
          <a:off x="0" y="0"/>
          <a:ext cx="0" cy="0"/>
          <a:chOff x="0" y="0"/>
          <a:chExt cx="0" cy="0"/>
        </a:xfrm>
      </p:grpSpPr>
      <p:pic>
        <p:nvPicPr>
          <p:cNvPr id="151" name="Google Shape;151;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2" name="Google Shape;152;p17" descr="image.png"/>
          <p:cNvPicPr preferRelativeResize="0"/>
          <p:nvPr/>
        </p:nvPicPr>
        <p:blipFill rotWithShape="1">
          <a:blip r:embed="rId4">
            <a:alphaModFix/>
          </a:blip>
          <a:srcRect/>
          <a:stretch/>
        </p:blipFill>
        <p:spPr>
          <a:xfrm>
            <a:off x="571500" y="3092797"/>
            <a:ext cx="3524250" cy="1653480"/>
          </a:xfrm>
          <a:prstGeom prst="rect">
            <a:avLst/>
          </a:prstGeom>
          <a:noFill/>
          <a:ln>
            <a:noFill/>
          </a:ln>
        </p:spPr>
      </p:pic>
      <p:pic>
        <p:nvPicPr>
          <p:cNvPr id="153" name="Google Shape;153;p17" descr="image.png"/>
          <p:cNvPicPr preferRelativeResize="0"/>
          <p:nvPr/>
        </p:nvPicPr>
        <p:blipFill rotWithShape="1">
          <a:blip r:embed="rId5">
            <a:alphaModFix/>
          </a:blip>
          <a:srcRect/>
          <a:stretch/>
        </p:blipFill>
        <p:spPr>
          <a:xfrm>
            <a:off x="4333875" y="3092797"/>
            <a:ext cx="3524250" cy="1653480"/>
          </a:xfrm>
          <a:prstGeom prst="rect">
            <a:avLst/>
          </a:prstGeom>
          <a:noFill/>
          <a:ln>
            <a:noFill/>
          </a:ln>
        </p:spPr>
      </p:pic>
      <p:pic>
        <p:nvPicPr>
          <p:cNvPr id="154" name="Google Shape;154;p17" descr="image.png"/>
          <p:cNvPicPr preferRelativeResize="0"/>
          <p:nvPr/>
        </p:nvPicPr>
        <p:blipFill rotWithShape="1">
          <a:blip r:embed="rId6">
            <a:alphaModFix/>
          </a:blip>
          <a:srcRect/>
          <a:stretch/>
        </p:blipFill>
        <p:spPr>
          <a:xfrm>
            <a:off x="8096250" y="3092797"/>
            <a:ext cx="3524250" cy="1653480"/>
          </a:xfrm>
          <a:prstGeom prst="rect">
            <a:avLst/>
          </a:prstGeom>
          <a:noFill/>
          <a:ln>
            <a:noFill/>
          </a:ln>
        </p:spPr>
      </p:pic>
      <p:sp>
        <p:nvSpPr>
          <p:cNvPr id="155" name="Google Shape;155;p17"/>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56" name="Google Shape;156;p17"/>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dirty="0">
                <a:solidFill>
                  <a:srgbClr val="002060"/>
                </a:solidFill>
                <a:latin typeface="+mj-lt"/>
                <a:ea typeface="Poppins"/>
                <a:cs typeface="Poppins"/>
                <a:sym typeface="Poppins"/>
              </a:rPr>
              <a:t>Định </a:t>
            </a:r>
            <a:r>
              <a:rPr lang="en-US" sz="2550" b="1" i="0" u="none" strike="noStrike" cap="none" dirty="0" err="1">
                <a:solidFill>
                  <a:srgbClr val="002060"/>
                </a:solidFill>
                <a:latin typeface="+mj-lt"/>
                <a:ea typeface="Poppins"/>
                <a:cs typeface="Poppins"/>
                <a:sym typeface="Poppins"/>
              </a:rPr>
              <a:t>nghĩa</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bài</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toán</a:t>
            </a:r>
            <a:r>
              <a:rPr lang="en-US" sz="2550" b="1" i="0" u="none" strike="noStrike" cap="none" dirty="0">
                <a:solidFill>
                  <a:srgbClr val="002060"/>
                </a:solidFill>
                <a:latin typeface="+mj-lt"/>
                <a:ea typeface="Poppins"/>
                <a:cs typeface="Poppins"/>
                <a:sym typeface="Poppins"/>
              </a:rPr>
              <a:t> (Problem Definition)</a:t>
            </a:r>
            <a:endParaRPr dirty="0">
              <a:latin typeface="+mj-lt"/>
            </a:endParaRPr>
          </a:p>
        </p:txBody>
      </p:sp>
      <p:sp>
        <p:nvSpPr>
          <p:cNvPr id="157" name="Google Shape;157;p17"/>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58" name="Google Shape;158;p17"/>
          <p:cNvSpPr txBox="1"/>
          <p:nvPr/>
        </p:nvSpPr>
        <p:spPr>
          <a:xfrm>
            <a:off x="866775" y="3426172"/>
            <a:ext cx="30803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Input Data</a:t>
            </a:r>
            <a:endParaRPr>
              <a:latin typeface="+mj-lt"/>
            </a:endParaRPr>
          </a:p>
        </p:txBody>
      </p:sp>
      <p:sp>
        <p:nvSpPr>
          <p:cNvPr id="159" name="Google Shape;159;p17"/>
          <p:cNvSpPr txBox="1"/>
          <p:nvPr/>
        </p:nvSpPr>
        <p:spPr>
          <a:xfrm>
            <a:off x="866775" y="3902422"/>
            <a:ext cx="2933700"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Log hành vi thô (xem video, làm bài tập) và thông tin cơ bản của người học.</a:t>
            </a:r>
            <a:endParaRPr>
              <a:latin typeface="+mj-lt"/>
            </a:endParaRPr>
          </a:p>
        </p:txBody>
      </p:sp>
      <p:sp>
        <p:nvSpPr>
          <p:cNvPr id="160" name="Google Shape;160;p17"/>
          <p:cNvSpPr txBox="1"/>
          <p:nvPr/>
        </p:nvSpPr>
        <p:spPr>
          <a:xfrm>
            <a:off x="4629150" y="3426172"/>
            <a:ext cx="30803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Expected Output</a:t>
            </a:r>
            <a:endParaRPr>
              <a:latin typeface="+mj-lt"/>
            </a:endParaRPr>
          </a:p>
        </p:txBody>
      </p:sp>
      <p:sp>
        <p:nvSpPr>
          <p:cNvPr id="161" name="Google Shape;161;p17"/>
          <p:cNvSpPr txBox="1"/>
          <p:nvPr/>
        </p:nvSpPr>
        <p:spPr>
          <a:xfrm>
            <a:off x="4629150" y="3902422"/>
            <a:ext cx="293370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Phân loại 3 mức độ tương tác: </a:t>
            </a:r>
            <a:r>
              <a:rPr lang="en-US" sz="1350" b="1" i="0" u="none" strike="noStrike" cap="none">
                <a:solidFill>
                  <a:srgbClr val="334155"/>
                </a:solidFill>
                <a:latin typeface="+mj-lt"/>
                <a:ea typeface="Lato"/>
                <a:cs typeface="Lato"/>
                <a:sym typeface="Lato"/>
              </a:rPr>
              <a:t>High, Medium, Low</a:t>
            </a:r>
            <a:r>
              <a:rPr lang="en-US" sz="1350" b="0" i="0" u="none" strike="noStrike" cap="none">
                <a:solidFill>
                  <a:srgbClr val="334155"/>
                </a:solidFill>
                <a:latin typeface="+mj-lt"/>
                <a:ea typeface="Lato"/>
                <a:cs typeface="Lato"/>
                <a:sym typeface="Lato"/>
              </a:rPr>
              <a:t> Engagement.</a:t>
            </a:r>
            <a:endParaRPr>
              <a:latin typeface="+mj-lt"/>
            </a:endParaRPr>
          </a:p>
        </p:txBody>
      </p:sp>
      <p:sp>
        <p:nvSpPr>
          <p:cNvPr id="162" name="Google Shape;162;p17"/>
          <p:cNvSpPr txBox="1"/>
          <p:nvPr/>
        </p:nvSpPr>
        <p:spPr>
          <a:xfrm>
            <a:off x="8391525" y="3426172"/>
            <a:ext cx="30803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Problem Type</a:t>
            </a:r>
            <a:endParaRPr>
              <a:latin typeface="+mj-lt"/>
            </a:endParaRPr>
          </a:p>
        </p:txBody>
      </p:sp>
      <p:sp>
        <p:nvSpPr>
          <p:cNvPr id="163" name="Google Shape;163;p17"/>
          <p:cNvSpPr txBox="1"/>
          <p:nvPr/>
        </p:nvSpPr>
        <p:spPr>
          <a:xfrm>
            <a:off x="8391525" y="3902422"/>
            <a:ext cx="2933700"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mj-lt"/>
                <a:ea typeface="Lato"/>
                <a:cs typeface="Lato"/>
                <a:sym typeface="Lato"/>
              </a:rPr>
              <a:t>Multi-class classification</a:t>
            </a:r>
            <a:r>
              <a:rPr lang="en-US" sz="1350" b="0" i="0" u="none" strike="noStrike" cap="none">
                <a:solidFill>
                  <a:srgbClr val="334155"/>
                </a:solidFill>
                <a:latin typeface="+mj-lt"/>
                <a:ea typeface="Lato"/>
                <a:cs typeface="Lato"/>
                <a:sym typeface="Lato"/>
              </a:rPr>
              <a:t> (Phân loại đa lớp) sử dụng dữ liệu chuỗi thời gian.</a:t>
            </a:r>
            <a:endParaRPr>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7"/>
        <p:cNvGrpSpPr/>
        <p:nvPr/>
      </p:nvGrpSpPr>
      <p:grpSpPr>
        <a:xfrm>
          <a:off x="0" y="0"/>
          <a:ext cx="0" cy="0"/>
          <a:chOff x="0" y="0"/>
          <a:chExt cx="0" cy="0"/>
        </a:xfrm>
      </p:grpSpPr>
      <p:pic>
        <p:nvPicPr>
          <p:cNvPr id="168" name="Google Shape;168;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9" name="Google Shape;169;p18"/>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70" name="Google Shape;170;p18"/>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2060"/>
                </a:solidFill>
                <a:latin typeface="+mj-lt"/>
                <a:ea typeface="Poppins"/>
                <a:cs typeface="Poppins"/>
                <a:sym typeface="Poppins"/>
              </a:rPr>
              <a:t>Tính mới của đề tài</a:t>
            </a:r>
            <a:endParaRPr>
              <a:latin typeface="+mj-lt"/>
            </a:endParaRPr>
          </a:p>
        </p:txBody>
      </p:sp>
      <p:sp>
        <p:nvSpPr>
          <p:cNvPr id="171" name="Google Shape;171;p18"/>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72" name="Google Shape;172;p18"/>
          <p:cNvSpPr txBox="1"/>
          <p:nvPr/>
        </p:nvSpPr>
        <p:spPr>
          <a:xfrm>
            <a:off x="1000125" y="2892028"/>
            <a:ext cx="10620375" cy="81253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dirty="0" err="1">
                <a:solidFill>
                  <a:srgbClr val="002060"/>
                </a:solidFill>
                <a:latin typeface="+mj-lt"/>
                <a:ea typeface="Lato"/>
                <a:cs typeface="Lato"/>
                <a:sym typeface="Lato"/>
              </a:rPr>
              <a:t>Tự</a:t>
            </a:r>
            <a:r>
              <a:rPr lang="en-US" sz="1650" b="1" i="0" u="none" strike="noStrike" cap="none" dirty="0">
                <a:solidFill>
                  <a:srgbClr val="002060"/>
                </a:solidFill>
                <a:latin typeface="+mj-lt"/>
                <a:ea typeface="Lato"/>
                <a:cs typeface="Lato"/>
                <a:sym typeface="Lato"/>
              </a:rPr>
              <a:t> </a:t>
            </a:r>
            <a:r>
              <a:rPr lang="en-US" sz="1650" b="1" i="0" u="none" strike="noStrike" cap="none" dirty="0" err="1">
                <a:solidFill>
                  <a:srgbClr val="002060"/>
                </a:solidFill>
                <a:latin typeface="+mj-lt"/>
                <a:ea typeface="Lato"/>
                <a:cs typeface="Lato"/>
                <a:sym typeface="Lato"/>
              </a:rPr>
              <a:t>gán</a:t>
            </a:r>
            <a:r>
              <a:rPr lang="en-US" sz="1650" b="1" i="0" u="none" strike="noStrike" cap="none" dirty="0">
                <a:solidFill>
                  <a:srgbClr val="002060"/>
                </a:solidFill>
                <a:latin typeface="+mj-lt"/>
                <a:ea typeface="Lato"/>
                <a:cs typeface="Lato"/>
                <a:sym typeface="Lato"/>
              </a:rPr>
              <a:t> </a:t>
            </a:r>
            <a:r>
              <a:rPr lang="en-US" sz="1650" b="1" i="0" u="none" strike="noStrike" cap="none" dirty="0" err="1">
                <a:solidFill>
                  <a:srgbClr val="002060"/>
                </a:solidFill>
                <a:latin typeface="+mj-lt"/>
                <a:ea typeface="Lato"/>
                <a:cs typeface="Lato"/>
                <a:sym typeface="Lato"/>
              </a:rPr>
              <a:t>nhãn</a:t>
            </a:r>
            <a:r>
              <a:rPr lang="en-US" sz="1650" b="1" i="0" u="none" strike="noStrike" cap="none" dirty="0">
                <a:solidFill>
                  <a:srgbClr val="002060"/>
                </a:solidFill>
                <a:latin typeface="+mj-lt"/>
                <a:ea typeface="Lato"/>
                <a:cs typeface="Lato"/>
                <a:sym typeface="Lato"/>
              </a:rPr>
              <a:t>:</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Sử</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dụng</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phương</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pháp</a:t>
            </a:r>
            <a:r>
              <a:rPr lang="en-US" sz="1650" b="0" i="0" u="none" strike="noStrike" cap="none" dirty="0">
                <a:solidFill>
                  <a:srgbClr val="334155"/>
                </a:solidFill>
                <a:latin typeface="+mj-lt"/>
                <a:ea typeface="Lato"/>
                <a:cs typeface="Lato"/>
                <a:sym typeface="Lato"/>
              </a:rPr>
              <a:t> WES </a:t>
            </a:r>
            <a:r>
              <a:rPr lang="en-US" sz="1650" b="0" i="0" u="none" strike="noStrike" cap="none" dirty="0" err="1">
                <a:solidFill>
                  <a:srgbClr val="334155"/>
                </a:solidFill>
                <a:latin typeface="+mj-lt"/>
                <a:ea typeface="Lato"/>
                <a:cs typeface="Lato"/>
                <a:sym typeface="Lato"/>
              </a:rPr>
              <a:t>kết</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hợp</a:t>
            </a:r>
            <a:r>
              <a:rPr lang="en-US" sz="1650" b="0" i="0" u="none" strike="noStrike" cap="none" dirty="0">
                <a:solidFill>
                  <a:srgbClr val="334155"/>
                </a:solidFill>
                <a:latin typeface="+mj-lt"/>
                <a:ea typeface="Lato"/>
                <a:cs typeface="Lato"/>
                <a:sym typeface="Lato"/>
              </a:rPr>
              <a:t> Entropy Weight </a:t>
            </a:r>
            <a:r>
              <a:rPr lang="en-US" sz="1650" b="0" i="0" u="none" strike="noStrike" cap="none" dirty="0" err="1">
                <a:solidFill>
                  <a:srgbClr val="334155"/>
                </a:solidFill>
                <a:latin typeface="+mj-lt"/>
                <a:ea typeface="Lato"/>
                <a:cs typeface="Lato"/>
                <a:sym typeface="Lato"/>
              </a:rPr>
              <a:t>để</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tạo</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nhãn</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khách</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quan</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mà</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không</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cần</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nhãn</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thật</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từ</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chuyên</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gia</a:t>
            </a:r>
            <a:r>
              <a:rPr lang="en-US" sz="1650" b="0" i="0" u="none" strike="noStrike" cap="none" dirty="0">
                <a:solidFill>
                  <a:srgbClr val="334155"/>
                </a:solidFill>
                <a:latin typeface="+mj-lt"/>
                <a:ea typeface="Lato"/>
                <a:cs typeface="Lato"/>
                <a:sym typeface="Lato"/>
              </a:rPr>
              <a:t>.</a:t>
            </a:r>
            <a:endParaRPr dirty="0">
              <a:latin typeface="+mj-lt"/>
            </a:endParaRPr>
          </a:p>
        </p:txBody>
      </p:sp>
      <p:sp>
        <p:nvSpPr>
          <p:cNvPr id="173" name="Google Shape;173;p18"/>
          <p:cNvSpPr txBox="1"/>
          <p:nvPr/>
        </p:nvSpPr>
        <p:spPr>
          <a:xfrm>
            <a:off x="1000125" y="3800475"/>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002060"/>
                </a:solidFill>
                <a:latin typeface="+mj-lt"/>
                <a:ea typeface="Lato"/>
                <a:cs typeface="Lato"/>
                <a:sym typeface="Lato"/>
              </a:rPr>
              <a:t>Dự đoán sớm:</a:t>
            </a:r>
            <a:r>
              <a:rPr lang="en-US" sz="1650" b="0" i="0" u="none" strike="noStrike" cap="none">
                <a:solidFill>
                  <a:srgbClr val="334155"/>
                </a:solidFill>
                <a:latin typeface="+mj-lt"/>
                <a:ea typeface="Lato"/>
                <a:cs typeface="Lato"/>
                <a:sym typeface="Lato"/>
              </a:rPr>
              <a:t> Tập trung vào hành vi trong 28 ngày đầu (Early behavior) để có giá trị dự báo thực tế cao.</a:t>
            </a:r>
            <a:endParaRPr>
              <a:latin typeface="+mj-lt"/>
            </a:endParaRPr>
          </a:p>
        </p:txBody>
      </p:sp>
      <p:sp>
        <p:nvSpPr>
          <p:cNvPr id="174" name="Google Shape;174;p18"/>
          <p:cNvSpPr txBox="1"/>
          <p:nvPr/>
        </p:nvSpPr>
        <p:spPr>
          <a:xfrm>
            <a:off x="1000125" y="4373760"/>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002060"/>
                </a:solidFill>
                <a:latin typeface="+mj-lt"/>
                <a:ea typeface="Lato"/>
                <a:cs typeface="Lato"/>
                <a:sym typeface="Lato"/>
              </a:rPr>
              <a:t>Minh bạch hóa:</a:t>
            </a:r>
            <a:r>
              <a:rPr lang="en-US" sz="1650" b="0" i="0" u="none" strike="noStrike" cap="none">
                <a:solidFill>
                  <a:srgbClr val="334155"/>
                </a:solidFill>
                <a:latin typeface="+mj-lt"/>
                <a:ea typeface="Lato"/>
                <a:cs typeface="Lato"/>
                <a:sym typeface="Lato"/>
              </a:rPr>
              <a:t> Áp dụng Explainable AI (SHAP) để giải thích lý do mô hình đưa ra quyết định cho từng cá nhân.</a:t>
            </a:r>
            <a:endParaRPr>
              <a:latin typeface="+mj-lt"/>
            </a:endParaRPr>
          </a:p>
        </p:txBody>
      </p:sp>
      <p:pic>
        <p:nvPicPr>
          <p:cNvPr id="175" name="Google Shape;175;p18" descr="image.png"/>
          <p:cNvPicPr preferRelativeResize="0"/>
          <p:nvPr/>
        </p:nvPicPr>
        <p:blipFill rotWithShape="1">
          <a:blip r:embed="rId4">
            <a:alphaModFix/>
          </a:blip>
          <a:srcRect/>
          <a:stretch/>
        </p:blipFill>
        <p:spPr>
          <a:xfrm>
            <a:off x="571500" y="2939653"/>
            <a:ext cx="257175" cy="247650"/>
          </a:xfrm>
          <a:prstGeom prst="rect">
            <a:avLst/>
          </a:prstGeom>
          <a:noFill/>
          <a:ln>
            <a:noFill/>
          </a:ln>
        </p:spPr>
      </p:pic>
      <p:pic>
        <p:nvPicPr>
          <p:cNvPr id="176" name="Google Shape;176;p18" descr="image.png"/>
          <p:cNvPicPr preferRelativeResize="0"/>
          <p:nvPr/>
        </p:nvPicPr>
        <p:blipFill rotWithShape="1">
          <a:blip r:embed="rId5">
            <a:alphaModFix/>
          </a:blip>
          <a:srcRect/>
          <a:stretch/>
        </p:blipFill>
        <p:spPr>
          <a:xfrm>
            <a:off x="571500" y="3848100"/>
            <a:ext cx="171450" cy="247650"/>
          </a:xfrm>
          <a:prstGeom prst="rect">
            <a:avLst/>
          </a:prstGeom>
          <a:noFill/>
          <a:ln>
            <a:noFill/>
          </a:ln>
        </p:spPr>
      </p:pic>
      <p:pic>
        <p:nvPicPr>
          <p:cNvPr id="177" name="Google Shape;177;p18" descr="image.png"/>
          <p:cNvPicPr preferRelativeResize="0"/>
          <p:nvPr/>
        </p:nvPicPr>
        <p:blipFill rotWithShape="1">
          <a:blip r:embed="rId6">
            <a:alphaModFix/>
          </a:blip>
          <a:srcRect/>
          <a:stretch/>
        </p:blipFill>
        <p:spPr>
          <a:xfrm>
            <a:off x="571500" y="4421385"/>
            <a:ext cx="257175" cy="247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pic>
        <p:nvPicPr>
          <p:cNvPr id="182" name="Google Shape;182;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3" name="Google Shape;183;p19" descr="image.png"/>
          <p:cNvPicPr preferRelativeResize="0"/>
          <p:nvPr/>
        </p:nvPicPr>
        <p:blipFill rotWithShape="1">
          <a:blip r:embed="rId4">
            <a:alphaModFix/>
          </a:blip>
          <a:srcRect/>
          <a:stretch/>
        </p:blipFill>
        <p:spPr>
          <a:xfrm>
            <a:off x="571500" y="2974627"/>
            <a:ext cx="5334000" cy="1889670"/>
          </a:xfrm>
          <a:prstGeom prst="rect">
            <a:avLst/>
          </a:prstGeom>
          <a:noFill/>
          <a:ln>
            <a:noFill/>
          </a:ln>
        </p:spPr>
      </p:pic>
      <p:pic>
        <p:nvPicPr>
          <p:cNvPr id="184" name="Google Shape;184;p19" descr="image.png"/>
          <p:cNvPicPr preferRelativeResize="0"/>
          <p:nvPr/>
        </p:nvPicPr>
        <p:blipFill rotWithShape="1">
          <a:blip r:embed="rId5">
            <a:alphaModFix/>
          </a:blip>
          <a:srcRect/>
          <a:stretch/>
        </p:blipFill>
        <p:spPr>
          <a:xfrm>
            <a:off x="6286500" y="2974627"/>
            <a:ext cx="5334000" cy="1889670"/>
          </a:xfrm>
          <a:prstGeom prst="rect">
            <a:avLst/>
          </a:prstGeom>
          <a:noFill/>
          <a:ln>
            <a:noFill/>
          </a:ln>
        </p:spPr>
      </p:pic>
      <p:sp>
        <p:nvSpPr>
          <p:cNvPr id="185" name="Google Shape;185;p19"/>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86" name="Google Shape;186;p19"/>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2060"/>
                </a:solidFill>
                <a:latin typeface="+mj-lt"/>
                <a:ea typeface="Poppins"/>
                <a:cs typeface="Poppins"/>
                <a:sym typeface="Poppins"/>
              </a:rPr>
              <a:t>Tổng quan nghiên cứu hiện nay</a:t>
            </a:r>
            <a:endParaRPr>
              <a:latin typeface="+mj-lt"/>
            </a:endParaRPr>
          </a:p>
        </p:txBody>
      </p:sp>
      <p:sp>
        <p:nvSpPr>
          <p:cNvPr id="187" name="Google Shape;187;p19"/>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88" name="Google Shape;188;p19"/>
          <p:cNvSpPr txBox="1"/>
          <p:nvPr/>
        </p:nvSpPr>
        <p:spPr>
          <a:xfrm>
            <a:off x="866775" y="3269902"/>
            <a:ext cx="498062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Các hướng phổ biến</a:t>
            </a:r>
            <a:endParaRPr>
              <a:latin typeface="+mj-lt"/>
            </a:endParaRPr>
          </a:p>
        </p:txBody>
      </p:sp>
      <p:sp>
        <p:nvSpPr>
          <p:cNvPr id="189" name="Google Shape;189;p19"/>
          <p:cNvSpPr txBox="1"/>
          <p:nvPr/>
        </p:nvSpPr>
        <p:spPr>
          <a:xfrm>
            <a:off x="866775" y="3746152"/>
            <a:ext cx="4743450" cy="7478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0" i="0" u="none" strike="noStrike" cap="none">
                <a:solidFill>
                  <a:srgbClr val="334155"/>
                </a:solidFill>
                <a:latin typeface="+mj-lt"/>
                <a:ea typeface="Lato"/>
                <a:cs typeface="Lato"/>
                <a:sym typeface="Lato"/>
              </a:rPr>
              <a:t>• Clustering (Phân cụm K-Means).</a:t>
            </a:r>
            <a:br>
              <a:rPr lang="en-US" sz="1800" b="0" i="0" u="none" strike="noStrike" cap="none">
                <a:solidFill>
                  <a:schemeClr val="dk1"/>
                </a:solidFill>
                <a:latin typeface="+mj-lt"/>
                <a:ea typeface="Calibri"/>
                <a:cs typeface="Calibri"/>
                <a:sym typeface="Calibri"/>
              </a:rPr>
            </a:br>
            <a:r>
              <a:rPr lang="en-US" sz="1350" b="0" i="0" u="none" strike="noStrike" cap="none">
                <a:solidFill>
                  <a:srgbClr val="334155"/>
                </a:solidFill>
                <a:latin typeface="+mj-lt"/>
                <a:ea typeface="Lato"/>
                <a:cs typeface="Lato"/>
                <a:sym typeface="Lato"/>
              </a:rPr>
              <a:t> • Supervised learning trên dữ liệu tĩnh.</a:t>
            </a:r>
            <a:br>
              <a:rPr lang="en-US" sz="1800" b="0" i="0" u="none" strike="noStrike" cap="none">
                <a:solidFill>
                  <a:schemeClr val="dk1"/>
                </a:solidFill>
                <a:latin typeface="+mj-lt"/>
                <a:ea typeface="Calibri"/>
                <a:cs typeface="Calibri"/>
                <a:sym typeface="Calibri"/>
              </a:rPr>
            </a:br>
            <a:r>
              <a:rPr lang="en-US" sz="1350" b="0" i="0" u="none" strike="noStrike" cap="none">
                <a:solidFill>
                  <a:srgbClr val="334155"/>
                </a:solidFill>
                <a:latin typeface="+mj-lt"/>
                <a:ea typeface="Lato"/>
                <a:cs typeface="Lato"/>
                <a:sym typeface="Lato"/>
              </a:rPr>
              <a:t> • Early prediction dựa trên demographic.</a:t>
            </a:r>
            <a:endParaRPr>
              <a:latin typeface="+mj-lt"/>
            </a:endParaRPr>
          </a:p>
        </p:txBody>
      </p:sp>
      <p:sp>
        <p:nvSpPr>
          <p:cNvPr id="190" name="Google Shape;190;p19"/>
          <p:cNvSpPr txBox="1"/>
          <p:nvPr/>
        </p:nvSpPr>
        <p:spPr>
          <a:xfrm>
            <a:off x="6581775" y="3269902"/>
            <a:ext cx="498062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Hạn chế còn tồn tại</a:t>
            </a:r>
            <a:endParaRPr>
              <a:latin typeface="+mj-lt"/>
            </a:endParaRPr>
          </a:p>
        </p:txBody>
      </p:sp>
      <p:sp>
        <p:nvSpPr>
          <p:cNvPr id="191" name="Google Shape;191;p19"/>
          <p:cNvSpPr txBox="1"/>
          <p:nvPr/>
        </p:nvSpPr>
        <p:spPr>
          <a:xfrm>
            <a:off x="6581775" y="3746152"/>
            <a:ext cx="4743450" cy="7478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0" i="0" u="none" strike="noStrike" cap="none">
                <a:solidFill>
                  <a:srgbClr val="334155"/>
                </a:solidFill>
                <a:latin typeface="+mj-lt"/>
                <a:ea typeface="Lato"/>
                <a:cs typeface="Lato"/>
                <a:sym typeface="Lato"/>
              </a:rPr>
              <a:t>• Thiếu nhãn Engagement thực tế.</a:t>
            </a:r>
            <a:br>
              <a:rPr lang="en-US" sz="1800" b="0" i="0" u="none" strike="noStrike" cap="none">
                <a:solidFill>
                  <a:schemeClr val="dk1"/>
                </a:solidFill>
                <a:latin typeface="+mj-lt"/>
                <a:ea typeface="Calibri"/>
                <a:cs typeface="Calibri"/>
                <a:sym typeface="Calibri"/>
              </a:rPr>
            </a:br>
            <a:r>
              <a:rPr lang="en-US" sz="1350" b="0" i="0" u="none" strike="noStrike" cap="none">
                <a:solidFill>
                  <a:srgbClr val="334155"/>
                </a:solidFill>
                <a:latin typeface="+mj-lt"/>
                <a:ea typeface="Lato"/>
                <a:cs typeface="Lato"/>
                <a:sym typeface="Lato"/>
              </a:rPr>
              <a:t> • Dữ liệu log thường bị nhiễu (Noisy data).</a:t>
            </a:r>
            <a:br>
              <a:rPr lang="en-US" sz="1800" b="0" i="0" u="none" strike="noStrike" cap="none">
                <a:solidFill>
                  <a:schemeClr val="dk1"/>
                </a:solidFill>
                <a:latin typeface="+mj-lt"/>
                <a:ea typeface="Calibri"/>
                <a:cs typeface="Calibri"/>
                <a:sym typeface="Calibri"/>
              </a:rPr>
            </a:br>
            <a:r>
              <a:rPr lang="en-US" sz="1350" b="0" i="0" u="none" strike="noStrike" cap="none">
                <a:solidFill>
                  <a:srgbClr val="334155"/>
                </a:solidFill>
                <a:latin typeface="+mj-lt"/>
                <a:ea typeface="Lato"/>
                <a:cs typeface="Lato"/>
                <a:sym typeface="Lato"/>
              </a:rPr>
              <a:t> • Khó diễn giải (Black-box models).</a:t>
            </a:r>
            <a:endParaRPr>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5"/>
        <p:cNvGrpSpPr/>
        <p:nvPr/>
      </p:nvGrpSpPr>
      <p:grpSpPr>
        <a:xfrm>
          <a:off x="0" y="0"/>
          <a:ext cx="0" cy="0"/>
          <a:chOff x="0" y="0"/>
          <a:chExt cx="0" cy="0"/>
        </a:xfrm>
      </p:grpSpPr>
      <p:pic>
        <p:nvPicPr>
          <p:cNvPr id="196" name="Google Shape;196;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7" name="Google Shape;197;p20"/>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98" name="Google Shape;198;p20"/>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2060"/>
                </a:solidFill>
                <a:latin typeface="+mj-lt"/>
                <a:ea typeface="Poppins"/>
                <a:cs typeface="Poppins"/>
                <a:sym typeface="Poppins"/>
              </a:rPr>
              <a:t>Hướng tiếp cận đề tài</a:t>
            </a:r>
            <a:endParaRPr>
              <a:latin typeface="+mj-lt"/>
            </a:endParaRPr>
          </a:p>
        </p:txBody>
      </p:sp>
      <p:sp>
        <p:nvSpPr>
          <p:cNvPr id="199" name="Google Shape;199;p20"/>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00" name="Google Shape;200;p20"/>
          <p:cNvSpPr txBox="1"/>
          <p:nvPr/>
        </p:nvSpPr>
        <p:spPr>
          <a:xfrm>
            <a:off x="1000125" y="3059608"/>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002060"/>
                </a:solidFill>
                <a:latin typeface="+mj-lt"/>
                <a:ea typeface="Lato"/>
                <a:cs typeface="Lato"/>
                <a:sym typeface="Lato"/>
              </a:rPr>
              <a:t>Labeling:</a:t>
            </a:r>
            <a:r>
              <a:rPr lang="en-US" sz="1650" b="0" i="0" u="none" strike="noStrike" cap="none">
                <a:solidFill>
                  <a:srgbClr val="334155"/>
                </a:solidFill>
                <a:latin typeface="+mj-lt"/>
                <a:ea typeface="Lato"/>
                <a:cs typeface="Lato"/>
                <a:sym typeface="Lato"/>
              </a:rPr>
              <a:t> Áp dụng Weighted Engagement Score (WES) kết hợp phân vị (Percentile) để chia nhãn.</a:t>
            </a:r>
            <a:endParaRPr>
              <a:latin typeface="+mj-lt"/>
            </a:endParaRPr>
          </a:p>
        </p:txBody>
      </p:sp>
      <p:sp>
        <p:nvSpPr>
          <p:cNvPr id="201" name="Google Shape;201;p20"/>
          <p:cNvSpPr txBox="1"/>
          <p:nvPr/>
        </p:nvSpPr>
        <p:spPr>
          <a:xfrm>
            <a:off x="1000125" y="3632894"/>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002060"/>
                </a:solidFill>
                <a:latin typeface="+mj-lt"/>
                <a:ea typeface="Lato"/>
                <a:cs typeface="Lato"/>
                <a:sym typeface="Lato"/>
              </a:rPr>
              <a:t>Windowing:</a:t>
            </a:r>
            <a:r>
              <a:rPr lang="en-US" sz="1650" b="0" i="0" u="none" strike="noStrike" cap="none">
                <a:solidFill>
                  <a:srgbClr val="334155"/>
                </a:solidFill>
                <a:latin typeface="+mj-lt"/>
                <a:ea typeface="Lato"/>
                <a:cs typeface="Lato"/>
                <a:sym typeface="Lato"/>
              </a:rPr>
              <a:t> Lọc dữ liệu trong khung thời gian cố định 28 ngày kể từ ngày đăng ký khóa học.</a:t>
            </a:r>
            <a:endParaRPr>
              <a:latin typeface="+mj-lt"/>
            </a:endParaRPr>
          </a:p>
        </p:txBody>
      </p:sp>
      <p:sp>
        <p:nvSpPr>
          <p:cNvPr id="202" name="Google Shape;202;p20"/>
          <p:cNvSpPr txBox="1"/>
          <p:nvPr/>
        </p:nvSpPr>
        <p:spPr>
          <a:xfrm>
            <a:off x="1000125" y="4206180"/>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002060"/>
                </a:solidFill>
                <a:latin typeface="+mj-lt"/>
                <a:ea typeface="Lato"/>
                <a:cs typeface="Lato"/>
                <a:sym typeface="Lato"/>
              </a:rPr>
              <a:t>Framework:</a:t>
            </a:r>
            <a:r>
              <a:rPr lang="en-US" sz="1650" b="0" i="0" u="none" strike="noStrike" cap="none">
                <a:solidFill>
                  <a:srgbClr val="334155"/>
                </a:solidFill>
                <a:latin typeface="+mj-lt"/>
                <a:ea typeface="Lato"/>
                <a:cs typeface="Lato"/>
                <a:sym typeface="Lato"/>
              </a:rPr>
              <a:t> Xây dựng Pipeline chuẩn từ tiền xử lý đến triển khai ứng dụng.</a:t>
            </a:r>
            <a:endParaRPr>
              <a:latin typeface="+mj-lt"/>
            </a:endParaRPr>
          </a:p>
        </p:txBody>
      </p:sp>
      <p:pic>
        <p:nvPicPr>
          <p:cNvPr id="203" name="Google Shape;203;p20" descr="image.png"/>
          <p:cNvPicPr preferRelativeResize="0"/>
          <p:nvPr/>
        </p:nvPicPr>
        <p:blipFill rotWithShape="1">
          <a:blip r:embed="rId4">
            <a:alphaModFix/>
          </a:blip>
          <a:srcRect/>
          <a:stretch/>
        </p:blipFill>
        <p:spPr>
          <a:xfrm>
            <a:off x="571500" y="3107233"/>
            <a:ext cx="200025" cy="247650"/>
          </a:xfrm>
          <a:prstGeom prst="rect">
            <a:avLst/>
          </a:prstGeom>
          <a:noFill/>
          <a:ln>
            <a:noFill/>
          </a:ln>
        </p:spPr>
      </p:pic>
      <p:pic>
        <p:nvPicPr>
          <p:cNvPr id="204" name="Google Shape;204;p20" descr="image.png"/>
          <p:cNvPicPr preferRelativeResize="0"/>
          <p:nvPr/>
        </p:nvPicPr>
        <p:blipFill rotWithShape="1">
          <a:blip r:embed="rId5">
            <a:alphaModFix/>
          </a:blip>
          <a:srcRect/>
          <a:stretch/>
        </p:blipFill>
        <p:spPr>
          <a:xfrm>
            <a:off x="571500" y="3680519"/>
            <a:ext cx="200025" cy="247650"/>
          </a:xfrm>
          <a:prstGeom prst="rect">
            <a:avLst/>
          </a:prstGeom>
          <a:noFill/>
          <a:ln>
            <a:noFill/>
          </a:ln>
        </p:spPr>
      </p:pic>
      <p:pic>
        <p:nvPicPr>
          <p:cNvPr id="205" name="Google Shape;205;p20" descr="image.png"/>
          <p:cNvPicPr preferRelativeResize="0"/>
          <p:nvPr/>
        </p:nvPicPr>
        <p:blipFill rotWithShape="1">
          <a:blip r:embed="rId6">
            <a:alphaModFix/>
          </a:blip>
          <a:srcRect/>
          <a:stretch/>
        </p:blipFill>
        <p:spPr>
          <a:xfrm>
            <a:off x="571500" y="4253805"/>
            <a:ext cx="285750" cy="247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9"/>
        <p:cNvGrpSpPr/>
        <p:nvPr/>
      </p:nvGrpSpPr>
      <p:grpSpPr>
        <a:xfrm>
          <a:off x="0" y="0"/>
          <a:ext cx="0" cy="0"/>
          <a:chOff x="0" y="0"/>
          <a:chExt cx="0" cy="0"/>
        </a:xfrm>
      </p:grpSpPr>
      <p:pic>
        <p:nvPicPr>
          <p:cNvPr id="210" name="Google Shape;210;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1" name="Google Shape;211;p21" descr="image.png"/>
          <p:cNvPicPr preferRelativeResize="0"/>
          <p:nvPr/>
        </p:nvPicPr>
        <p:blipFill rotWithShape="1">
          <a:blip r:embed="rId4">
            <a:alphaModFix/>
          </a:blip>
          <a:srcRect/>
          <a:stretch/>
        </p:blipFill>
        <p:spPr>
          <a:xfrm>
            <a:off x="571500" y="2854672"/>
            <a:ext cx="5334000" cy="2129730"/>
          </a:xfrm>
          <a:prstGeom prst="rect">
            <a:avLst/>
          </a:prstGeom>
          <a:noFill/>
          <a:ln>
            <a:noFill/>
          </a:ln>
        </p:spPr>
      </p:pic>
      <p:pic>
        <p:nvPicPr>
          <p:cNvPr id="212" name="Google Shape;212;p21" descr="image.png"/>
          <p:cNvPicPr preferRelativeResize="0"/>
          <p:nvPr/>
        </p:nvPicPr>
        <p:blipFill rotWithShape="1">
          <a:blip r:embed="rId5">
            <a:alphaModFix/>
          </a:blip>
          <a:srcRect/>
          <a:stretch/>
        </p:blipFill>
        <p:spPr>
          <a:xfrm>
            <a:off x="6286500" y="2854672"/>
            <a:ext cx="5334000" cy="2129730"/>
          </a:xfrm>
          <a:prstGeom prst="rect">
            <a:avLst/>
          </a:prstGeom>
          <a:noFill/>
          <a:ln>
            <a:noFill/>
          </a:ln>
        </p:spPr>
      </p:pic>
      <p:sp>
        <p:nvSpPr>
          <p:cNvPr id="213" name="Google Shape;213;p21"/>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14" name="Google Shape;214;p21"/>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2060"/>
                </a:solidFill>
                <a:latin typeface="+mj-lt"/>
                <a:ea typeface="Poppins"/>
                <a:cs typeface="Poppins"/>
                <a:sym typeface="Poppins"/>
              </a:rPr>
              <a:t>Dữ liệu sử dụng (Dataset)</a:t>
            </a:r>
            <a:endParaRPr>
              <a:latin typeface="+mj-lt"/>
            </a:endParaRPr>
          </a:p>
        </p:txBody>
      </p:sp>
      <p:sp>
        <p:nvSpPr>
          <p:cNvPr id="215" name="Google Shape;215;p21"/>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16" name="Google Shape;216;p21"/>
          <p:cNvSpPr txBox="1"/>
          <p:nvPr/>
        </p:nvSpPr>
        <p:spPr>
          <a:xfrm>
            <a:off x="866775" y="3664297"/>
            <a:ext cx="498062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Nguồn dữ liệu</a:t>
            </a:r>
            <a:endParaRPr>
              <a:latin typeface="+mj-lt"/>
            </a:endParaRPr>
          </a:p>
        </p:txBody>
      </p:sp>
      <p:sp>
        <p:nvSpPr>
          <p:cNvPr id="217" name="Google Shape;217;p21"/>
          <p:cNvSpPr txBox="1"/>
          <p:nvPr/>
        </p:nvSpPr>
        <p:spPr>
          <a:xfrm>
            <a:off x="866775" y="4140547"/>
            <a:ext cx="474345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mj-lt"/>
                <a:ea typeface="Lato"/>
                <a:cs typeface="Lato"/>
                <a:sym typeface="Lato"/>
              </a:rPr>
              <a:t>MOOCCubeX:</a:t>
            </a:r>
            <a:r>
              <a:rPr lang="en-US" sz="1350" b="0" i="0" u="none" strike="noStrike" cap="none">
                <a:solidFill>
                  <a:srgbClr val="334155"/>
                </a:solidFill>
                <a:latin typeface="+mj-lt"/>
                <a:ea typeface="Lato"/>
                <a:cs typeface="Lato"/>
                <a:sym typeface="Lato"/>
              </a:rPr>
              <a:t> Một trong những bộ dữ liệu giáo dục lớn nhất thế giới từ nền tảng XuetangX.</a:t>
            </a:r>
            <a:endParaRPr>
              <a:latin typeface="+mj-lt"/>
            </a:endParaRPr>
          </a:p>
        </p:txBody>
      </p:sp>
      <p:sp>
        <p:nvSpPr>
          <p:cNvPr id="218" name="Google Shape;218;p21"/>
          <p:cNvSpPr txBox="1"/>
          <p:nvPr/>
        </p:nvSpPr>
        <p:spPr>
          <a:xfrm>
            <a:off x="6581775" y="3664297"/>
            <a:ext cx="498062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Quy mô khai thác</a:t>
            </a:r>
            <a:endParaRPr>
              <a:latin typeface="+mj-lt"/>
            </a:endParaRPr>
          </a:p>
        </p:txBody>
      </p:sp>
      <p:sp>
        <p:nvSpPr>
          <p:cNvPr id="219" name="Google Shape;219;p21"/>
          <p:cNvSpPr txBox="1"/>
          <p:nvPr/>
        </p:nvSpPr>
        <p:spPr>
          <a:xfrm>
            <a:off x="6581775" y="4140547"/>
            <a:ext cx="4743450" cy="4985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0" i="0" u="none" strike="noStrike" cap="none">
                <a:solidFill>
                  <a:srgbClr val="334155"/>
                </a:solidFill>
                <a:latin typeface="+mj-lt"/>
                <a:ea typeface="Lato"/>
                <a:cs typeface="Lato"/>
                <a:sym typeface="Lato"/>
              </a:rPr>
              <a:t>• </a:t>
            </a:r>
            <a:r>
              <a:rPr lang="en-US" sz="1350" b="1" i="0" u="none" strike="noStrike" cap="none">
                <a:solidFill>
                  <a:srgbClr val="334155"/>
                </a:solidFill>
                <a:latin typeface="+mj-lt"/>
                <a:ea typeface="Lato"/>
                <a:cs typeface="Lato"/>
                <a:sym typeface="Lato"/>
              </a:rPr>
              <a:t>4.4 triệu</a:t>
            </a:r>
            <a:r>
              <a:rPr lang="en-US" sz="1350" b="0" i="0" u="none" strike="noStrike" cap="none">
                <a:solidFill>
                  <a:srgbClr val="334155"/>
                </a:solidFill>
                <a:latin typeface="+mj-lt"/>
                <a:ea typeface="Lato"/>
                <a:cs typeface="Lato"/>
                <a:sym typeface="Lato"/>
              </a:rPr>
              <a:t> bản ghi nhật ký (logs).</a:t>
            </a:r>
            <a:br>
              <a:rPr lang="en-US" sz="1800" b="0" i="0" u="none" strike="noStrike" cap="none">
                <a:solidFill>
                  <a:schemeClr val="dk1"/>
                </a:solidFill>
                <a:latin typeface="+mj-lt"/>
                <a:ea typeface="Calibri"/>
                <a:cs typeface="Calibri"/>
                <a:sym typeface="Calibri"/>
              </a:rPr>
            </a:br>
            <a:r>
              <a:rPr lang="en-US" sz="1350" b="0" i="0" u="none" strike="noStrike" cap="none">
                <a:solidFill>
                  <a:srgbClr val="334155"/>
                </a:solidFill>
                <a:latin typeface="+mj-lt"/>
                <a:ea typeface="Lato"/>
                <a:cs typeface="Lato"/>
                <a:sym typeface="Lato"/>
              </a:rPr>
              <a:t> • </a:t>
            </a:r>
            <a:r>
              <a:rPr lang="en-US" sz="1350" b="1" i="0" u="none" strike="noStrike" cap="none">
                <a:solidFill>
                  <a:srgbClr val="334155"/>
                </a:solidFill>
                <a:latin typeface="+mj-lt"/>
                <a:ea typeface="Lato"/>
                <a:cs typeface="Lato"/>
                <a:sym typeface="Lato"/>
              </a:rPr>
              <a:t>129,516</a:t>
            </a:r>
            <a:r>
              <a:rPr lang="en-US" sz="1350" b="0" i="0" u="none" strike="noStrike" cap="none">
                <a:solidFill>
                  <a:srgbClr val="334155"/>
                </a:solidFill>
                <a:latin typeface="+mj-lt"/>
                <a:ea typeface="Lato"/>
                <a:cs typeface="Lato"/>
                <a:sym typeface="Lato"/>
              </a:rPr>
              <a:t> người dùng (users) được trích xuất.</a:t>
            </a:r>
            <a:endParaRPr>
              <a:latin typeface="+mj-lt"/>
            </a:endParaRPr>
          </a:p>
        </p:txBody>
      </p:sp>
      <p:pic>
        <p:nvPicPr>
          <p:cNvPr id="220" name="Google Shape;220;p21" descr="image.png"/>
          <p:cNvPicPr preferRelativeResize="0"/>
          <p:nvPr/>
        </p:nvPicPr>
        <p:blipFill rotWithShape="1">
          <a:blip r:embed="rId6">
            <a:alphaModFix/>
          </a:blip>
          <a:srcRect/>
          <a:stretch/>
        </p:blipFill>
        <p:spPr>
          <a:xfrm>
            <a:off x="866775" y="3188047"/>
            <a:ext cx="266700" cy="304800"/>
          </a:xfrm>
          <a:prstGeom prst="rect">
            <a:avLst/>
          </a:prstGeom>
          <a:noFill/>
          <a:ln>
            <a:noFill/>
          </a:ln>
        </p:spPr>
      </p:pic>
      <p:pic>
        <p:nvPicPr>
          <p:cNvPr id="221" name="Google Shape;221;p21" descr="image.png"/>
          <p:cNvPicPr preferRelativeResize="0"/>
          <p:nvPr/>
        </p:nvPicPr>
        <p:blipFill rotWithShape="1">
          <a:blip r:embed="rId7">
            <a:alphaModFix/>
          </a:blip>
          <a:srcRect/>
          <a:stretch/>
        </p:blipFill>
        <p:spPr>
          <a:xfrm>
            <a:off x="6581775" y="3188047"/>
            <a:ext cx="266700" cy="304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5"/>
        <p:cNvGrpSpPr/>
        <p:nvPr/>
      </p:nvGrpSpPr>
      <p:grpSpPr>
        <a:xfrm>
          <a:off x="0" y="0"/>
          <a:ext cx="0" cy="0"/>
          <a:chOff x="0" y="0"/>
          <a:chExt cx="0" cy="0"/>
        </a:xfrm>
      </p:grpSpPr>
      <p:pic>
        <p:nvPicPr>
          <p:cNvPr id="226" name="Google Shape;226;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7" name="Google Shape;227;p22" descr="image.png"/>
          <p:cNvPicPr preferRelativeResize="0"/>
          <p:nvPr/>
        </p:nvPicPr>
        <p:blipFill rotWithShape="1">
          <a:blip r:embed="rId4">
            <a:alphaModFix/>
          </a:blip>
          <a:srcRect/>
          <a:stretch/>
        </p:blipFill>
        <p:spPr>
          <a:xfrm>
            <a:off x="571500" y="3111847"/>
            <a:ext cx="3524250" cy="1615380"/>
          </a:xfrm>
          <a:prstGeom prst="rect">
            <a:avLst/>
          </a:prstGeom>
          <a:noFill/>
          <a:ln>
            <a:noFill/>
          </a:ln>
        </p:spPr>
      </p:pic>
      <p:pic>
        <p:nvPicPr>
          <p:cNvPr id="228" name="Google Shape;228;p22" descr="image.png"/>
          <p:cNvPicPr preferRelativeResize="0"/>
          <p:nvPr/>
        </p:nvPicPr>
        <p:blipFill rotWithShape="1">
          <a:blip r:embed="rId4">
            <a:alphaModFix/>
          </a:blip>
          <a:srcRect/>
          <a:stretch/>
        </p:blipFill>
        <p:spPr>
          <a:xfrm>
            <a:off x="4333875" y="3111847"/>
            <a:ext cx="3524250" cy="1615380"/>
          </a:xfrm>
          <a:prstGeom prst="rect">
            <a:avLst/>
          </a:prstGeom>
          <a:noFill/>
          <a:ln>
            <a:noFill/>
          </a:ln>
        </p:spPr>
      </p:pic>
      <p:pic>
        <p:nvPicPr>
          <p:cNvPr id="229" name="Google Shape;229;p22" descr="image.png"/>
          <p:cNvPicPr preferRelativeResize="0"/>
          <p:nvPr/>
        </p:nvPicPr>
        <p:blipFill rotWithShape="1">
          <a:blip r:embed="rId5">
            <a:alphaModFix/>
          </a:blip>
          <a:srcRect/>
          <a:stretch/>
        </p:blipFill>
        <p:spPr>
          <a:xfrm>
            <a:off x="8096250" y="3111847"/>
            <a:ext cx="3524250" cy="1615380"/>
          </a:xfrm>
          <a:prstGeom prst="rect">
            <a:avLst/>
          </a:prstGeom>
          <a:noFill/>
          <a:ln>
            <a:noFill/>
          </a:ln>
        </p:spPr>
      </p:pic>
      <p:sp>
        <p:nvSpPr>
          <p:cNvPr id="230" name="Google Shape;230;p22"/>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31" name="Google Shape;231;p22"/>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dirty="0" err="1">
                <a:solidFill>
                  <a:srgbClr val="002060"/>
                </a:solidFill>
                <a:latin typeface="+mj-lt"/>
                <a:ea typeface="Poppins"/>
                <a:cs typeface="Poppins"/>
                <a:sym typeface="Poppins"/>
              </a:rPr>
              <a:t>Kết</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quả</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sơ</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khởi</a:t>
            </a:r>
            <a:r>
              <a:rPr lang="en-US" sz="2550" b="1" i="0" u="none" strike="noStrike" cap="none" dirty="0">
                <a:solidFill>
                  <a:srgbClr val="002060"/>
                </a:solidFill>
                <a:latin typeface="+mj-lt"/>
                <a:ea typeface="Poppins"/>
                <a:cs typeface="Poppins"/>
                <a:sym typeface="Poppins"/>
              </a:rPr>
              <a:t> &amp; </a:t>
            </a:r>
            <a:r>
              <a:rPr lang="en-US" sz="2550" b="1" i="0" u="none" strike="noStrike" cap="none" dirty="0" err="1">
                <a:solidFill>
                  <a:srgbClr val="002060"/>
                </a:solidFill>
                <a:latin typeface="+mj-lt"/>
                <a:ea typeface="Poppins"/>
                <a:cs typeface="Poppins"/>
                <a:sym typeface="Poppins"/>
              </a:rPr>
              <a:t>Xử</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lý</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dữ</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liệu</a:t>
            </a:r>
            <a:endParaRPr dirty="0">
              <a:latin typeface="+mj-lt"/>
            </a:endParaRPr>
          </a:p>
        </p:txBody>
      </p:sp>
      <p:sp>
        <p:nvSpPr>
          <p:cNvPr id="232" name="Google Shape;232;p22"/>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33" name="Google Shape;233;p22"/>
          <p:cNvSpPr txBox="1"/>
          <p:nvPr/>
        </p:nvSpPr>
        <p:spPr>
          <a:xfrm>
            <a:off x="866775" y="3407122"/>
            <a:ext cx="30803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002060"/>
                </a:solidFill>
                <a:latin typeface="+mj-lt"/>
                <a:ea typeface="Poppins"/>
                <a:cs typeface="Poppins"/>
                <a:sym typeface="Poppins"/>
              </a:rPr>
              <a:t>Data Cleaning</a:t>
            </a:r>
            <a:endParaRPr dirty="0">
              <a:latin typeface="+mj-lt"/>
            </a:endParaRPr>
          </a:p>
        </p:txBody>
      </p:sp>
      <p:sp>
        <p:nvSpPr>
          <p:cNvPr id="234" name="Google Shape;234;p22"/>
          <p:cNvSpPr txBox="1"/>
          <p:nvPr/>
        </p:nvSpPr>
        <p:spPr>
          <a:xfrm>
            <a:off x="866775" y="3883372"/>
            <a:ext cx="293370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Đã làm sạch dữ liệu, loại bỏ nhiễu và xử lý các bản ghi không hợp lệ.</a:t>
            </a:r>
            <a:endParaRPr>
              <a:latin typeface="+mj-lt"/>
            </a:endParaRPr>
          </a:p>
        </p:txBody>
      </p:sp>
      <p:sp>
        <p:nvSpPr>
          <p:cNvPr id="235" name="Google Shape;235;p22"/>
          <p:cNvSpPr txBox="1"/>
          <p:nvPr/>
        </p:nvSpPr>
        <p:spPr>
          <a:xfrm>
            <a:off x="4629150" y="3407122"/>
            <a:ext cx="30803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Table Flattening</a:t>
            </a:r>
            <a:endParaRPr>
              <a:latin typeface="+mj-lt"/>
            </a:endParaRPr>
          </a:p>
        </p:txBody>
      </p:sp>
      <p:sp>
        <p:nvSpPr>
          <p:cNvPr id="236" name="Google Shape;236;p22"/>
          <p:cNvSpPr txBox="1"/>
          <p:nvPr/>
        </p:nvSpPr>
        <p:spPr>
          <a:xfrm>
            <a:off x="4629150" y="3883372"/>
            <a:ext cx="293370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Chuyển đổi dữ liệu JSON phức tạp thành dạng bảng phẳng (129K mẫu).</a:t>
            </a:r>
            <a:endParaRPr>
              <a:latin typeface="+mj-lt"/>
            </a:endParaRPr>
          </a:p>
        </p:txBody>
      </p:sp>
      <p:sp>
        <p:nvSpPr>
          <p:cNvPr id="237" name="Google Shape;237;p22"/>
          <p:cNvSpPr txBox="1"/>
          <p:nvPr/>
        </p:nvSpPr>
        <p:spPr>
          <a:xfrm>
            <a:off x="8391525" y="3407122"/>
            <a:ext cx="308038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Balance Label</a:t>
            </a:r>
            <a:endParaRPr>
              <a:latin typeface="+mj-lt"/>
            </a:endParaRPr>
          </a:p>
        </p:txBody>
      </p:sp>
      <p:sp>
        <p:nvSpPr>
          <p:cNvPr id="238" name="Google Shape;238;p22"/>
          <p:cNvSpPr txBox="1"/>
          <p:nvPr/>
        </p:nvSpPr>
        <p:spPr>
          <a:xfrm>
            <a:off x="8391525" y="3883372"/>
            <a:ext cx="293370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Phân phối nhãn đạt tỷ lệ lý tưởng </a:t>
            </a:r>
            <a:r>
              <a:rPr lang="en-US" sz="1350" b="1" i="0" u="none" strike="noStrike" cap="none">
                <a:solidFill>
                  <a:srgbClr val="334155"/>
                </a:solidFill>
                <a:latin typeface="+mj-lt"/>
                <a:ea typeface="Lato"/>
                <a:cs typeface="Lato"/>
                <a:sym typeface="Lato"/>
              </a:rPr>
              <a:t>1 : 1 : 1</a:t>
            </a:r>
            <a:r>
              <a:rPr lang="en-US" sz="1350" b="0" i="0" u="none" strike="noStrike" cap="none">
                <a:solidFill>
                  <a:srgbClr val="334155"/>
                </a:solidFill>
                <a:latin typeface="+mj-lt"/>
                <a:ea typeface="Lato"/>
                <a:cs typeface="Lato"/>
                <a:sym typeface="Lato"/>
              </a:rPr>
              <a:t> cho cả 3 lớp tương tác.</a:t>
            </a:r>
            <a:endParaRPr>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2"/>
        <p:cNvGrpSpPr/>
        <p:nvPr/>
      </p:nvGrpSpPr>
      <p:grpSpPr>
        <a:xfrm>
          <a:off x="0" y="0"/>
          <a:ext cx="0" cy="0"/>
          <a:chOff x="0" y="0"/>
          <a:chExt cx="0" cy="0"/>
        </a:xfrm>
      </p:grpSpPr>
      <p:pic>
        <p:nvPicPr>
          <p:cNvPr id="243" name="Google Shape;243;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4" name="Google Shape;244;p23"/>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45" name="Google Shape;245;p23"/>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47AB"/>
                </a:solidFill>
                <a:latin typeface="+mj-lt"/>
                <a:ea typeface="Poppins"/>
                <a:cs typeface="Poppins"/>
                <a:sym typeface="Poppins"/>
              </a:rPr>
              <a:t>B2.1</a:t>
            </a:r>
            <a:r>
              <a:rPr lang="en-US" sz="2550" b="1" i="0" u="none" strike="noStrike" cap="none">
                <a:solidFill>
                  <a:srgbClr val="002060"/>
                </a:solidFill>
                <a:latin typeface="+mj-lt"/>
                <a:ea typeface="Poppins"/>
                <a:cs typeface="Poppins"/>
                <a:sym typeface="Poppins"/>
              </a:rPr>
              <a:t> Mục tiêu cụ thể</a:t>
            </a:r>
            <a:endParaRPr>
              <a:latin typeface="+mj-lt"/>
            </a:endParaRPr>
          </a:p>
        </p:txBody>
      </p:sp>
      <p:sp>
        <p:nvSpPr>
          <p:cNvPr id="246" name="Google Shape;246;p23"/>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47" name="Google Shape;247;p23"/>
          <p:cNvSpPr txBox="1"/>
          <p:nvPr/>
        </p:nvSpPr>
        <p:spPr>
          <a:xfrm>
            <a:off x="1000125" y="2772965"/>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mj-lt"/>
                <a:ea typeface="Lato"/>
                <a:cs typeface="Lato"/>
                <a:sym typeface="Lato"/>
              </a:rPr>
              <a:t>Xây dựng bộ nhãn (Ground Truth) tự động từ dữ liệu hành vi.</a:t>
            </a:r>
            <a:endParaRPr>
              <a:latin typeface="+mj-lt"/>
            </a:endParaRPr>
          </a:p>
        </p:txBody>
      </p:sp>
      <p:sp>
        <p:nvSpPr>
          <p:cNvPr id="248" name="Google Shape;248;p23"/>
          <p:cNvSpPr txBox="1"/>
          <p:nvPr/>
        </p:nvSpPr>
        <p:spPr>
          <a:xfrm>
            <a:off x="1000125" y="3346251"/>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334155"/>
                </a:solidFill>
                <a:latin typeface="+mj-lt"/>
                <a:ea typeface="Lato"/>
                <a:cs typeface="Lato"/>
                <a:sym typeface="Lato"/>
              </a:rPr>
              <a:t>Trích </a:t>
            </a:r>
            <a:r>
              <a:rPr lang="en-US" sz="1650" b="0" i="0" u="none" strike="noStrike" cap="none" dirty="0" err="1">
                <a:solidFill>
                  <a:srgbClr val="334155"/>
                </a:solidFill>
                <a:latin typeface="+mj-lt"/>
                <a:ea typeface="Lato"/>
                <a:cs typeface="Lato"/>
                <a:sym typeface="Lato"/>
              </a:rPr>
              <a:t>xuất</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các</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đặc</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trưng</a:t>
            </a:r>
            <a:r>
              <a:rPr lang="en-US" sz="1650" b="0" i="0" u="none" strike="noStrike" cap="none" dirty="0">
                <a:solidFill>
                  <a:srgbClr val="334155"/>
                </a:solidFill>
                <a:latin typeface="+mj-lt"/>
                <a:ea typeface="Lato"/>
                <a:cs typeface="Lato"/>
                <a:sym typeface="Lato"/>
              </a:rPr>
              <a:t> (Features) </a:t>
            </a:r>
            <a:r>
              <a:rPr lang="en-US" sz="1650" b="0" i="0" u="none" strike="noStrike" cap="none" dirty="0" err="1">
                <a:solidFill>
                  <a:srgbClr val="334155"/>
                </a:solidFill>
                <a:latin typeface="+mj-lt"/>
                <a:ea typeface="Lato"/>
                <a:cs typeface="Lato"/>
                <a:sym typeface="Lato"/>
              </a:rPr>
              <a:t>có</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giá</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trị</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dự</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báo</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cao</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trong</a:t>
            </a:r>
            <a:r>
              <a:rPr lang="en-US" sz="1650" b="0" i="0" u="none" strike="noStrike" cap="none" dirty="0">
                <a:solidFill>
                  <a:srgbClr val="334155"/>
                </a:solidFill>
                <a:latin typeface="+mj-lt"/>
                <a:ea typeface="Lato"/>
                <a:cs typeface="Lato"/>
                <a:sym typeface="Lato"/>
              </a:rPr>
              <a:t> 28 </a:t>
            </a:r>
            <a:r>
              <a:rPr lang="en-US" sz="1650" b="0" i="0" u="none" strike="noStrike" cap="none" dirty="0" err="1">
                <a:solidFill>
                  <a:srgbClr val="334155"/>
                </a:solidFill>
                <a:latin typeface="+mj-lt"/>
                <a:ea typeface="Lato"/>
                <a:cs typeface="Lato"/>
                <a:sym typeface="Lato"/>
              </a:rPr>
              <a:t>ngày</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đầu</a:t>
            </a:r>
            <a:r>
              <a:rPr lang="en-US" sz="1650" b="0" i="0" u="none" strike="noStrike" cap="none" dirty="0">
                <a:solidFill>
                  <a:srgbClr val="334155"/>
                </a:solidFill>
                <a:latin typeface="+mj-lt"/>
                <a:ea typeface="Lato"/>
                <a:cs typeface="Lato"/>
                <a:sym typeface="Lato"/>
              </a:rPr>
              <a:t>.</a:t>
            </a:r>
            <a:endParaRPr dirty="0">
              <a:latin typeface="+mj-lt"/>
            </a:endParaRPr>
          </a:p>
        </p:txBody>
      </p:sp>
      <p:sp>
        <p:nvSpPr>
          <p:cNvPr id="249" name="Google Shape;249;p23"/>
          <p:cNvSpPr txBox="1"/>
          <p:nvPr/>
        </p:nvSpPr>
        <p:spPr>
          <a:xfrm>
            <a:off x="1000125" y="3919537"/>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mj-lt"/>
                <a:ea typeface="Lato"/>
                <a:cs typeface="Lato"/>
                <a:sym typeface="Lato"/>
              </a:rPr>
              <a:t>Huấn luyện và so sánh hiệu suất giữa các mô hình ML khác nhau.</a:t>
            </a:r>
            <a:endParaRPr>
              <a:latin typeface="+mj-lt"/>
            </a:endParaRPr>
          </a:p>
        </p:txBody>
      </p:sp>
      <p:sp>
        <p:nvSpPr>
          <p:cNvPr id="250" name="Google Shape;250;p23"/>
          <p:cNvSpPr txBox="1"/>
          <p:nvPr/>
        </p:nvSpPr>
        <p:spPr>
          <a:xfrm>
            <a:off x="1000125" y="4492823"/>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mj-lt"/>
                <a:ea typeface="Lato"/>
                <a:cs typeface="Lato"/>
                <a:sym typeface="Lato"/>
              </a:rPr>
              <a:t>Giải thích cơ chế dự đoán của mô hình để tăng tính tin cậy.</a:t>
            </a:r>
            <a:endParaRPr>
              <a:latin typeface="+mj-lt"/>
            </a:endParaRPr>
          </a:p>
        </p:txBody>
      </p:sp>
      <p:pic>
        <p:nvPicPr>
          <p:cNvPr id="251" name="Google Shape;251;p23" descr="image.png"/>
          <p:cNvPicPr preferRelativeResize="0"/>
          <p:nvPr/>
        </p:nvPicPr>
        <p:blipFill rotWithShape="1">
          <a:blip r:embed="rId4">
            <a:alphaModFix/>
          </a:blip>
          <a:srcRect/>
          <a:stretch/>
        </p:blipFill>
        <p:spPr>
          <a:xfrm>
            <a:off x="571500" y="2820590"/>
            <a:ext cx="200025" cy="247650"/>
          </a:xfrm>
          <a:prstGeom prst="rect">
            <a:avLst/>
          </a:prstGeom>
          <a:noFill/>
          <a:ln>
            <a:noFill/>
          </a:ln>
        </p:spPr>
      </p:pic>
      <p:pic>
        <p:nvPicPr>
          <p:cNvPr id="252" name="Google Shape;252;p23" descr="image.png"/>
          <p:cNvPicPr preferRelativeResize="0"/>
          <p:nvPr/>
        </p:nvPicPr>
        <p:blipFill rotWithShape="1">
          <a:blip r:embed="rId5">
            <a:alphaModFix/>
          </a:blip>
          <a:srcRect/>
          <a:stretch/>
        </p:blipFill>
        <p:spPr>
          <a:xfrm>
            <a:off x="571500" y="3393876"/>
            <a:ext cx="228600" cy="247650"/>
          </a:xfrm>
          <a:prstGeom prst="rect">
            <a:avLst/>
          </a:prstGeom>
          <a:noFill/>
          <a:ln>
            <a:noFill/>
          </a:ln>
        </p:spPr>
      </p:pic>
      <p:pic>
        <p:nvPicPr>
          <p:cNvPr id="253" name="Google Shape;253;p23" descr="image.png"/>
          <p:cNvPicPr preferRelativeResize="0"/>
          <p:nvPr/>
        </p:nvPicPr>
        <p:blipFill rotWithShape="1">
          <a:blip r:embed="rId6">
            <a:alphaModFix/>
          </a:blip>
          <a:srcRect/>
          <a:stretch/>
        </p:blipFill>
        <p:spPr>
          <a:xfrm>
            <a:off x="571500" y="3967162"/>
            <a:ext cx="228600" cy="247650"/>
          </a:xfrm>
          <a:prstGeom prst="rect">
            <a:avLst/>
          </a:prstGeom>
          <a:noFill/>
          <a:ln>
            <a:noFill/>
          </a:ln>
        </p:spPr>
      </p:pic>
      <p:pic>
        <p:nvPicPr>
          <p:cNvPr id="254" name="Google Shape;254;p23" descr="image.png"/>
          <p:cNvPicPr preferRelativeResize="0"/>
          <p:nvPr/>
        </p:nvPicPr>
        <p:blipFill rotWithShape="1">
          <a:blip r:embed="rId7">
            <a:alphaModFix/>
          </a:blip>
          <a:srcRect/>
          <a:stretch/>
        </p:blipFill>
        <p:spPr>
          <a:xfrm>
            <a:off x="571500" y="4540448"/>
            <a:ext cx="228600" cy="247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59" name="Google Shape;259;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0" name="Google Shape;260;p24"/>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61" name="Google Shape;261;p24"/>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2060"/>
                </a:solidFill>
                <a:latin typeface="+mj-lt"/>
                <a:ea typeface="Poppins"/>
                <a:cs typeface="Poppins"/>
                <a:sym typeface="Poppins"/>
              </a:rPr>
              <a:t>Nội dung 1: Tiền xử lý dữ liệu</a:t>
            </a:r>
            <a:endParaRPr>
              <a:latin typeface="+mj-lt"/>
            </a:endParaRPr>
          </a:p>
        </p:txBody>
      </p:sp>
      <p:sp>
        <p:nvSpPr>
          <p:cNvPr id="262" name="Google Shape;262;p24"/>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63" name="Google Shape;263;p24"/>
          <p:cNvSpPr txBox="1"/>
          <p:nvPr/>
        </p:nvSpPr>
        <p:spPr>
          <a:xfrm>
            <a:off x="571500" y="2645872"/>
            <a:ext cx="5600700" cy="21608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err="1">
                <a:solidFill>
                  <a:srgbClr val="002060"/>
                </a:solidFill>
                <a:latin typeface="+mj-lt"/>
                <a:ea typeface="Poppins"/>
                <a:cs typeface="Poppins"/>
                <a:sym typeface="Poppins"/>
              </a:rPr>
              <a:t>Mục</a:t>
            </a:r>
            <a:r>
              <a:rPr lang="en-US" sz="1404" b="1" i="0" u="none" strike="noStrike" cap="none" dirty="0">
                <a:solidFill>
                  <a:srgbClr val="002060"/>
                </a:solidFill>
                <a:latin typeface="+mj-lt"/>
                <a:ea typeface="Poppins"/>
                <a:cs typeface="Poppins"/>
                <a:sym typeface="Poppins"/>
              </a:rPr>
              <a:t> </a:t>
            </a:r>
            <a:r>
              <a:rPr lang="en-US" sz="1404" b="1" i="0" u="none" strike="noStrike" cap="none" dirty="0" err="1">
                <a:solidFill>
                  <a:srgbClr val="002060"/>
                </a:solidFill>
                <a:latin typeface="+mj-lt"/>
                <a:ea typeface="Poppins"/>
                <a:cs typeface="Poppins"/>
                <a:sym typeface="Poppins"/>
              </a:rPr>
              <a:t>tiêu</a:t>
            </a:r>
            <a:endParaRPr dirty="0">
              <a:latin typeface="+mj-lt"/>
            </a:endParaRPr>
          </a:p>
        </p:txBody>
      </p:sp>
      <p:sp>
        <p:nvSpPr>
          <p:cNvPr id="264" name="Google Shape;264;p24"/>
          <p:cNvSpPr txBox="1"/>
          <p:nvPr/>
        </p:nvSpPr>
        <p:spPr>
          <a:xfrm>
            <a:off x="571500" y="3030140"/>
            <a:ext cx="5334000" cy="81253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mj-lt"/>
                <a:ea typeface="Lato"/>
                <a:cs typeface="Lato"/>
                <a:sym typeface="Lato"/>
              </a:rPr>
              <a:t>Hợp nhất và chuẩn hóa các nguồn dữ liệu rời rạc thành một tập dữ liệu phân tích thống nhất.</a:t>
            </a:r>
            <a:endParaRPr>
              <a:latin typeface="+mj-lt"/>
            </a:endParaRPr>
          </a:p>
        </p:txBody>
      </p:sp>
      <p:sp>
        <p:nvSpPr>
          <p:cNvPr id="265" name="Google Shape;265;p24"/>
          <p:cNvSpPr txBox="1"/>
          <p:nvPr/>
        </p:nvSpPr>
        <p:spPr>
          <a:xfrm>
            <a:off x="6286500" y="2651237"/>
            <a:ext cx="5600700" cy="21608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a:solidFill>
                  <a:srgbClr val="002060"/>
                </a:solidFill>
                <a:latin typeface="+mj-lt"/>
                <a:ea typeface="Poppins"/>
                <a:cs typeface="Poppins"/>
                <a:sym typeface="Poppins"/>
              </a:rPr>
              <a:t>Phương </a:t>
            </a:r>
            <a:r>
              <a:rPr lang="en-US" sz="1404" b="1" i="0" u="none" strike="noStrike" cap="none" dirty="0" err="1">
                <a:solidFill>
                  <a:srgbClr val="002060"/>
                </a:solidFill>
                <a:latin typeface="+mj-lt"/>
                <a:ea typeface="Poppins"/>
                <a:cs typeface="Poppins"/>
                <a:sym typeface="Poppins"/>
              </a:rPr>
              <a:t>pháp</a:t>
            </a:r>
            <a:endParaRPr dirty="0">
              <a:latin typeface="+mj-lt"/>
            </a:endParaRPr>
          </a:p>
        </p:txBody>
      </p:sp>
      <p:sp>
        <p:nvSpPr>
          <p:cNvPr id="266" name="Google Shape;266;p24"/>
          <p:cNvSpPr txBox="1"/>
          <p:nvPr/>
        </p:nvSpPr>
        <p:spPr>
          <a:xfrm>
            <a:off x="6715125" y="3030140"/>
            <a:ext cx="4905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mj-lt"/>
                <a:ea typeface="Lato"/>
                <a:cs typeface="Lato"/>
                <a:sym typeface="Lato"/>
              </a:rPr>
              <a:t>Join các bảng dữ liệu theo </a:t>
            </a:r>
            <a:r>
              <a:rPr lang="en-US" sz="1650" b="1" i="0" u="none" strike="noStrike" cap="none">
                <a:solidFill>
                  <a:srgbClr val="002060"/>
                </a:solidFill>
                <a:latin typeface="+mj-lt"/>
                <a:ea typeface="Lato"/>
                <a:cs typeface="Lato"/>
                <a:sym typeface="Lato"/>
              </a:rPr>
              <a:t>user_id</a:t>
            </a:r>
            <a:r>
              <a:rPr lang="en-US" sz="1650" b="0" i="0" u="none" strike="noStrike" cap="none">
                <a:solidFill>
                  <a:srgbClr val="334155"/>
                </a:solidFill>
                <a:latin typeface="+mj-lt"/>
                <a:ea typeface="Lato"/>
                <a:cs typeface="Lato"/>
                <a:sym typeface="Lato"/>
              </a:rPr>
              <a:t>.</a:t>
            </a:r>
            <a:endParaRPr>
              <a:latin typeface="+mj-lt"/>
            </a:endParaRPr>
          </a:p>
        </p:txBody>
      </p:sp>
      <p:sp>
        <p:nvSpPr>
          <p:cNvPr id="267" name="Google Shape;267;p24"/>
          <p:cNvSpPr txBox="1"/>
          <p:nvPr/>
        </p:nvSpPr>
        <p:spPr>
          <a:xfrm>
            <a:off x="6715125" y="3603426"/>
            <a:ext cx="4905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mj-lt"/>
                <a:ea typeface="Lato"/>
                <a:cs typeface="Lato"/>
                <a:sym typeface="Lato"/>
              </a:rPr>
              <a:t>Giải nén và xử lý cấu trúc </a:t>
            </a:r>
            <a:r>
              <a:rPr lang="en-US" sz="1650" b="1" i="0" u="none" strike="noStrike" cap="none">
                <a:solidFill>
                  <a:srgbClr val="002060"/>
                </a:solidFill>
                <a:latin typeface="+mj-lt"/>
                <a:ea typeface="Lato"/>
                <a:cs typeface="Lato"/>
                <a:sym typeface="Lato"/>
              </a:rPr>
              <a:t>JSON</a:t>
            </a:r>
            <a:r>
              <a:rPr lang="en-US" sz="1650" b="0" i="0" u="none" strike="noStrike" cap="none">
                <a:solidFill>
                  <a:srgbClr val="334155"/>
                </a:solidFill>
                <a:latin typeface="+mj-lt"/>
                <a:ea typeface="Lato"/>
                <a:cs typeface="Lato"/>
                <a:sym typeface="Lato"/>
              </a:rPr>
              <a:t> lồng nhau.</a:t>
            </a:r>
            <a:endParaRPr>
              <a:latin typeface="+mj-lt"/>
            </a:endParaRPr>
          </a:p>
        </p:txBody>
      </p:sp>
      <p:sp>
        <p:nvSpPr>
          <p:cNvPr id="268" name="Google Shape;268;p24"/>
          <p:cNvSpPr txBox="1"/>
          <p:nvPr/>
        </p:nvSpPr>
        <p:spPr>
          <a:xfrm>
            <a:off x="6715125" y="4176712"/>
            <a:ext cx="4905375" cy="81253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mj-lt"/>
                <a:ea typeface="Lato"/>
                <a:cs typeface="Lato"/>
                <a:sym typeface="Lato"/>
              </a:rPr>
              <a:t>Xử lý giá trị thiếu (Missing values) và ngoại lệ (Outliers).</a:t>
            </a:r>
            <a:endParaRPr>
              <a:latin typeface="+mj-lt"/>
            </a:endParaRPr>
          </a:p>
        </p:txBody>
      </p:sp>
      <p:pic>
        <p:nvPicPr>
          <p:cNvPr id="269" name="Google Shape;269;p24" descr="image.png"/>
          <p:cNvPicPr preferRelativeResize="0"/>
          <p:nvPr/>
        </p:nvPicPr>
        <p:blipFill rotWithShape="1">
          <a:blip r:embed="rId4">
            <a:alphaModFix/>
          </a:blip>
          <a:srcRect/>
          <a:stretch/>
        </p:blipFill>
        <p:spPr>
          <a:xfrm>
            <a:off x="6286500" y="3077765"/>
            <a:ext cx="200025" cy="247650"/>
          </a:xfrm>
          <a:prstGeom prst="rect">
            <a:avLst/>
          </a:prstGeom>
          <a:noFill/>
          <a:ln>
            <a:noFill/>
          </a:ln>
        </p:spPr>
      </p:pic>
      <p:pic>
        <p:nvPicPr>
          <p:cNvPr id="270" name="Google Shape;270;p24" descr="image.png"/>
          <p:cNvPicPr preferRelativeResize="0"/>
          <p:nvPr/>
        </p:nvPicPr>
        <p:blipFill rotWithShape="1">
          <a:blip r:embed="rId5">
            <a:alphaModFix/>
          </a:blip>
          <a:srcRect/>
          <a:stretch/>
        </p:blipFill>
        <p:spPr>
          <a:xfrm>
            <a:off x="6286500" y="3651051"/>
            <a:ext cx="171450" cy="247650"/>
          </a:xfrm>
          <a:prstGeom prst="rect">
            <a:avLst/>
          </a:prstGeom>
          <a:noFill/>
          <a:ln>
            <a:noFill/>
          </a:ln>
        </p:spPr>
      </p:pic>
      <p:pic>
        <p:nvPicPr>
          <p:cNvPr id="271" name="Google Shape;271;p24" descr="image.png"/>
          <p:cNvPicPr preferRelativeResize="0"/>
          <p:nvPr/>
        </p:nvPicPr>
        <p:blipFill rotWithShape="1">
          <a:blip r:embed="rId6">
            <a:alphaModFix/>
          </a:blip>
          <a:srcRect/>
          <a:stretch/>
        </p:blipFill>
        <p:spPr>
          <a:xfrm>
            <a:off x="6286500" y="4224337"/>
            <a:ext cx="257175" cy="247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5"/>
        <p:cNvGrpSpPr/>
        <p:nvPr/>
      </p:nvGrpSpPr>
      <p:grpSpPr>
        <a:xfrm>
          <a:off x="0" y="0"/>
          <a:ext cx="0" cy="0"/>
          <a:chOff x="0" y="0"/>
          <a:chExt cx="0" cy="0"/>
        </a:xfrm>
      </p:grpSpPr>
      <p:pic>
        <p:nvPicPr>
          <p:cNvPr id="276" name="Google Shape;276;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7" name="Google Shape;277;p25" descr="image.png"/>
          <p:cNvPicPr preferRelativeResize="0"/>
          <p:nvPr/>
        </p:nvPicPr>
        <p:blipFill rotWithShape="1">
          <a:blip r:embed="rId4">
            <a:alphaModFix/>
          </a:blip>
          <a:srcRect/>
          <a:stretch/>
        </p:blipFill>
        <p:spPr>
          <a:xfrm>
            <a:off x="6286500" y="3111847"/>
            <a:ext cx="5334000" cy="1615380"/>
          </a:xfrm>
          <a:prstGeom prst="rect">
            <a:avLst/>
          </a:prstGeom>
          <a:noFill/>
          <a:ln>
            <a:noFill/>
          </a:ln>
        </p:spPr>
      </p:pic>
      <p:sp>
        <p:nvSpPr>
          <p:cNvPr id="278" name="Google Shape;278;p25"/>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79" name="Google Shape;279;p25"/>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2060"/>
                </a:solidFill>
                <a:latin typeface="+mj-lt"/>
                <a:ea typeface="Poppins"/>
                <a:cs typeface="Poppins"/>
                <a:sym typeface="Poppins"/>
              </a:rPr>
              <a:t>Nội dung 2: Khám phá dữ liệu (EDA)</a:t>
            </a:r>
            <a:endParaRPr>
              <a:latin typeface="+mj-lt"/>
            </a:endParaRPr>
          </a:p>
        </p:txBody>
      </p:sp>
      <p:sp>
        <p:nvSpPr>
          <p:cNvPr id="280" name="Google Shape;280;p25"/>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81" name="Google Shape;281;p25"/>
          <p:cNvSpPr txBox="1"/>
          <p:nvPr/>
        </p:nvSpPr>
        <p:spPr>
          <a:xfrm>
            <a:off x="571500" y="3111847"/>
            <a:ext cx="5600700" cy="21608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02060"/>
                </a:solidFill>
                <a:latin typeface="+mj-lt"/>
                <a:ea typeface="Poppins"/>
                <a:cs typeface="Poppins"/>
                <a:sym typeface="Poppins"/>
              </a:rPr>
              <a:t>Phương pháp</a:t>
            </a:r>
            <a:endParaRPr>
              <a:latin typeface="+mj-lt"/>
            </a:endParaRPr>
          </a:p>
        </p:txBody>
      </p:sp>
      <p:sp>
        <p:nvSpPr>
          <p:cNvPr id="282" name="Google Shape;282;p25"/>
          <p:cNvSpPr txBox="1"/>
          <p:nvPr/>
        </p:nvSpPr>
        <p:spPr>
          <a:xfrm>
            <a:off x="571500" y="3388072"/>
            <a:ext cx="5334000" cy="12187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334155"/>
                </a:solidFill>
                <a:latin typeface="+mj-lt"/>
                <a:ea typeface="Lato"/>
                <a:cs typeface="Lato"/>
                <a:sym typeface="Lato"/>
              </a:rPr>
              <a:t>Sử</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dụng</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thống</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kê</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mô</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tả</a:t>
            </a:r>
            <a:r>
              <a:rPr lang="en-US" sz="1650" b="0" i="0" u="none" strike="noStrike" cap="none" dirty="0">
                <a:solidFill>
                  <a:srgbClr val="334155"/>
                </a:solidFill>
                <a:latin typeface="+mj-lt"/>
                <a:ea typeface="Lato"/>
                <a:cs typeface="Lato"/>
                <a:sym typeface="Lato"/>
              </a:rPr>
              <a:t> (Descriptive statistics) </a:t>
            </a:r>
            <a:r>
              <a:rPr lang="en-US" sz="1650" b="0" i="0" u="none" strike="noStrike" cap="none" dirty="0" err="1">
                <a:solidFill>
                  <a:srgbClr val="334155"/>
                </a:solidFill>
                <a:latin typeface="+mj-lt"/>
                <a:ea typeface="Lato"/>
                <a:cs typeface="Lato"/>
                <a:sym typeface="Lato"/>
              </a:rPr>
              <a:t>và</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phân</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tích</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tương</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quan</a:t>
            </a:r>
            <a:r>
              <a:rPr lang="en-US" sz="1650" b="0" i="0" u="none" strike="noStrike" cap="none" dirty="0">
                <a:solidFill>
                  <a:srgbClr val="334155"/>
                </a:solidFill>
                <a:latin typeface="+mj-lt"/>
                <a:ea typeface="Lato"/>
                <a:cs typeface="Lato"/>
                <a:sym typeface="Lato"/>
              </a:rPr>
              <a:t> (Correlation analysis) </a:t>
            </a:r>
            <a:r>
              <a:rPr lang="en-US" sz="1650" b="0" i="0" u="none" strike="noStrike" cap="none" dirty="0" err="1">
                <a:solidFill>
                  <a:srgbClr val="334155"/>
                </a:solidFill>
                <a:latin typeface="+mj-lt"/>
                <a:ea typeface="Lato"/>
                <a:cs typeface="Lato"/>
                <a:sym typeface="Lato"/>
              </a:rPr>
              <a:t>để</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hiểu</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cấu</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trúc</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dữ</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liệu</a:t>
            </a:r>
            <a:r>
              <a:rPr lang="en-US" sz="1650" b="0" i="0" u="none" strike="noStrike" cap="none" dirty="0">
                <a:solidFill>
                  <a:srgbClr val="334155"/>
                </a:solidFill>
                <a:latin typeface="+mj-lt"/>
                <a:ea typeface="Lato"/>
                <a:cs typeface="Lato"/>
                <a:sym typeface="Lato"/>
              </a:rPr>
              <a:t>.</a:t>
            </a:r>
            <a:endParaRPr dirty="0">
              <a:latin typeface="+mj-lt"/>
            </a:endParaRPr>
          </a:p>
        </p:txBody>
      </p:sp>
      <p:sp>
        <p:nvSpPr>
          <p:cNvPr id="283" name="Google Shape;283;p25"/>
          <p:cNvSpPr txBox="1"/>
          <p:nvPr/>
        </p:nvSpPr>
        <p:spPr>
          <a:xfrm>
            <a:off x="6581775" y="3407122"/>
            <a:ext cx="498062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Kết quả EDA</a:t>
            </a:r>
            <a:endParaRPr>
              <a:latin typeface="+mj-lt"/>
            </a:endParaRPr>
          </a:p>
        </p:txBody>
      </p:sp>
      <p:sp>
        <p:nvSpPr>
          <p:cNvPr id="284" name="Google Shape;284;p25"/>
          <p:cNvSpPr txBox="1"/>
          <p:nvPr/>
        </p:nvSpPr>
        <p:spPr>
          <a:xfrm>
            <a:off x="6581775" y="3883372"/>
            <a:ext cx="4743450"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Xác định được các mối quan hệ mật thiết giữa hành vi xem video và tỷ lệ hoàn thành bài tập, là cơ sở để trích xuất đặc trưng.</a:t>
            </a:r>
            <a:endParaRPr>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8"/>
        <p:cNvGrpSpPr/>
        <p:nvPr/>
      </p:nvGrpSpPr>
      <p:grpSpPr>
        <a:xfrm>
          <a:off x="0" y="0"/>
          <a:ext cx="0" cy="0"/>
          <a:chOff x="0" y="0"/>
          <a:chExt cx="0" cy="0"/>
        </a:xfrm>
      </p:grpSpPr>
      <p:pic>
        <p:nvPicPr>
          <p:cNvPr id="289" name="Google Shape;289;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90" name="Google Shape;290;p26" descr="image.png"/>
          <p:cNvPicPr preferRelativeResize="0"/>
          <p:nvPr/>
        </p:nvPicPr>
        <p:blipFill rotWithShape="1">
          <a:blip r:embed="rId4">
            <a:alphaModFix/>
          </a:blip>
          <a:srcRect/>
          <a:stretch/>
        </p:blipFill>
        <p:spPr>
          <a:xfrm>
            <a:off x="571500" y="2974627"/>
            <a:ext cx="5334000" cy="1889670"/>
          </a:xfrm>
          <a:prstGeom prst="rect">
            <a:avLst/>
          </a:prstGeom>
          <a:noFill/>
          <a:ln>
            <a:noFill/>
          </a:ln>
        </p:spPr>
      </p:pic>
      <p:pic>
        <p:nvPicPr>
          <p:cNvPr id="291" name="Google Shape;291;p26" descr="image.png"/>
          <p:cNvPicPr preferRelativeResize="0"/>
          <p:nvPr/>
        </p:nvPicPr>
        <p:blipFill rotWithShape="1">
          <a:blip r:embed="rId5">
            <a:alphaModFix/>
          </a:blip>
          <a:srcRect/>
          <a:stretch/>
        </p:blipFill>
        <p:spPr>
          <a:xfrm>
            <a:off x="6286500" y="2974627"/>
            <a:ext cx="5334000" cy="1889670"/>
          </a:xfrm>
          <a:prstGeom prst="rect">
            <a:avLst/>
          </a:prstGeom>
          <a:noFill/>
          <a:ln>
            <a:noFill/>
          </a:ln>
        </p:spPr>
      </p:pic>
      <p:sp>
        <p:nvSpPr>
          <p:cNvPr id="292" name="Google Shape;292;p26"/>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93" name="Google Shape;293;p26"/>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dirty="0" err="1">
                <a:solidFill>
                  <a:srgbClr val="002060"/>
                </a:solidFill>
                <a:latin typeface="+mj-lt"/>
                <a:ea typeface="Poppins"/>
                <a:cs typeface="Poppins"/>
                <a:sym typeface="Poppins"/>
              </a:rPr>
              <a:t>Nội</a:t>
            </a:r>
            <a:r>
              <a:rPr lang="en-US" sz="2550" b="1" i="0" u="none" strike="noStrike" cap="none" dirty="0">
                <a:solidFill>
                  <a:srgbClr val="002060"/>
                </a:solidFill>
                <a:latin typeface="+mj-lt"/>
                <a:ea typeface="Poppins"/>
                <a:cs typeface="Poppins"/>
                <a:sym typeface="Poppins"/>
              </a:rPr>
              <a:t> dung 3: </a:t>
            </a:r>
            <a:r>
              <a:rPr lang="en-US" sz="2550" b="1" i="0" u="none" strike="noStrike" cap="none" dirty="0" err="1">
                <a:solidFill>
                  <a:srgbClr val="002060"/>
                </a:solidFill>
                <a:latin typeface="+mj-lt"/>
                <a:ea typeface="Poppins"/>
                <a:cs typeface="Poppins"/>
                <a:sym typeface="Poppins"/>
              </a:rPr>
              <a:t>Trích</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xuất</a:t>
            </a:r>
            <a:r>
              <a:rPr lang="en-US" sz="2550" b="1" i="0" u="none" strike="noStrike" cap="none" dirty="0">
                <a:solidFill>
                  <a:srgbClr val="002060"/>
                </a:solidFill>
                <a:latin typeface="+mj-lt"/>
                <a:ea typeface="Poppins"/>
                <a:cs typeface="Poppins"/>
                <a:sym typeface="Poppins"/>
              </a:rPr>
              <a:t> Features &amp; Labels</a:t>
            </a:r>
            <a:endParaRPr dirty="0">
              <a:latin typeface="+mj-lt"/>
            </a:endParaRPr>
          </a:p>
        </p:txBody>
      </p:sp>
      <p:sp>
        <p:nvSpPr>
          <p:cNvPr id="294" name="Google Shape;294;p26"/>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295" name="Google Shape;295;p26"/>
          <p:cNvSpPr txBox="1"/>
          <p:nvPr/>
        </p:nvSpPr>
        <p:spPr>
          <a:xfrm>
            <a:off x="866775" y="3269902"/>
            <a:ext cx="498062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Features chính (4 tuần)</a:t>
            </a:r>
            <a:endParaRPr>
              <a:latin typeface="+mj-lt"/>
            </a:endParaRPr>
          </a:p>
        </p:txBody>
      </p:sp>
      <p:sp>
        <p:nvSpPr>
          <p:cNvPr id="296" name="Google Shape;296;p26"/>
          <p:cNvSpPr txBox="1"/>
          <p:nvPr/>
        </p:nvSpPr>
        <p:spPr>
          <a:xfrm>
            <a:off x="866775" y="3746152"/>
            <a:ext cx="4743450" cy="7478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0" i="0" u="none" strike="noStrike" cap="none">
                <a:solidFill>
                  <a:srgbClr val="334155"/>
                </a:solidFill>
                <a:latin typeface="+mj-lt"/>
                <a:ea typeface="Lato"/>
                <a:cs typeface="Lato"/>
                <a:sym typeface="Lato"/>
              </a:rPr>
              <a:t>• </a:t>
            </a:r>
            <a:r>
              <a:rPr lang="en-US" sz="1350" b="1" i="0" u="none" strike="noStrike" cap="none">
                <a:solidFill>
                  <a:srgbClr val="334155"/>
                </a:solidFill>
                <a:latin typeface="+mj-lt"/>
                <a:ea typeface="Lato"/>
                <a:cs typeface="Lato"/>
                <a:sym typeface="Lato"/>
              </a:rPr>
              <a:t>attempts_4w</a:t>
            </a:r>
            <a:r>
              <a:rPr lang="en-US" sz="1350" b="0" i="0" u="none" strike="noStrike" cap="none">
                <a:solidFill>
                  <a:srgbClr val="334155"/>
                </a:solidFill>
                <a:latin typeface="+mj-lt"/>
                <a:ea typeface="Lato"/>
                <a:cs typeface="Lato"/>
                <a:sym typeface="Lato"/>
              </a:rPr>
              <a:t>: Số lần thử bài tập.</a:t>
            </a:r>
            <a:br>
              <a:rPr lang="en-US" sz="1800" b="0" i="0" u="none" strike="noStrike" cap="none">
                <a:solidFill>
                  <a:schemeClr val="dk1"/>
                </a:solidFill>
                <a:latin typeface="+mj-lt"/>
                <a:ea typeface="Calibri"/>
                <a:cs typeface="Calibri"/>
                <a:sym typeface="Calibri"/>
              </a:rPr>
            </a:br>
            <a:r>
              <a:rPr lang="en-US" sz="1350" b="0" i="0" u="none" strike="noStrike" cap="none">
                <a:solidFill>
                  <a:srgbClr val="334155"/>
                </a:solidFill>
                <a:latin typeface="+mj-lt"/>
                <a:ea typeface="Lato"/>
                <a:cs typeface="Lato"/>
                <a:sym typeface="Lato"/>
              </a:rPr>
              <a:t> • </a:t>
            </a:r>
            <a:r>
              <a:rPr lang="en-US" sz="1350" b="1" i="0" u="none" strike="noStrike" cap="none">
                <a:solidFill>
                  <a:srgbClr val="334155"/>
                </a:solidFill>
                <a:latin typeface="+mj-lt"/>
                <a:ea typeface="Lato"/>
                <a:cs typeface="Lato"/>
                <a:sym typeface="Lato"/>
              </a:rPr>
              <a:t>score_4w</a:t>
            </a:r>
            <a:r>
              <a:rPr lang="en-US" sz="1350" b="0" i="0" u="none" strike="noStrike" cap="none">
                <a:solidFill>
                  <a:srgbClr val="334155"/>
                </a:solidFill>
                <a:latin typeface="+mj-lt"/>
                <a:ea typeface="Lato"/>
                <a:cs typeface="Lato"/>
                <a:sym typeface="Lato"/>
              </a:rPr>
              <a:t>: Tổng điểm đạt được.</a:t>
            </a:r>
            <a:br>
              <a:rPr lang="en-US" sz="1800" b="0" i="0" u="none" strike="noStrike" cap="none">
                <a:solidFill>
                  <a:schemeClr val="dk1"/>
                </a:solidFill>
                <a:latin typeface="+mj-lt"/>
                <a:ea typeface="Calibri"/>
                <a:cs typeface="Calibri"/>
                <a:sym typeface="Calibri"/>
              </a:rPr>
            </a:br>
            <a:r>
              <a:rPr lang="en-US" sz="1350" b="0" i="0" u="none" strike="noStrike" cap="none">
                <a:solidFill>
                  <a:srgbClr val="334155"/>
                </a:solidFill>
                <a:latin typeface="+mj-lt"/>
                <a:ea typeface="Lato"/>
                <a:cs typeface="Lato"/>
                <a:sym typeface="Lato"/>
              </a:rPr>
              <a:t> • </a:t>
            </a:r>
            <a:r>
              <a:rPr lang="en-US" sz="1350" b="1" i="0" u="none" strike="noStrike" cap="none">
                <a:solidFill>
                  <a:srgbClr val="334155"/>
                </a:solidFill>
                <a:latin typeface="+mj-lt"/>
                <a:ea typeface="Lato"/>
                <a:cs typeface="Lato"/>
                <a:sym typeface="Lato"/>
              </a:rPr>
              <a:t>accuracy</a:t>
            </a:r>
            <a:r>
              <a:rPr lang="en-US" sz="1350" b="0" i="0" u="none" strike="noStrike" cap="none">
                <a:solidFill>
                  <a:srgbClr val="334155"/>
                </a:solidFill>
                <a:latin typeface="+mj-lt"/>
                <a:ea typeface="Lato"/>
                <a:cs typeface="Lato"/>
                <a:sym typeface="Lato"/>
              </a:rPr>
              <a:t>: Tỷ lệ chính xác trung bình.</a:t>
            </a:r>
            <a:endParaRPr>
              <a:latin typeface="+mj-lt"/>
            </a:endParaRPr>
          </a:p>
        </p:txBody>
      </p:sp>
      <p:sp>
        <p:nvSpPr>
          <p:cNvPr id="297" name="Google Shape;297;p26"/>
          <p:cNvSpPr txBox="1"/>
          <p:nvPr/>
        </p:nvSpPr>
        <p:spPr>
          <a:xfrm>
            <a:off x="6581775" y="3269902"/>
            <a:ext cx="498062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Kỹ thuật xây dựng Label</a:t>
            </a:r>
            <a:endParaRPr>
              <a:latin typeface="+mj-lt"/>
            </a:endParaRPr>
          </a:p>
        </p:txBody>
      </p:sp>
      <p:sp>
        <p:nvSpPr>
          <p:cNvPr id="298" name="Google Shape;298;p26"/>
          <p:cNvSpPr txBox="1"/>
          <p:nvPr/>
        </p:nvSpPr>
        <p:spPr>
          <a:xfrm>
            <a:off x="6581775" y="3746152"/>
            <a:ext cx="4743450" cy="7478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0" i="0" u="none" strike="noStrike" cap="none">
                <a:solidFill>
                  <a:srgbClr val="334155"/>
                </a:solidFill>
                <a:latin typeface="+mj-lt"/>
                <a:ea typeface="Lato"/>
                <a:cs typeface="Lato"/>
                <a:sym typeface="Lato"/>
              </a:rPr>
              <a:t>• </a:t>
            </a:r>
            <a:r>
              <a:rPr lang="en-US" sz="1350" b="1" i="0" u="none" strike="noStrike" cap="none">
                <a:solidFill>
                  <a:srgbClr val="334155"/>
                </a:solidFill>
                <a:latin typeface="+mj-lt"/>
                <a:ea typeface="Lato"/>
                <a:cs typeface="Lato"/>
                <a:sym typeface="Lato"/>
              </a:rPr>
              <a:t>WES</a:t>
            </a:r>
            <a:r>
              <a:rPr lang="en-US" sz="1350" b="0" i="0" u="none" strike="noStrike" cap="none">
                <a:solidFill>
                  <a:srgbClr val="334155"/>
                </a:solidFill>
                <a:latin typeface="+mj-lt"/>
                <a:ea typeface="Lato"/>
                <a:cs typeface="Lato"/>
                <a:sym typeface="Lato"/>
              </a:rPr>
              <a:t>: Điểm tương tác tổng hợp.</a:t>
            </a:r>
            <a:br>
              <a:rPr lang="en-US" sz="1800" b="0" i="0" u="none" strike="noStrike" cap="none">
                <a:solidFill>
                  <a:schemeClr val="dk1"/>
                </a:solidFill>
                <a:latin typeface="+mj-lt"/>
                <a:ea typeface="Calibri"/>
                <a:cs typeface="Calibri"/>
                <a:sym typeface="Calibri"/>
              </a:rPr>
            </a:br>
            <a:r>
              <a:rPr lang="en-US" sz="1350" b="0" i="0" u="none" strike="noStrike" cap="none">
                <a:solidFill>
                  <a:srgbClr val="334155"/>
                </a:solidFill>
                <a:latin typeface="+mj-lt"/>
                <a:ea typeface="Lato"/>
                <a:cs typeface="Lato"/>
                <a:sym typeface="Lato"/>
              </a:rPr>
              <a:t> • </a:t>
            </a:r>
            <a:r>
              <a:rPr lang="en-US" sz="1350" b="1" i="0" u="none" strike="noStrike" cap="none">
                <a:solidFill>
                  <a:srgbClr val="334155"/>
                </a:solidFill>
                <a:latin typeface="+mj-lt"/>
                <a:ea typeface="Lato"/>
                <a:cs typeface="Lato"/>
                <a:sym typeface="Lato"/>
              </a:rPr>
              <a:t>Entropy Weight</a:t>
            </a:r>
            <a:r>
              <a:rPr lang="en-US" sz="1350" b="0" i="0" u="none" strike="noStrike" cap="none">
                <a:solidFill>
                  <a:srgbClr val="334155"/>
                </a:solidFill>
                <a:latin typeface="+mj-lt"/>
                <a:ea typeface="Lato"/>
                <a:cs typeface="Lato"/>
                <a:sym typeface="Lato"/>
              </a:rPr>
              <a:t>: Trọng số khách quan.</a:t>
            </a:r>
            <a:br>
              <a:rPr lang="en-US" sz="1800" b="0" i="0" u="none" strike="noStrike" cap="none">
                <a:solidFill>
                  <a:schemeClr val="dk1"/>
                </a:solidFill>
                <a:latin typeface="+mj-lt"/>
                <a:ea typeface="Calibri"/>
                <a:cs typeface="Calibri"/>
                <a:sym typeface="Calibri"/>
              </a:rPr>
            </a:br>
            <a:r>
              <a:rPr lang="en-US" sz="1350" b="0" i="0" u="none" strike="noStrike" cap="none">
                <a:solidFill>
                  <a:srgbClr val="334155"/>
                </a:solidFill>
                <a:latin typeface="+mj-lt"/>
                <a:ea typeface="Lato"/>
                <a:cs typeface="Lato"/>
                <a:sym typeface="Lato"/>
              </a:rPr>
              <a:t> • </a:t>
            </a:r>
            <a:r>
              <a:rPr lang="en-US" sz="1350" b="1" i="0" u="none" strike="noStrike" cap="none">
                <a:solidFill>
                  <a:srgbClr val="334155"/>
                </a:solidFill>
                <a:latin typeface="+mj-lt"/>
                <a:ea typeface="Lato"/>
                <a:cs typeface="Lato"/>
                <a:sym typeface="Lato"/>
              </a:rPr>
              <a:t>Percentile</a:t>
            </a:r>
            <a:r>
              <a:rPr lang="en-US" sz="1350" b="0" i="0" u="none" strike="noStrike" cap="none">
                <a:solidFill>
                  <a:srgbClr val="334155"/>
                </a:solidFill>
                <a:latin typeface="+mj-lt"/>
                <a:ea typeface="Lato"/>
                <a:cs typeface="Lato"/>
                <a:sym typeface="Lato"/>
              </a:rPr>
              <a:t>: Phân chia theo phân vị.</a:t>
            </a:r>
            <a:endParaRPr>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2"/>
        <p:cNvGrpSpPr/>
        <p:nvPr/>
      </p:nvGrpSpPr>
      <p:grpSpPr>
        <a:xfrm>
          <a:off x="0" y="0"/>
          <a:ext cx="0" cy="0"/>
          <a:chOff x="0" y="0"/>
          <a:chExt cx="0" cy="0"/>
        </a:xfrm>
      </p:grpSpPr>
      <p:pic>
        <p:nvPicPr>
          <p:cNvPr id="303" name="Google Shape;303;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4" name="Google Shape;304;p27" descr="image.png"/>
          <p:cNvPicPr preferRelativeResize="0"/>
          <p:nvPr/>
        </p:nvPicPr>
        <p:blipFill rotWithShape="1">
          <a:blip r:embed="rId4">
            <a:alphaModFix/>
          </a:blip>
          <a:srcRect/>
          <a:stretch/>
        </p:blipFill>
        <p:spPr>
          <a:xfrm>
            <a:off x="571500" y="1949201"/>
            <a:ext cx="11049000" cy="2039540"/>
          </a:xfrm>
          <a:prstGeom prst="rect">
            <a:avLst/>
          </a:prstGeom>
          <a:noFill/>
          <a:ln>
            <a:noFill/>
          </a:ln>
        </p:spPr>
      </p:pic>
      <p:pic>
        <p:nvPicPr>
          <p:cNvPr id="305" name="Google Shape;305;p27" descr="image.png"/>
          <p:cNvPicPr preferRelativeResize="0"/>
          <p:nvPr/>
        </p:nvPicPr>
        <p:blipFill rotWithShape="1">
          <a:blip r:embed="rId5">
            <a:alphaModFix/>
          </a:blip>
          <a:srcRect/>
          <a:stretch/>
        </p:blipFill>
        <p:spPr>
          <a:xfrm>
            <a:off x="571500" y="4464992"/>
            <a:ext cx="5334000" cy="1615380"/>
          </a:xfrm>
          <a:prstGeom prst="rect">
            <a:avLst/>
          </a:prstGeom>
          <a:noFill/>
          <a:ln>
            <a:noFill/>
          </a:ln>
        </p:spPr>
      </p:pic>
      <p:pic>
        <p:nvPicPr>
          <p:cNvPr id="306" name="Google Shape;306;p27" descr="image.png"/>
          <p:cNvPicPr preferRelativeResize="0"/>
          <p:nvPr/>
        </p:nvPicPr>
        <p:blipFill rotWithShape="1">
          <a:blip r:embed="rId6">
            <a:alphaModFix/>
          </a:blip>
          <a:srcRect/>
          <a:stretch/>
        </p:blipFill>
        <p:spPr>
          <a:xfrm>
            <a:off x="6286500" y="4464992"/>
            <a:ext cx="5334000" cy="1615380"/>
          </a:xfrm>
          <a:prstGeom prst="rect">
            <a:avLst/>
          </a:prstGeom>
          <a:noFill/>
          <a:ln>
            <a:noFill/>
          </a:ln>
        </p:spPr>
      </p:pic>
      <p:sp>
        <p:nvSpPr>
          <p:cNvPr id="307" name="Google Shape;307;p27"/>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08" name="Google Shape;308;p27"/>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2060"/>
                </a:solidFill>
                <a:latin typeface="+mj-lt"/>
                <a:ea typeface="Poppins"/>
                <a:cs typeface="Poppins"/>
                <a:sym typeface="Poppins"/>
              </a:rPr>
              <a:t>Công thức Weighted Engagement Score</a:t>
            </a:r>
            <a:endParaRPr>
              <a:latin typeface="+mj-lt"/>
            </a:endParaRPr>
          </a:p>
        </p:txBody>
      </p:sp>
      <p:sp>
        <p:nvSpPr>
          <p:cNvPr id="309" name="Google Shape;309;p27"/>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pic>
        <p:nvPicPr>
          <p:cNvPr id="310" name="Google Shape;310;p27" descr="image.png"/>
          <p:cNvPicPr preferRelativeResize="0"/>
          <p:nvPr/>
        </p:nvPicPr>
        <p:blipFill rotWithShape="1">
          <a:blip r:embed="rId7">
            <a:alphaModFix/>
          </a:blip>
          <a:srcRect/>
          <a:stretch/>
        </p:blipFill>
        <p:spPr>
          <a:xfrm>
            <a:off x="3595687" y="2330201"/>
            <a:ext cx="5095875" cy="1277540"/>
          </a:xfrm>
          <a:prstGeom prst="rect">
            <a:avLst/>
          </a:prstGeom>
          <a:noFill/>
          <a:ln>
            <a:noFill/>
          </a:ln>
        </p:spPr>
      </p:pic>
      <p:sp>
        <p:nvSpPr>
          <p:cNvPr id="311" name="Google Shape;311;p27"/>
          <p:cNvSpPr txBox="1"/>
          <p:nvPr/>
        </p:nvSpPr>
        <p:spPr>
          <a:xfrm>
            <a:off x="866775" y="4760267"/>
            <a:ext cx="498062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Ý nghĩa chỉ số</a:t>
            </a:r>
            <a:endParaRPr>
              <a:latin typeface="+mj-lt"/>
            </a:endParaRPr>
          </a:p>
        </p:txBody>
      </p:sp>
      <p:sp>
        <p:nvSpPr>
          <p:cNvPr id="312" name="Google Shape;312;p27"/>
          <p:cNvSpPr txBox="1"/>
          <p:nvPr/>
        </p:nvSpPr>
        <p:spPr>
          <a:xfrm>
            <a:off x="866775" y="5236517"/>
            <a:ext cx="474345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Định lượng mức độ Engagement của từng cá nhân thông qua việc tổng hợp nhiều hành vi khác nhau.</a:t>
            </a:r>
            <a:endParaRPr>
              <a:latin typeface="+mj-lt"/>
            </a:endParaRPr>
          </a:p>
        </p:txBody>
      </p:sp>
      <p:sp>
        <p:nvSpPr>
          <p:cNvPr id="313" name="Google Shape;313;p27"/>
          <p:cNvSpPr txBox="1"/>
          <p:nvPr/>
        </p:nvSpPr>
        <p:spPr>
          <a:xfrm>
            <a:off x="6581775" y="4760267"/>
            <a:ext cx="498062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Tính khách quan</a:t>
            </a:r>
            <a:endParaRPr>
              <a:latin typeface="+mj-lt"/>
            </a:endParaRPr>
          </a:p>
        </p:txBody>
      </p:sp>
      <p:sp>
        <p:nvSpPr>
          <p:cNvPr id="314" name="Google Shape;314;p27"/>
          <p:cNvSpPr txBox="1"/>
          <p:nvPr/>
        </p:nvSpPr>
        <p:spPr>
          <a:xfrm>
            <a:off x="6581775" y="5236517"/>
            <a:ext cx="474345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Trọng số được tính toán tự động bằng Entropy, giúp phản ánh đúng tầm quan trọng của từng Feature trong tập dữ liệu.</a:t>
            </a:r>
            <a:endParaRPr>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pic>
        <p:nvPicPr>
          <p:cNvPr id="319" name="Google Shape;319;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0" name="Google Shape;320;p28" descr="image.png"/>
          <p:cNvPicPr preferRelativeResize="0"/>
          <p:nvPr/>
        </p:nvPicPr>
        <p:blipFill rotWithShape="1">
          <a:blip r:embed="rId4">
            <a:alphaModFix/>
          </a:blip>
          <a:srcRect/>
          <a:stretch/>
        </p:blipFill>
        <p:spPr>
          <a:xfrm>
            <a:off x="571500" y="3403252"/>
            <a:ext cx="2583656" cy="1653480"/>
          </a:xfrm>
          <a:prstGeom prst="rect">
            <a:avLst/>
          </a:prstGeom>
          <a:noFill/>
          <a:ln>
            <a:noFill/>
          </a:ln>
        </p:spPr>
      </p:pic>
      <p:pic>
        <p:nvPicPr>
          <p:cNvPr id="321" name="Google Shape;321;p28" descr="image.png"/>
          <p:cNvPicPr preferRelativeResize="0"/>
          <p:nvPr/>
        </p:nvPicPr>
        <p:blipFill rotWithShape="1">
          <a:blip r:embed="rId5">
            <a:alphaModFix/>
          </a:blip>
          <a:srcRect/>
          <a:stretch/>
        </p:blipFill>
        <p:spPr>
          <a:xfrm>
            <a:off x="3393281" y="3403252"/>
            <a:ext cx="2583656" cy="1653480"/>
          </a:xfrm>
          <a:prstGeom prst="rect">
            <a:avLst/>
          </a:prstGeom>
          <a:noFill/>
          <a:ln>
            <a:noFill/>
          </a:ln>
        </p:spPr>
      </p:pic>
      <p:pic>
        <p:nvPicPr>
          <p:cNvPr id="322" name="Google Shape;322;p28" descr="image.png"/>
          <p:cNvPicPr preferRelativeResize="0"/>
          <p:nvPr/>
        </p:nvPicPr>
        <p:blipFill rotWithShape="1">
          <a:blip r:embed="rId6">
            <a:alphaModFix/>
          </a:blip>
          <a:srcRect/>
          <a:stretch/>
        </p:blipFill>
        <p:spPr>
          <a:xfrm>
            <a:off x="6215062" y="3403252"/>
            <a:ext cx="2583656" cy="1653480"/>
          </a:xfrm>
          <a:prstGeom prst="rect">
            <a:avLst/>
          </a:prstGeom>
          <a:noFill/>
          <a:ln>
            <a:noFill/>
          </a:ln>
        </p:spPr>
      </p:pic>
      <p:pic>
        <p:nvPicPr>
          <p:cNvPr id="323" name="Google Shape;323;p28" descr="image.png"/>
          <p:cNvPicPr preferRelativeResize="0"/>
          <p:nvPr/>
        </p:nvPicPr>
        <p:blipFill rotWithShape="1">
          <a:blip r:embed="rId6">
            <a:alphaModFix/>
          </a:blip>
          <a:srcRect/>
          <a:stretch/>
        </p:blipFill>
        <p:spPr>
          <a:xfrm>
            <a:off x="9036843" y="3403252"/>
            <a:ext cx="2583656" cy="1653480"/>
          </a:xfrm>
          <a:prstGeom prst="rect">
            <a:avLst/>
          </a:prstGeom>
          <a:noFill/>
          <a:ln>
            <a:noFill/>
          </a:ln>
        </p:spPr>
      </p:pic>
      <p:sp>
        <p:nvSpPr>
          <p:cNvPr id="324" name="Google Shape;324;p28"/>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25" name="Google Shape;325;p28"/>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dirty="0" err="1">
                <a:solidFill>
                  <a:srgbClr val="002060"/>
                </a:solidFill>
                <a:latin typeface="+mj-lt"/>
                <a:ea typeface="Poppins"/>
                <a:cs typeface="Poppins"/>
                <a:sym typeface="Poppins"/>
              </a:rPr>
              <a:t>Nội</a:t>
            </a:r>
            <a:r>
              <a:rPr lang="en-US" sz="2550" b="1" i="0" u="none" strike="noStrike" cap="none" dirty="0">
                <a:solidFill>
                  <a:srgbClr val="002060"/>
                </a:solidFill>
                <a:latin typeface="+mj-lt"/>
                <a:ea typeface="Poppins"/>
                <a:cs typeface="Poppins"/>
                <a:sym typeface="Poppins"/>
              </a:rPr>
              <a:t> dung 4: </a:t>
            </a:r>
            <a:r>
              <a:rPr lang="en-US" sz="2550" b="1" i="0" u="none" strike="noStrike" cap="none" dirty="0" err="1">
                <a:solidFill>
                  <a:srgbClr val="002060"/>
                </a:solidFill>
                <a:latin typeface="+mj-lt"/>
                <a:ea typeface="Poppins"/>
                <a:cs typeface="Poppins"/>
                <a:sym typeface="Poppins"/>
              </a:rPr>
              <a:t>Lựa</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chọn</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mô</a:t>
            </a:r>
            <a:r>
              <a:rPr lang="en-US" sz="2550" b="1" i="0" u="none" strike="noStrike" cap="none" dirty="0">
                <a:solidFill>
                  <a:srgbClr val="002060"/>
                </a:solidFill>
                <a:latin typeface="+mj-lt"/>
                <a:ea typeface="Poppins"/>
                <a:cs typeface="Poppins"/>
                <a:sym typeface="Poppins"/>
              </a:rPr>
              <a:t> </a:t>
            </a:r>
            <a:r>
              <a:rPr lang="en-US" sz="2550" b="1" i="0" u="none" strike="noStrike" cap="none" dirty="0" err="1">
                <a:solidFill>
                  <a:srgbClr val="002060"/>
                </a:solidFill>
                <a:latin typeface="+mj-lt"/>
                <a:ea typeface="Poppins"/>
                <a:cs typeface="Poppins"/>
                <a:sym typeface="Poppins"/>
              </a:rPr>
              <a:t>hình</a:t>
            </a:r>
            <a:endParaRPr dirty="0">
              <a:latin typeface="+mj-lt"/>
            </a:endParaRPr>
          </a:p>
        </p:txBody>
      </p:sp>
      <p:sp>
        <p:nvSpPr>
          <p:cNvPr id="326" name="Google Shape;326;p28"/>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27" name="Google Shape;327;p28"/>
          <p:cNvSpPr txBox="1"/>
          <p:nvPr/>
        </p:nvSpPr>
        <p:spPr>
          <a:xfrm>
            <a:off x="571500" y="2782341"/>
            <a:ext cx="11049000"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334155"/>
                </a:solidFill>
                <a:latin typeface="+mj-lt"/>
                <a:ea typeface="Lato"/>
                <a:cs typeface="Lato"/>
                <a:sym typeface="Lato"/>
              </a:rPr>
              <a:t>Đề tài thử nghiệm và tối ưu hóa trên các thuật toán học máy hàng đầu:</a:t>
            </a:r>
            <a:endParaRPr>
              <a:latin typeface="+mj-lt"/>
            </a:endParaRPr>
          </a:p>
        </p:txBody>
      </p:sp>
      <p:sp>
        <p:nvSpPr>
          <p:cNvPr id="328" name="Google Shape;328;p28"/>
          <p:cNvSpPr txBox="1"/>
          <p:nvPr/>
        </p:nvSpPr>
        <p:spPr>
          <a:xfrm>
            <a:off x="866775" y="3698527"/>
            <a:ext cx="2092761"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Logistic Reg</a:t>
            </a:r>
            <a:endParaRPr>
              <a:latin typeface="+mj-lt"/>
            </a:endParaRPr>
          </a:p>
        </p:txBody>
      </p:sp>
      <p:sp>
        <p:nvSpPr>
          <p:cNvPr id="329" name="Google Shape;329;p28"/>
          <p:cNvSpPr txBox="1"/>
          <p:nvPr/>
        </p:nvSpPr>
        <p:spPr>
          <a:xfrm>
            <a:off x="866775" y="4174777"/>
            <a:ext cx="1993106"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Mô hình cơ bản để so sánh hiệu suất.</a:t>
            </a:r>
            <a:endParaRPr>
              <a:latin typeface="+mj-lt"/>
            </a:endParaRPr>
          </a:p>
        </p:txBody>
      </p:sp>
      <p:sp>
        <p:nvSpPr>
          <p:cNvPr id="330" name="Google Shape;330;p28"/>
          <p:cNvSpPr txBox="1"/>
          <p:nvPr/>
        </p:nvSpPr>
        <p:spPr>
          <a:xfrm>
            <a:off x="3688556" y="3698527"/>
            <a:ext cx="2092761"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Random Forest</a:t>
            </a:r>
            <a:endParaRPr>
              <a:latin typeface="+mj-lt"/>
            </a:endParaRPr>
          </a:p>
        </p:txBody>
      </p:sp>
      <p:sp>
        <p:nvSpPr>
          <p:cNvPr id="331" name="Google Shape;331;p28"/>
          <p:cNvSpPr txBox="1"/>
          <p:nvPr/>
        </p:nvSpPr>
        <p:spPr>
          <a:xfrm>
            <a:off x="3688556" y="4174777"/>
            <a:ext cx="1993106"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Mạnh mẽ trong việc xử lý các quan hệ phi tuyến.</a:t>
            </a:r>
            <a:endParaRPr>
              <a:latin typeface="+mj-lt"/>
            </a:endParaRPr>
          </a:p>
        </p:txBody>
      </p:sp>
      <p:sp>
        <p:nvSpPr>
          <p:cNvPr id="332" name="Google Shape;332;p28"/>
          <p:cNvSpPr txBox="1"/>
          <p:nvPr/>
        </p:nvSpPr>
        <p:spPr>
          <a:xfrm>
            <a:off x="6510337" y="3698527"/>
            <a:ext cx="2092761"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XGBoost</a:t>
            </a:r>
            <a:endParaRPr>
              <a:latin typeface="+mj-lt"/>
            </a:endParaRPr>
          </a:p>
        </p:txBody>
      </p:sp>
      <p:sp>
        <p:nvSpPr>
          <p:cNvPr id="333" name="Google Shape;333;p28"/>
          <p:cNvSpPr txBox="1"/>
          <p:nvPr/>
        </p:nvSpPr>
        <p:spPr>
          <a:xfrm>
            <a:off x="6510337" y="4174777"/>
            <a:ext cx="1993106"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Tối ưu hóa tốc độ và độ chính xác cao.</a:t>
            </a:r>
            <a:endParaRPr>
              <a:latin typeface="+mj-lt"/>
            </a:endParaRPr>
          </a:p>
        </p:txBody>
      </p:sp>
      <p:sp>
        <p:nvSpPr>
          <p:cNvPr id="334" name="Google Shape;334;p28"/>
          <p:cNvSpPr txBox="1"/>
          <p:nvPr/>
        </p:nvSpPr>
        <p:spPr>
          <a:xfrm>
            <a:off x="9332118" y="3698527"/>
            <a:ext cx="2092761"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CatBoost</a:t>
            </a:r>
            <a:endParaRPr>
              <a:latin typeface="+mj-lt"/>
            </a:endParaRPr>
          </a:p>
        </p:txBody>
      </p:sp>
      <p:sp>
        <p:nvSpPr>
          <p:cNvPr id="335" name="Google Shape;335;p28"/>
          <p:cNvSpPr txBox="1"/>
          <p:nvPr/>
        </p:nvSpPr>
        <p:spPr>
          <a:xfrm>
            <a:off x="9332118" y="4174777"/>
            <a:ext cx="1993106"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Xử lý tốt các đặc trưng phân loại.</a:t>
            </a:r>
            <a:endParaRPr>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9"/>
        <p:cNvGrpSpPr/>
        <p:nvPr/>
      </p:nvGrpSpPr>
      <p:grpSpPr>
        <a:xfrm>
          <a:off x="0" y="0"/>
          <a:ext cx="0" cy="0"/>
          <a:chOff x="0" y="0"/>
          <a:chExt cx="0" cy="0"/>
        </a:xfrm>
      </p:grpSpPr>
      <p:pic>
        <p:nvPicPr>
          <p:cNvPr id="340" name="Google Shape;340;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41" name="Google Shape;341;p29"/>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42" name="Google Shape;342;p29"/>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2060"/>
                </a:solidFill>
                <a:latin typeface="+mj-lt"/>
                <a:ea typeface="Poppins"/>
                <a:cs typeface="Poppins"/>
                <a:sym typeface="Poppins"/>
              </a:rPr>
              <a:t>Chiến lược huấn luyện (Training)</a:t>
            </a:r>
            <a:endParaRPr>
              <a:latin typeface="+mj-lt"/>
            </a:endParaRPr>
          </a:p>
        </p:txBody>
      </p:sp>
      <p:sp>
        <p:nvSpPr>
          <p:cNvPr id="343" name="Google Shape;343;p29"/>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44" name="Google Shape;344;p29"/>
          <p:cNvSpPr txBox="1"/>
          <p:nvPr/>
        </p:nvSpPr>
        <p:spPr>
          <a:xfrm>
            <a:off x="1000125" y="3059608"/>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002060"/>
                </a:solidFill>
                <a:latin typeface="+mj-lt"/>
                <a:ea typeface="Lato"/>
                <a:cs typeface="Lato"/>
                <a:sym typeface="Lato"/>
              </a:rPr>
              <a:t>Data Split:</a:t>
            </a:r>
            <a:r>
              <a:rPr lang="en-US" sz="1650" b="0" i="0" u="none" strike="noStrike" cap="none">
                <a:solidFill>
                  <a:srgbClr val="334155"/>
                </a:solidFill>
                <a:latin typeface="+mj-lt"/>
                <a:ea typeface="Lato"/>
                <a:cs typeface="Lato"/>
                <a:sym typeface="Lato"/>
              </a:rPr>
              <a:t> Chia dữ liệu theo tỷ lệ </a:t>
            </a:r>
            <a:r>
              <a:rPr lang="en-US" sz="1650" b="1" i="0" u="none" strike="noStrike" cap="none">
                <a:solidFill>
                  <a:srgbClr val="002060"/>
                </a:solidFill>
                <a:latin typeface="+mj-lt"/>
                <a:ea typeface="Lato"/>
                <a:cs typeface="Lato"/>
                <a:sym typeface="Lato"/>
              </a:rPr>
              <a:t>80 / 10 / 10</a:t>
            </a:r>
            <a:r>
              <a:rPr lang="en-US" sz="1650" b="0" i="0" u="none" strike="noStrike" cap="none">
                <a:solidFill>
                  <a:srgbClr val="334155"/>
                </a:solidFill>
                <a:latin typeface="+mj-lt"/>
                <a:ea typeface="Lato"/>
                <a:cs typeface="Lato"/>
                <a:sym typeface="Lato"/>
              </a:rPr>
              <a:t> cho Train, Val, và Test.</a:t>
            </a:r>
            <a:endParaRPr>
              <a:latin typeface="+mj-lt"/>
            </a:endParaRPr>
          </a:p>
        </p:txBody>
      </p:sp>
      <p:sp>
        <p:nvSpPr>
          <p:cNvPr id="345" name="Google Shape;345;p29"/>
          <p:cNvSpPr txBox="1"/>
          <p:nvPr/>
        </p:nvSpPr>
        <p:spPr>
          <a:xfrm>
            <a:off x="1000125" y="3632894"/>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002060"/>
                </a:solidFill>
                <a:latin typeface="+mj-lt"/>
                <a:ea typeface="Lato"/>
                <a:cs typeface="Lato"/>
                <a:sym typeface="Lato"/>
              </a:rPr>
              <a:t>Stratified:</a:t>
            </a:r>
            <a:r>
              <a:rPr lang="en-US" sz="1650" b="0" i="0" u="none" strike="noStrike" cap="none">
                <a:solidFill>
                  <a:srgbClr val="334155"/>
                </a:solidFill>
                <a:latin typeface="+mj-lt"/>
                <a:ea typeface="Lato"/>
                <a:cs typeface="Lato"/>
                <a:sym typeface="Lato"/>
              </a:rPr>
              <a:t> Đảm bảo phân phối nhãn đồng nhất trên các tập dữ liệu.</a:t>
            </a:r>
            <a:endParaRPr>
              <a:latin typeface="+mj-lt"/>
            </a:endParaRPr>
          </a:p>
        </p:txBody>
      </p:sp>
      <p:sp>
        <p:nvSpPr>
          <p:cNvPr id="346" name="Google Shape;346;p29"/>
          <p:cNvSpPr txBox="1"/>
          <p:nvPr/>
        </p:nvSpPr>
        <p:spPr>
          <a:xfrm>
            <a:off x="1000125" y="4206180"/>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002060"/>
                </a:solidFill>
                <a:latin typeface="+mj-lt"/>
                <a:ea typeface="Lato"/>
                <a:cs typeface="Lato"/>
                <a:sym typeface="Lato"/>
              </a:rPr>
              <a:t>SMOTE:</a:t>
            </a:r>
            <a:r>
              <a:rPr lang="en-US" sz="1650" b="0" i="0" u="none" strike="noStrike" cap="none">
                <a:solidFill>
                  <a:srgbClr val="334155"/>
                </a:solidFill>
                <a:latin typeface="+mj-lt"/>
                <a:ea typeface="Lato"/>
                <a:cs typeface="Lato"/>
                <a:sym typeface="Lato"/>
              </a:rPr>
              <a:t> Áp dụng kỹ thuật cân bằng dữ liệu để tránh tình trạng mô hình thiên kiến.</a:t>
            </a:r>
            <a:endParaRPr>
              <a:latin typeface="+mj-lt"/>
            </a:endParaRPr>
          </a:p>
        </p:txBody>
      </p:sp>
      <p:pic>
        <p:nvPicPr>
          <p:cNvPr id="347" name="Google Shape;347;p29" descr="image.png"/>
          <p:cNvPicPr preferRelativeResize="0"/>
          <p:nvPr/>
        </p:nvPicPr>
        <p:blipFill rotWithShape="1">
          <a:blip r:embed="rId4">
            <a:alphaModFix/>
          </a:blip>
          <a:srcRect/>
          <a:stretch/>
        </p:blipFill>
        <p:spPr>
          <a:xfrm>
            <a:off x="571500" y="3107233"/>
            <a:ext cx="228600" cy="247650"/>
          </a:xfrm>
          <a:prstGeom prst="rect">
            <a:avLst/>
          </a:prstGeom>
          <a:noFill/>
          <a:ln>
            <a:noFill/>
          </a:ln>
        </p:spPr>
      </p:pic>
      <p:pic>
        <p:nvPicPr>
          <p:cNvPr id="348" name="Google Shape;348;p29" descr="image.png"/>
          <p:cNvPicPr preferRelativeResize="0"/>
          <p:nvPr/>
        </p:nvPicPr>
        <p:blipFill rotWithShape="1">
          <a:blip r:embed="rId5">
            <a:alphaModFix/>
          </a:blip>
          <a:srcRect/>
          <a:stretch/>
        </p:blipFill>
        <p:spPr>
          <a:xfrm>
            <a:off x="571500" y="3680519"/>
            <a:ext cx="257175" cy="247650"/>
          </a:xfrm>
          <a:prstGeom prst="rect">
            <a:avLst/>
          </a:prstGeom>
          <a:noFill/>
          <a:ln>
            <a:noFill/>
          </a:ln>
        </p:spPr>
      </p:pic>
      <p:pic>
        <p:nvPicPr>
          <p:cNvPr id="349" name="Google Shape;349;p29" descr="image.png"/>
          <p:cNvPicPr preferRelativeResize="0"/>
          <p:nvPr/>
        </p:nvPicPr>
        <p:blipFill rotWithShape="1">
          <a:blip r:embed="rId6">
            <a:alphaModFix/>
          </a:blip>
          <a:srcRect/>
          <a:stretch/>
        </p:blipFill>
        <p:spPr>
          <a:xfrm>
            <a:off x="571500" y="4253805"/>
            <a:ext cx="285750" cy="247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3"/>
        <p:cNvGrpSpPr/>
        <p:nvPr/>
      </p:nvGrpSpPr>
      <p:grpSpPr>
        <a:xfrm>
          <a:off x="0" y="0"/>
          <a:ext cx="0" cy="0"/>
          <a:chOff x="0" y="0"/>
          <a:chExt cx="0" cy="0"/>
        </a:xfrm>
      </p:grpSpPr>
      <p:pic>
        <p:nvPicPr>
          <p:cNvPr id="354" name="Google Shape;354;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55" name="Google Shape;355;p30" descr="image.png"/>
          <p:cNvPicPr preferRelativeResize="0"/>
          <p:nvPr/>
        </p:nvPicPr>
        <p:blipFill rotWithShape="1">
          <a:blip r:embed="rId4">
            <a:alphaModFix/>
          </a:blip>
          <a:srcRect/>
          <a:stretch/>
        </p:blipFill>
        <p:spPr>
          <a:xfrm>
            <a:off x="571500" y="2717452"/>
            <a:ext cx="2583656" cy="2404020"/>
          </a:xfrm>
          <a:prstGeom prst="rect">
            <a:avLst/>
          </a:prstGeom>
          <a:noFill/>
          <a:ln>
            <a:noFill/>
          </a:ln>
        </p:spPr>
      </p:pic>
      <p:pic>
        <p:nvPicPr>
          <p:cNvPr id="356" name="Google Shape;356;p30" descr="image.png"/>
          <p:cNvPicPr preferRelativeResize="0"/>
          <p:nvPr/>
        </p:nvPicPr>
        <p:blipFill rotWithShape="1">
          <a:blip r:embed="rId5">
            <a:alphaModFix/>
          </a:blip>
          <a:srcRect/>
          <a:stretch/>
        </p:blipFill>
        <p:spPr>
          <a:xfrm>
            <a:off x="3393281" y="2717452"/>
            <a:ext cx="2583656" cy="2404020"/>
          </a:xfrm>
          <a:prstGeom prst="rect">
            <a:avLst/>
          </a:prstGeom>
          <a:noFill/>
          <a:ln>
            <a:noFill/>
          </a:ln>
        </p:spPr>
      </p:pic>
      <p:pic>
        <p:nvPicPr>
          <p:cNvPr id="357" name="Google Shape;357;p30" descr="image.png"/>
          <p:cNvPicPr preferRelativeResize="0"/>
          <p:nvPr/>
        </p:nvPicPr>
        <p:blipFill rotWithShape="1">
          <a:blip r:embed="rId6">
            <a:alphaModFix/>
          </a:blip>
          <a:srcRect/>
          <a:stretch/>
        </p:blipFill>
        <p:spPr>
          <a:xfrm>
            <a:off x="6215062" y="2717452"/>
            <a:ext cx="2583656" cy="2404020"/>
          </a:xfrm>
          <a:prstGeom prst="rect">
            <a:avLst/>
          </a:prstGeom>
          <a:noFill/>
          <a:ln>
            <a:noFill/>
          </a:ln>
        </p:spPr>
      </p:pic>
      <p:pic>
        <p:nvPicPr>
          <p:cNvPr id="358" name="Google Shape;358;p30" descr="image.png"/>
          <p:cNvPicPr preferRelativeResize="0"/>
          <p:nvPr/>
        </p:nvPicPr>
        <p:blipFill rotWithShape="1">
          <a:blip r:embed="rId6">
            <a:alphaModFix/>
          </a:blip>
          <a:srcRect/>
          <a:stretch/>
        </p:blipFill>
        <p:spPr>
          <a:xfrm>
            <a:off x="9036843" y="2717452"/>
            <a:ext cx="2583656" cy="2404020"/>
          </a:xfrm>
          <a:prstGeom prst="rect">
            <a:avLst/>
          </a:prstGeom>
          <a:noFill/>
          <a:ln>
            <a:noFill/>
          </a:ln>
        </p:spPr>
      </p:pic>
      <p:sp>
        <p:nvSpPr>
          <p:cNvPr id="359" name="Google Shape;359;p30"/>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60" name="Google Shape;360;p30"/>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2060"/>
                </a:solidFill>
                <a:latin typeface="+mj-lt"/>
                <a:ea typeface="Poppins"/>
                <a:cs typeface="Poppins"/>
                <a:sym typeface="Poppins"/>
              </a:rPr>
              <a:t>Các chỉ số đánh giá (Metrics)</a:t>
            </a:r>
            <a:endParaRPr>
              <a:latin typeface="+mj-lt"/>
            </a:endParaRPr>
          </a:p>
        </p:txBody>
      </p:sp>
      <p:sp>
        <p:nvSpPr>
          <p:cNvPr id="361" name="Google Shape;361;p30"/>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62" name="Google Shape;362;p30"/>
          <p:cNvSpPr txBox="1"/>
          <p:nvPr/>
        </p:nvSpPr>
        <p:spPr>
          <a:xfrm>
            <a:off x="866775" y="3527077"/>
            <a:ext cx="2092761"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Accuracy</a:t>
            </a:r>
            <a:endParaRPr>
              <a:latin typeface="+mj-lt"/>
            </a:endParaRPr>
          </a:p>
        </p:txBody>
      </p:sp>
      <p:sp>
        <p:nvSpPr>
          <p:cNvPr id="363" name="Google Shape;363;p30"/>
          <p:cNvSpPr txBox="1"/>
          <p:nvPr/>
        </p:nvSpPr>
        <p:spPr>
          <a:xfrm>
            <a:off x="866775" y="4003327"/>
            <a:ext cx="1993106"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Tỷ lệ dự đoán đúng trên toàn bộ tập dữ liệu.</a:t>
            </a:r>
            <a:endParaRPr>
              <a:latin typeface="+mj-lt"/>
            </a:endParaRPr>
          </a:p>
        </p:txBody>
      </p:sp>
      <p:sp>
        <p:nvSpPr>
          <p:cNvPr id="364" name="Google Shape;364;p30"/>
          <p:cNvSpPr txBox="1"/>
          <p:nvPr/>
        </p:nvSpPr>
        <p:spPr>
          <a:xfrm>
            <a:off x="3688556" y="3527077"/>
            <a:ext cx="2092761"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Precision</a:t>
            </a:r>
            <a:endParaRPr>
              <a:latin typeface="+mj-lt"/>
            </a:endParaRPr>
          </a:p>
        </p:txBody>
      </p:sp>
      <p:sp>
        <p:nvSpPr>
          <p:cNvPr id="365" name="Google Shape;365;p30"/>
          <p:cNvSpPr txBox="1"/>
          <p:nvPr/>
        </p:nvSpPr>
        <p:spPr>
          <a:xfrm>
            <a:off x="3688556" y="4003327"/>
            <a:ext cx="1993106"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Độ chính xác của các dự đoán thuộc một lớp cụ thể.</a:t>
            </a:r>
            <a:endParaRPr>
              <a:latin typeface="+mj-lt"/>
            </a:endParaRPr>
          </a:p>
        </p:txBody>
      </p:sp>
      <p:sp>
        <p:nvSpPr>
          <p:cNvPr id="366" name="Google Shape;366;p30"/>
          <p:cNvSpPr txBox="1"/>
          <p:nvPr/>
        </p:nvSpPr>
        <p:spPr>
          <a:xfrm>
            <a:off x="6510337" y="3527077"/>
            <a:ext cx="2092761"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Recall</a:t>
            </a:r>
            <a:endParaRPr>
              <a:latin typeface="+mj-lt"/>
            </a:endParaRPr>
          </a:p>
        </p:txBody>
      </p:sp>
      <p:sp>
        <p:nvSpPr>
          <p:cNvPr id="367" name="Google Shape;367;p30"/>
          <p:cNvSpPr txBox="1"/>
          <p:nvPr/>
        </p:nvSpPr>
        <p:spPr>
          <a:xfrm>
            <a:off x="6510337" y="4003327"/>
            <a:ext cx="1993106"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Khả năng tìm thấy tất cả các trường hợp thuộc về một lớp.</a:t>
            </a:r>
            <a:endParaRPr>
              <a:latin typeface="+mj-lt"/>
            </a:endParaRPr>
          </a:p>
        </p:txBody>
      </p:sp>
      <p:sp>
        <p:nvSpPr>
          <p:cNvPr id="368" name="Google Shape;368;p30"/>
          <p:cNvSpPr txBox="1"/>
          <p:nvPr/>
        </p:nvSpPr>
        <p:spPr>
          <a:xfrm>
            <a:off x="9332118" y="3527077"/>
            <a:ext cx="2092761"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060"/>
                </a:solidFill>
                <a:latin typeface="+mj-lt"/>
                <a:ea typeface="Poppins"/>
                <a:cs typeface="Poppins"/>
                <a:sym typeface="Poppins"/>
              </a:rPr>
              <a:t>F1-score</a:t>
            </a:r>
            <a:endParaRPr>
              <a:latin typeface="+mj-lt"/>
            </a:endParaRPr>
          </a:p>
        </p:txBody>
      </p:sp>
      <p:sp>
        <p:nvSpPr>
          <p:cNvPr id="369" name="Google Shape;369;p30"/>
          <p:cNvSpPr txBox="1"/>
          <p:nvPr/>
        </p:nvSpPr>
        <p:spPr>
          <a:xfrm>
            <a:off x="9332118" y="4003327"/>
            <a:ext cx="1993106"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mj-lt"/>
                <a:ea typeface="Lato"/>
                <a:cs typeface="Lato"/>
                <a:sym typeface="Lato"/>
              </a:rPr>
              <a:t>Trung bình điều hòa giữa Precision và Recall.</a:t>
            </a:r>
            <a:endParaRPr>
              <a:latin typeface="+mj-lt"/>
            </a:endParaRPr>
          </a:p>
        </p:txBody>
      </p:sp>
      <p:pic>
        <p:nvPicPr>
          <p:cNvPr id="370" name="Google Shape;370;p30" descr="image.png"/>
          <p:cNvPicPr preferRelativeResize="0"/>
          <p:nvPr/>
        </p:nvPicPr>
        <p:blipFill rotWithShape="1">
          <a:blip r:embed="rId7">
            <a:alphaModFix/>
          </a:blip>
          <a:srcRect/>
          <a:stretch/>
        </p:blipFill>
        <p:spPr>
          <a:xfrm>
            <a:off x="866775" y="3050827"/>
            <a:ext cx="304800" cy="304800"/>
          </a:xfrm>
          <a:prstGeom prst="rect">
            <a:avLst/>
          </a:prstGeom>
          <a:noFill/>
          <a:ln>
            <a:noFill/>
          </a:ln>
        </p:spPr>
      </p:pic>
      <p:pic>
        <p:nvPicPr>
          <p:cNvPr id="371" name="Google Shape;371;p30" descr="image.png"/>
          <p:cNvPicPr preferRelativeResize="0"/>
          <p:nvPr/>
        </p:nvPicPr>
        <p:blipFill rotWithShape="1">
          <a:blip r:embed="rId8">
            <a:alphaModFix/>
          </a:blip>
          <a:srcRect/>
          <a:stretch/>
        </p:blipFill>
        <p:spPr>
          <a:xfrm>
            <a:off x="3688556" y="3050827"/>
            <a:ext cx="304800" cy="304800"/>
          </a:xfrm>
          <a:prstGeom prst="rect">
            <a:avLst/>
          </a:prstGeom>
          <a:noFill/>
          <a:ln>
            <a:noFill/>
          </a:ln>
        </p:spPr>
      </p:pic>
      <p:pic>
        <p:nvPicPr>
          <p:cNvPr id="372" name="Google Shape;372;p30" descr="image.png"/>
          <p:cNvPicPr preferRelativeResize="0"/>
          <p:nvPr/>
        </p:nvPicPr>
        <p:blipFill rotWithShape="1">
          <a:blip r:embed="rId9">
            <a:alphaModFix/>
          </a:blip>
          <a:srcRect/>
          <a:stretch/>
        </p:blipFill>
        <p:spPr>
          <a:xfrm>
            <a:off x="6510337" y="3050827"/>
            <a:ext cx="304800" cy="304800"/>
          </a:xfrm>
          <a:prstGeom prst="rect">
            <a:avLst/>
          </a:prstGeom>
          <a:noFill/>
          <a:ln>
            <a:noFill/>
          </a:ln>
        </p:spPr>
      </p:pic>
      <p:pic>
        <p:nvPicPr>
          <p:cNvPr id="373" name="Google Shape;373;p30" descr="image.png"/>
          <p:cNvPicPr preferRelativeResize="0"/>
          <p:nvPr/>
        </p:nvPicPr>
        <p:blipFill rotWithShape="1">
          <a:blip r:embed="rId10">
            <a:alphaModFix/>
          </a:blip>
          <a:srcRect/>
          <a:stretch/>
        </p:blipFill>
        <p:spPr>
          <a:xfrm>
            <a:off x="9332118" y="3050827"/>
            <a:ext cx="342900" cy="304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7"/>
        <p:cNvGrpSpPr/>
        <p:nvPr/>
      </p:nvGrpSpPr>
      <p:grpSpPr>
        <a:xfrm>
          <a:off x="0" y="0"/>
          <a:ext cx="0" cy="0"/>
          <a:chOff x="0" y="0"/>
          <a:chExt cx="0" cy="0"/>
        </a:xfrm>
      </p:grpSpPr>
      <p:pic>
        <p:nvPicPr>
          <p:cNvPr id="378" name="Google Shape;378;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79" name="Google Shape;379;p31" descr="image.png"/>
          <p:cNvPicPr preferRelativeResize="0"/>
          <p:nvPr/>
        </p:nvPicPr>
        <p:blipFill rotWithShape="1">
          <a:blip r:embed="rId4">
            <a:alphaModFix/>
          </a:blip>
          <a:srcRect/>
          <a:stretch/>
        </p:blipFill>
        <p:spPr>
          <a:xfrm>
            <a:off x="571500" y="2109787"/>
            <a:ext cx="5334000" cy="3619500"/>
          </a:xfrm>
          <a:prstGeom prst="rect">
            <a:avLst/>
          </a:prstGeom>
          <a:noFill/>
          <a:ln>
            <a:noFill/>
          </a:ln>
        </p:spPr>
      </p:pic>
      <p:sp>
        <p:nvSpPr>
          <p:cNvPr id="380" name="Google Shape;380;p31"/>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81" name="Google Shape;381;p31"/>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2060"/>
                </a:solidFill>
                <a:latin typeface="+mj-lt"/>
                <a:ea typeface="Poppins"/>
                <a:cs typeface="Poppins"/>
                <a:sym typeface="Poppins"/>
              </a:rPr>
              <a:t>Nội dung 5: Ứng dụng &amp; Giải thích</a:t>
            </a:r>
            <a:endParaRPr>
              <a:latin typeface="+mj-lt"/>
            </a:endParaRPr>
          </a:p>
        </p:txBody>
      </p:sp>
      <p:sp>
        <p:nvSpPr>
          <p:cNvPr id="382" name="Google Shape;382;p31"/>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pic>
        <p:nvPicPr>
          <p:cNvPr id="383" name="Google Shape;383;p31" descr="image.png"/>
          <p:cNvPicPr preferRelativeResize="0"/>
          <p:nvPr/>
        </p:nvPicPr>
        <p:blipFill rotWithShape="1">
          <a:blip r:embed="rId5">
            <a:alphaModFix/>
          </a:blip>
          <a:srcRect/>
          <a:stretch/>
        </p:blipFill>
        <p:spPr>
          <a:xfrm>
            <a:off x="581025" y="2119312"/>
            <a:ext cx="5314950" cy="3600450"/>
          </a:xfrm>
          <a:prstGeom prst="rect">
            <a:avLst/>
          </a:prstGeom>
          <a:noFill/>
          <a:ln>
            <a:noFill/>
          </a:ln>
        </p:spPr>
      </p:pic>
      <p:sp>
        <p:nvSpPr>
          <p:cNvPr id="384" name="Google Shape;384;p31"/>
          <p:cNvSpPr txBox="1"/>
          <p:nvPr/>
        </p:nvSpPr>
        <p:spPr>
          <a:xfrm>
            <a:off x="6715125" y="2109787"/>
            <a:ext cx="4905375" cy="81253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002060"/>
                </a:solidFill>
                <a:latin typeface="+mj-lt"/>
                <a:ea typeface="Lato"/>
                <a:cs typeface="Lato"/>
                <a:sym typeface="Lato"/>
              </a:rPr>
              <a:t>Feature importance:</a:t>
            </a:r>
            <a:r>
              <a:rPr lang="en-US" sz="1650" b="0" i="0" u="none" strike="noStrike" cap="none">
                <a:solidFill>
                  <a:srgbClr val="334155"/>
                </a:solidFill>
                <a:latin typeface="+mj-lt"/>
                <a:ea typeface="Lato"/>
                <a:cs typeface="Lato"/>
                <a:sym typeface="Lato"/>
              </a:rPr>
              <a:t> Sử dụng SHAP để xác định các hành vi quyết định mức độ tương tác.</a:t>
            </a:r>
            <a:endParaRPr>
              <a:latin typeface="+mj-lt"/>
            </a:endParaRPr>
          </a:p>
        </p:txBody>
      </p:sp>
      <p:sp>
        <p:nvSpPr>
          <p:cNvPr id="385" name="Google Shape;385;p31"/>
          <p:cNvSpPr txBox="1"/>
          <p:nvPr/>
        </p:nvSpPr>
        <p:spPr>
          <a:xfrm>
            <a:off x="6715125" y="3018234"/>
            <a:ext cx="4905375" cy="81253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002060"/>
                </a:solidFill>
                <a:latin typeface="+mj-lt"/>
                <a:ea typeface="Lato"/>
                <a:cs typeface="Lato"/>
                <a:sym typeface="Lato"/>
              </a:rPr>
              <a:t>Dashboard:</a:t>
            </a:r>
            <a:r>
              <a:rPr lang="en-US" sz="1650" b="0" i="0" u="none" strike="noStrike" cap="none">
                <a:solidFill>
                  <a:srgbClr val="334155"/>
                </a:solidFill>
                <a:latin typeface="+mj-lt"/>
                <a:ea typeface="Lato"/>
                <a:cs typeface="Lato"/>
                <a:sym typeface="Lato"/>
              </a:rPr>
              <a:t> Trực quan hóa trạng thái học tập của học viên cho giảng viên.</a:t>
            </a:r>
            <a:endParaRPr>
              <a:latin typeface="+mj-lt"/>
            </a:endParaRPr>
          </a:p>
        </p:txBody>
      </p:sp>
      <p:sp>
        <p:nvSpPr>
          <p:cNvPr id="386" name="Google Shape;386;p31"/>
          <p:cNvSpPr txBox="1"/>
          <p:nvPr/>
        </p:nvSpPr>
        <p:spPr>
          <a:xfrm>
            <a:off x="6715125" y="3926681"/>
            <a:ext cx="4905375" cy="81253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002060"/>
                </a:solidFill>
                <a:latin typeface="+mj-lt"/>
                <a:ea typeface="Lato"/>
                <a:cs typeface="Lato"/>
                <a:sym typeface="Lato"/>
              </a:rPr>
              <a:t>Early warning:</a:t>
            </a:r>
            <a:r>
              <a:rPr lang="en-US" sz="1650" b="0" i="0" u="none" strike="noStrike" cap="none">
                <a:solidFill>
                  <a:srgbClr val="334155"/>
                </a:solidFill>
                <a:latin typeface="+mj-lt"/>
                <a:ea typeface="Lato"/>
                <a:cs typeface="Lato"/>
                <a:sym typeface="Lato"/>
              </a:rPr>
              <a:t> Hệ thống tự động cảnh báo khi học viên có nguy cơ bỏ học.</a:t>
            </a:r>
            <a:endParaRPr>
              <a:latin typeface="+mj-lt"/>
            </a:endParaRPr>
          </a:p>
        </p:txBody>
      </p:sp>
      <p:pic>
        <p:nvPicPr>
          <p:cNvPr id="387" name="Google Shape;387;p31" descr="image.png"/>
          <p:cNvPicPr preferRelativeResize="0"/>
          <p:nvPr/>
        </p:nvPicPr>
        <p:blipFill rotWithShape="1">
          <a:blip r:embed="rId6">
            <a:alphaModFix/>
          </a:blip>
          <a:srcRect/>
          <a:stretch/>
        </p:blipFill>
        <p:spPr>
          <a:xfrm>
            <a:off x="6286500" y="2157412"/>
            <a:ext cx="228600" cy="247650"/>
          </a:xfrm>
          <a:prstGeom prst="rect">
            <a:avLst/>
          </a:prstGeom>
          <a:noFill/>
          <a:ln>
            <a:noFill/>
          </a:ln>
        </p:spPr>
      </p:pic>
      <p:pic>
        <p:nvPicPr>
          <p:cNvPr id="388" name="Google Shape;388;p31" descr="image.png"/>
          <p:cNvPicPr preferRelativeResize="0"/>
          <p:nvPr/>
        </p:nvPicPr>
        <p:blipFill rotWithShape="1">
          <a:blip r:embed="rId7">
            <a:alphaModFix/>
          </a:blip>
          <a:srcRect/>
          <a:stretch/>
        </p:blipFill>
        <p:spPr>
          <a:xfrm>
            <a:off x="6286500" y="3065859"/>
            <a:ext cx="228600" cy="247650"/>
          </a:xfrm>
          <a:prstGeom prst="rect">
            <a:avLst/>
          </a:prstGeom>
          <a:noFill/>
          <a:ln>
            <a:noFill/>
          </a:ln>
        </p:spPr>
      </p:pic>
      <p:pic>
        <p:nvPicPr>
          <p:cNvPr id="389" name="Google Shape;389;p31" descr="image.png"/>
          <p:cNvPicPr preferRelativeResize="0"/>
          <p:nvPr/>
        </p:nvPicPr>
        <p:blipFill rotWithShape="1">
          <a:blip r:embed="rId8">
            <a:alphaModFix/>
          </a:blip>
          <a:srcRect/>
          <a:stretch/>
        </p:blipFill>
        <p:spPr>
          <a:xfrm>
            <a:off x="6286500" y="3974306"/>
            <a:ext cx="228600" cy="247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3"/>
        <p:cNvGrpSpPr/>
        <p:nvPr/>
      </p:nvGrpSpPr>
      <p:grpSpPr>
        <a:xfrm>
          <a:off x="0" y="0"/>
          <a:ext cx="0" cy="0"/>
          <a:chOff x="0" y="0"/>
          <a:chExt cx="0" cy="0"/>
        </a:xfrm>
      </p:grpSpPr>
      <p:pic>
        <p:nvPicPr>
          <p:cNvPr id="394" name="Google Shape;394;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95" name="Google Shape;395;p32"/>
          <p:cNvSpPr/>
          <p:nvPr/>
        </p:nvSpPr>
        <p:spPr>
          <a:xfrm>
            <a:off x="0" y="0"/>
            <a:ext cx="12192000" cy="9525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96" name="Google Shape;396;p32"/>
          <p:cNvSpPr txBox="1"/>
          <p:nvPr/>
        </p:nvSpPr>
        <p:spPr>
          <a:xfrm>
            <a:off x="571500" y="532455"/>
            <a:ext cx="11601450" cy="39241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550" b="1" i="0" u="none" strike="noStrike" cap="none">
                <a:solidFill>
                  <a:srgbClr val="002060"/>
                </a:solidFill>
                <a:latin typeface="+mj-lt"/>
                <a:ea typeface="Poppins"/>
                <a:cs typeface="Poppins"/>
                <a:sym typeface="Poppins"/>
              </a:rPr>
              <a:t>Kết luận &amp; Hướng phát triển</a:t>
            </a:r>
            <a:endParaRPr>
              <a:latin typeface="+mj-lt"/>
            </a:endParaRPr>
          </a:p>
        </p:txBody>
      </p:sp>
      <p:sp>
        <p:nvSpPr>
          <p:cNvPr id="397" name="Google Shape;397;p32"/>
          <p:cNvSpPr/>
          <p:nvPr/>
        </p:nvSpPr>
        <p:spPr>
          <a:xfrm>
            <a:off x="571500" y="10572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398" name="Google Shape;398;p32"/>
          <p:cNvSpPr txBox="1"/>
          <p:nvPr/>
        </p:nvSpPr>
        <p:spPr>
          <a:xfrm>
            <a:off x="571500" y="4773810"/>
            <a:ext cx="11049000" cy="59093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1" i="0" u="none" strike="noStrike" cap="none">
                <a:solidFill>
                  <a:srgbClr val="002060"/>
                </a:solidFill>
                <a:latin typeface="+mj-lt"/>
                <a:ea typeface="Lato"/>
                <a:cs typeface="Lato"/>
                <a:sym typeface="Lato"/>
              </a:rPr>
              <a:t>Cảm ơn cô và các bạn đã lắng nghe!</a:t>
            </a:r>
            <a:endParaRPr>
              <a:latin typeface="+mj-lt"/>
            </a:endParaRPr>
          </a:p>
        </p:txBody>
      </p:sp>
      <p:sp>
        <p:nvSpPr>
          <p:cNvPr id="399" name="Google Shape;399;p32"/>
          <p:cNvSpPr txBox="1"/>
          <p:nvPr/>
        </p:nvSpPr>
        <p:spPr>
          <a:xfrm>
            <a:off x="1000125" y="2577703"/>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334155"/>
                </a:solidFill>
                <a:latin typeface="+mj-lt"/>
                <a:ea typeface="Lato"/>
                <a:cs typeface="Lato"/>
                <a:sym typeface="Lato"/>
              </a:rPr>
              <a:t>Xây</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dựng</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thành</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công</a:t>
            </a:r>
            <a:r>
              <a:rPr lang="en-US" sz="1650" b="0" i="0" u="none" strike="noStrike" cap="none" dirty="0">
                <a:solidFill>
                  <a:srgbClr val="334155"/>
                </a:solidFill>
                <a:latin typeface="+mj-lt"/>
                <a:ea typeface="Lato"/>
                <a:cs typeface="Lato"/>
                <a:sym typeface="Lato"/>
              </a:rPr>
              <a:t> </a:t>
            </a:r>
            <a:r>
              <a:rPr lang="en-US" sz="1650" b="1" i="0" u="none" strike="noStrike" cap="none" dirty="0">
                <a:solidFill>
                  <a:srgbClr val="002060"/>
                </a:solidFill>
                <a:latin typeface="+mj-lt"/>
                <a:ea typeface="Lato"/>
                <a:cs typeface="Lato"/>
                <a:sym typeface="Lato"/>
              </a:rPr>
              <a:t>Pipeline </a:t>
            </a:r>
            <a:r>
              <a:rPr lang="en-US" sz="1650" b="1" i="0" u="none" strike="noStrike" cap="none" dirty="0" err="1">
                <a:solidFill>
                  <a:srgbClr val="002060"/>
                </a:solidFill>
                <a:latin typeface="+mj-lt"/>
                <a:ea typeface="Lato"/>
                <a:cs typeface="Lato"/>
                <a:sym typeface="Lato"/>
              </a:rPr>
              <a:t>hoàn</a:t>
            </a:r>
            <a:r>
              <a:rPr lang="en-US" sz="1650" b="1" i="0" u="none" strike="noStrike" cap="none" dirty="0">
                <a:solidFill>
                  <a:srgbClr val="002060"/>
                </a:solidFill>
                <a:latin typeface="+mj-lt"/>
                <a:ea typeface="Lato"/>
                <a:cs typeface="Lato"/>
                <a:sym typeface="Lato"/>
              </a:rPr>
              <a:t> </a:t>
            </a:r>
            <a:r>
              <a:rPr lang="en-US" sz="1650" b="1" i="0" u="none" strike="noStrike" cap="none" dirty="0" err="1">
                <a:solidFill>
                  <a:srgbClr val="002060"/>
                </a:solidFill>
                <a:latin typeface="+mj-lt"/>
                <a:ea typeface="Lato"/>
                <a:cs typeface="Lato"/>
                <a:sym typeface="Lato"/>
              </a:rPr>
              <a:t>chỉnh</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từ</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dữ</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liệu</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thô</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đến</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mô</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hình</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dự</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báo</a:t>
            </a:r>
            <a:r>
              <a:rPr lang="en-US" sz="1650" b="0" i="0" u="none" strike="noStrike" cap="none" dirty="0">
                <a:solidFill>
                  <a:srgbClr val="334155"/>
                </a:solidFill>
                <a:latin typeface="+mj-lt"/>
                <a:ea typeface="Lato"/>
                <a:cs typeface="Lato"/>
                <a:sym typeface="Lato"/>
              </a:rPr>
              <a:t>.</a:t>
            </a:r>
            <a:endParaRPr dirty="0">
              <a:latin typeface="+mj-lt"/>
            </a:endParaRPr>
          </a:p>
        </p:txBody>
      </p:sp>
      <p:sp>
        <p:nvSpPr>
          <p:cNvPr id="400" name="Google Shape;400;p32"/>
          <p:cNvSpPr txBox="1"/>
          <p:nvPr/>
        </p:nvSpPr>
        <p:spPr>
          <a:xfrm>
            <a:off x="1000125" y="3150989"/>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334155"/>
                </a:solidFill>
                <a:latin typeface="+mj-lt"/>
                <a:ea typeface="Lato"/>
                <a:cs typeface="Lato"/>
                <a:sym typeface="Lato"/>
              </a:rPr>
              <a:t>Mô</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hình</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đạt</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độ</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chính</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xác</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trung</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bình</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khoảng</a:t>
            </a:r>
            <a:r>
              <a:rPr lang="en-US" sz="1650" b="0" i="0" u="none" strike="noStrike" cap="none" dirty="0">
                <a:solidFill>
                  <a:srgbClr val="334155"/>
                </a:solidFill>
                <a:latin typeface="+mj-lt"/>
                <a:ea typeface="Lato"/>
                <a:cs typeface="Lato"/>
                <a:sym typeface="Lato"/>
              </a:rPr>
              <a:t> </a:t>
            </a:r>
            <a:r>
              <a:rPr lang="en-US" sz="1650" b="1" i="0" u="none" strike="noStrike" cap="none" dirty="0">
                <a:solidFill>
                  <a:srgbClr val="002060"/>
                </a:solidFill>
                <a:latin typeface="+mj-lt"/>
                <a:ea typeface="Lato"/>
                <a:cs typeface="Lato"/>
                <a:sym typeface="Lato"/>
              </a:rPr>
              <a:t>0.62</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có</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giá</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trị</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ứng</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dụng</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cao</a:t>
            </a:r>
            <a:r>
              <a:rPr lang="en-US" sz="1650" b="0" i="0" u="none" strike="noStrike" cap="none" dirty="0">
                <a:solidFill>
                  <a:srgbClr val="334155"/>
                </a:solidFill>
                <a:latin typeface="+mj-lt"/>
                <a:ea typeface="Lato"/>
                <a:cs typeface="Lato"/>
                <a:sym typeface="Lato"/>
              </a:rPr>
              <a:t>.</a:t>
            </a:r>
            <a:endParaRPr dirty="0">
              <a:latin typeface="+mj-lt"/>
            </a:endParaRPr>
          </a:p>
        </p:txBody>
      </p:sp>
      <p:sp>
        <p:nvSpPr>
          <p:cNvPr id="401" name="Google Shape;401;p32"/>
          <p:cNvSpPr txBox="1"/>
          <p:nvPr/>
        </p:nvSpPr>
        <p:spPr>
          <a:xfrm>
            <a:off x="1000125" y="3724275"/>
            <a:ext cx="10620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dirty="0">
                <a:solidFill>
                  <a:srgbClr val="002060"/>
                </a:solidFill>
                <a:latin typeface="+mj-lt"/>
                <a:ea typeface="Lato"/>
                <a:cs typeface="Lato"/>
                <a:sym typeface="Lato"/>
              </a:rPr>
              <a:t>Khả </a:t>
            </a:r>
            <a:r>
              <a:rPr lang="en-US" sz="1650" b="1" i="0" u="none" strike="noStrike" cap="none" dirty="0" err="1">
                <a:solidFill>
                  <a:srgbClr val="002060"/>
                </a:solidFill>
                <a:latin typeface="+mj-lt"/>
                <a:ea typeface="Lato"/>
                <a:cs typeface="Lato"/>
                <a:sym typeface="Lato"/>
              </a:rPr>
              <a:t>năng</a:t>
            </a:r>
            <a:r>
              <a:rPr lang="en-US" sz="1650" b="1" i="0" u="none" strike="noStrike" cap="none" dirty="0">
                <a:solidFill>
                  <a:srgbClr val="002060"/>
                </a:solidFill>
                <a:latin typeface="+mj-lt"/>
                <a:ea typeface="Lato"/>
                <a:cs typeface="Lato"/>
                <a:sym typeface="Lato"/>
              </a:rPr>
              <a:t> </a:t>
            </a:r>
            <a:r>
              <a:rPr lang="en-US" sz="1650" b="1" i="0" u="none" strike="noStrike" cap="none" dirty="0" err="1">
                <a:solidFill>
                  <a:srgbClr val="002060"/>
                </a:solidFill>
                <a:latin typeface="+mj-lt"/>
                <a:ea typeface="Lato"/>
                <a:cs typeface="Lato"/>
                <a:sym typeface="Lato"/>
              </a:rPr>
              <a:t>triển</a:t>
            </a:r>
            <a:r>
              <a:rPr lang="en-US" sz="1650" b="1" i="0" u="none" strike="noStrike" cap="none" dirty="0">
                <a:solidFill>
                  <a:srgbClr val="002060"/>
                </a:solidFill>
                <a:latin typeface="+mj-lt"/>
                <a:ea typeface="Lato"/>
                <a:cs typeface="Lato"/>
                <a:sym typeface="Lato"/>
              </a:rPr>
              <a:t> </a:t>
            </a:r>
            <a:r>
              <a:rPr lang="en-US" sz="1650" b="1" i="0" u="none" strike="noStrike" cap="none" dirty="0" err="1">
                <a:solidFill>
                  <a:srgbClr val="002060"/>
                </a:solidFill>
                <a:latin typeface="+mj-lt"/>
                <a:ea typeface="Lato"/>
                <a:cs typeface="Lato"/>
                <a:sym typeface="Lato"/>
              </a:rPr>
              <a:t>khai</a:t>
            </a:r>
            <a:r>
              <a:rPr lang="en-US" sz="1650" b="1" i="0" u="none" strike="noStrike" cap="none" dirty="0">
                <a:solidFill>
                  <a:srgbClr val="002060"/>
                </a:solidFill>
                <a:latin typeface="+mj-lt"/>
                <a:ea typeface="Lato"/>
                <a:cs typeface="Lato"/>
                <a:sym typeface="Lato"/>
              </a:rPr>
              <a:t>:</a:t>
            </a:r>
            <a:r>
              <a:rPr lang="en-US" sz="1650" b="0" i="0" u="none" strike="noStrike" cap="none" dirty="0">
                <a:solidFill>
                  <a:srgbClr val="334155"/>
                </a:solidFill>
                <a:latin typeface="+mj-lt"/>
                <a:ea typeface="Lato"/>
                <a:cs typeface="Lato"/>
                <a:sym typeface="Lato"/>
              </a:rPr>
              <a:t> Hoàn </a:t>
            </a:r>
            <a:r>
              <a:rPr lang="en-US" sz="1650" b="0" i="0" u="none" strike="noStrike" cap="none" dirty="0" err="1">
                <a:solidFill>
                  <a:srgbClr val="334155"/>
                </a:solidFill>
                <a:latin typeface="+mj-lt"/>
                <a:ea typeface="Lato"/>
                <a:cs typeface="Lato"/>
                <a:sym typeface="Lato"/>
              </a:rPr>
              <a:t>toàn</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có</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thể</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tích</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hợp</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vào</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các</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hệ</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thống</a:t>
            </a:r>
            <a:r>
              <a:rPr lang="en-US" sz="1650" b="0" i="0" u="none" strike="noStrike" cap="none" dirty="0">
                <a:solidFill>
                  <a:srgbClr val="334155"/>
                </a:solidFill>
                <a:latin typeface="+mj-lt"/>
                <a:ea typeface="Lato"/>
                <a:cs typeface="Lato"/>
                <a:sym typeface="Lato"/>
              </a:rPr>
              <a:t> LMS </a:t>
            </a:r>
            <a:r>
              <a:rPr lang="en-US" sz="1650" b="0" i="0" u="none" strike="noStrike" cap="none" dirty="0" err="1">
                <a:solidFill>
                  <a:srgbClr val="334155"/>
                </a:solidFill>
                <a:latin typeface="+mj-lt"/>
                <a:ea typeface="Lato"/>
                <a:cs typeface="Lato"/>
                <a:sym typeface="Lato"/>
              </a:rPr>
              <a:t>hiện</a:t>
            </a:r>
            <a:r>
              <a:rPr lang="en-US" sz="1650" b="0" i="0" u="none" strike="noStrike" cap="none" dirty="0">
                <a:solidFill>
                  <a:srgbClr val="334155"/>
                </a:solidFill>
                <a:latin typeface="+mj-lt"/>
                <a:ea typeface="Lato"/>
                <a:cs typeface="Lato"/>
                <a:sym typeface="Lato"/>
              </a:rPr>
              <a:t> nay </a:t>
            </a:r>
            <a:r>
              <a:rPr lang="en-US" sz="1650" b="0" i="0" u="none" strike="noStrike" cap="none" dirty="0" err="1">
                <a:solidFill>
                  <a:srgbClr val="334155"/>
                </a:solidFill>
                <a:latin typeface="+mj-lt"/>
                <a:ea typeface="Lato"/>
                <a:cs typeface="Lato"/>
                <a:sym typeface="Lato"/>
              </a:rPr>
              <a:t>để</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hỗ</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trợ</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cá</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nhân</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hóa</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học</a:t>
            </a:r>
            <a:r>
              <a:rPr lang="en-US" sz="1650" b="0" i="0" u="none" strike="noStrike" cap="none" dirty="0">
                <a:solidFill>
                  <a:srgbClr val="334155"/>
                </a:solidFill>
                <a:latin typeface="+mj-lt"/>
                <a:ea typeface="Lato"/>
                <a:cs typeface="Lato"/>
                <a:sym typeface="Lato"/>
              </a:rPr>
              <a:t> </a:t>
            </a:r>
            <a:r>
              <a:rPr lang="en-US" sz="1650" b="0" i="0" u="none" strike="noStrike" cap="none" dirty="0" err="1">
                <a:solidFill>
                  <a:srgbClr val="334155"/>
                </a:solidFill>
                <a:latin typeface="+mj-lt"/>
                <a:ea typeface="Lato"/>
                <a:cs typeface="Lato"/>
                <a:sym typeface="Lato"/>
              </a:rPr>
              <a:t>tập</a:t>
            </a:r>
            <a:r>
              <a:rPr lang="en-US" sz="1650" b="0" i="0" u="none" strike="noStrike" cap="none" dirty="0">
                <a:solidFill>
                  <a:srgbClr val="334155"/>
                </a:solidFill>
                <a:latin typeface="+mj-lt"/>
                <a:ea typeface="Lato"/>
                <a:cs typeface="Lato"/>
                <a:sym typeface="Lato"/>
              </a:rPr>
              <a:t>.</a:t>
            </a:r>
            <a:endParaRPr dirty="0">
              <a:latin typeface="+mj-lt"/>
            </a:endParaRPr>
          </a:p>
        </p:txBody>
      </p:sp>
      <p:pic>
        <p:nvPicPr>
          <p:cNvPr id="402" name="Google Shape;402;p32" descr="image.png"/>
          <p:cNvPicPr preferRelativeResize="0"/>
          <p:nvPr/>
        </p:nvPicPr>
        <p:blipFill rotWithShape="1">
          <a:blip r:embed="rId4">
            <a:alphaModFix/>
          </a:blip>
          <a:srcRect/>
          <a:stretch/>
        </p:blipFill>
        <p:spPr>
          <a:xfrm>
            <a:off x="571500" y="2625328"/>
            <a:ext cx="228600" cy="247650"/>
          </a:xfrm>
          <a:prstGeom prst="rect">
            <a:avLst/>
          </a:prstGeom>
          <a:noFill/>
          <a:ln>
            <a:noFill/>
          </a:ln>
        </p:spPr>
      </p:pic>
      <p:pic>
        <p:nvPicPr>
          <p:cNvPr id="403" name="Google Shape;403;p32" descr="image.png"/>
          <p:cNvPicPr preferRelativeResize="0"/>
          <p:nvPr/>
        </p:nvPicPr>
        <p:blipFill rotWithShape="1">
          <a:blip r:embed="rId5">
            <a:alphaModFix/>
          </a:blip>
          <a:srcRect/>
          <a:stretch/>
        </p:blipFill>
        <p:spPr>
          <a:xfrm>
            <a:off x="571500" y="3198614"/>
            <a:ext cx="228600" cy="247650"/>
          </a:xfrm>
          <a:prstGeom prst="rect">
            <a:avLst/>
          </a:prstGeom>
          <a:noFill/>
          <a:ln>
            <a:noFill/>
          </a:ln>
        </p:spPr>
      </p:pic>
      <p:pic>
        <p:nvPicPr>
          <p:cNvPr id="404" name="Google Shape;404;p32" descr="image.png"/>
          <p:cNvPicPr preferRelativeResize="0"/>
          <p:nvPr/>
        </p:nvPicPr>
        <p:blipFill rotWithShape="1">
          <a:blip r:embed="rId6">
            <a:alphaModFix/>
          </a:blip>
          <a:srcRect/>
          <a:stretch/>
        </p:blipFill>
        <p:spPr>
          <a:xfrm>
            <a:off x="571500" y="3771900"/>
            <a:ext cx="228600" cy="24765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2117</Words>
  <Application>Microsoft Office PowerPoint</Application>
  <PresentationFormat>Widescreen</PresentationFormat>
  <Paragraphs>136</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Quoc Thai Le</cp:lastModifiedBy>
  <cp:revision>4</cp:revision>
  <dcterms:modified xsi:type="dcterms:W3CDTF">2026-05-07T13:52:06Z</dcterms:modified>
</cp:coreProperties>
</file>