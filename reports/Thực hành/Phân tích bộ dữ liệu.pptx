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76" r:id="rId2"/>
    <p:sldId id="256" r:id="rId3"/>
    <p:sldId id="257" r:id="rId4"/>
    <p:sldId id="258" r:id="rId5"/>
    <p:sldId id="259" r:id="rId6"/>
    <p:sldId id="260" r:id="rId7"/>
    <p:sldId id="261" r:id="rId8"/>
    <p:sldId id="277"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embeddedFontLst>
    <p:embeddedFont>
      <p:font typeface="Lato" panose="020F0502020204030203"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696A69B-AD11-4F8B-B047-E7F12AA72FBD}">
  <a:tblStyle styleId="{9696A69B-AD11-4F8B-B047-E7F12AA72FB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161" autoAdjust="0"/>
  </p:normalViewPr>
  <p:slideViewPr>
    <p:cSldViewPr snapToGrid="0">
      <p:cViewPr>
        <p:scale>
          <a:sx n="66" d="100"/>
          <a:sy n="66" d="100"/>
        </p:scale>
        <p:origin x="1224" y="-10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BCBCDF5A-02DD-0782-D056-20EE08818757}"/>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BB10753B-C2D1-2642-3132-128F111A42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vi-VN" sz="1100" b="0" i="0" u="none" strike="noStrike" cap="none" dirty="0">
              <a:solidFill>
                <a:srgbClr val="000000"/>
              </a:solidFill>
              <a:effectLst/>
              <a:latin typeface="Arial"/>
              <a:ea typeface="Arial"/>
              <a:cs typeface="Arial"/>
              <a:sym typeface="Arial"/>
            </a:endParaRPr>
          </a:p>
        </p:txBody>
      </p:sp>
      <p:sp>
        <p:nvSpPr>
          <p:cNvPr id="82" name="Google Shape;82;p1:notes">
            <a:extLst>
              <a:ext uri="{FF2B5EF4-FFF2-40B4-BE49-F238E27FC236}">
                <a16:creationId xmlns:a16="http://schemas.microsoft.com/office/drawing/2014/main" id="{6265195B-8782-0A4E-758F-0FFB3B8452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5912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sz="1100" b="0" i="0" u="none" strike="noStrike" cap="none" dirty="0">
                <a:solidFill>
                  <a:srgbClr val="000000"/>
                </a:solidFill>
                <a:effectLst/>
                <a:latin typeface="Arial"/>
                <a:ea typeface="Arial"/>
                <a:cs typeface="Arial"/>
                <a:sym typeface="Arial"/>
              </a:rPr>
              <a:t>Trong phần này, nhóm thực hiện Exploratory Data Analysis nhằm hiểu rõ cấu trúc và đặc điểm của dữ liệu trước khi xây dựng mô hình.</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sz="1100" b="0" i="0" u="none" strike="noStrike" cap="none" dirty="0">
                <a:solidFill>
                  <a:srgbClr val="000000"/>
                </a:solidFill>
                <a:effectLst/>
                <a:latin typeface="Arial"/>
                <a:ea typeface="Arial"/>
                <a:cs typeface="Arial"/>
                <a:sym typeface="Arial"/>
              </a:rPr>
              <a:t>Dataset gồm 5 bảng chính, phản ánh đầy đủ hành vi học tập và tương tác của người dùng.</a:t>
            </a: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err="1">
                <a:solidFill>
                  <a:srgbClr val="64748B"/>
                </a:solidFill>
                <a:latin typeface="Lato"/>
                <a:ea typeface="Lato"/>
                <a:cs typeface="Lato"/>
                <a:sym typeface="Lato"/>
              </a:rPr>
              <a:t>Dữ</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liệu</a:t>
            </a:r>
            <a:r>
              <a:rPr lang="en-US" sz="1100" b="0" i="1" u="none" strike="noStrike" cap="none" dirty="0">
                <a:solidFill>
                  <a:srgbClr val="64748B"/>
                </a:solidFill>
                <a:latin typeface="Lato"/>
                <a:ea typeface="Lato"/>
                <a:cs typeface="Lato"/>
                <a:sym typeface="Lato"/>
              </a:rPr>
              <a:t> ban </a:t>
            </a:r>
            <a:r>
              <a:rPr lang="en-US" sz="1100" b="0" i="1" u="none" strike="noStrike" cap="none" dirty="0" err="1">
                <a:solidFill>
                  <a:srgbClr val="64748B"/>
                </a:solidFill>
                <a:latin typeface="Lato"/>
                <a:ea typeface="Lato"/>
                <a:cs typeface="Lato"/>
                <a:sym typeface="Lato"/>
              </a:rPr>
              <a:t>đầu</a:t>
            </a:r>
            <a:r>
              <a:rPr lang="en-US" sz="1100" b="0" i="1" u="none" strike="noStrike" cap="none" dirty="0">
                <a:solidFill>
                  <a:srgbClr val="64748B"/>
                </a:solidFill>
                <a:latin typeface="Lato"/>
                <a:ea typeface="Lato"/>
                <a:cs typeface="Lato"/>
                <a:sym typeface="Lato"/>
              </a:rPr>
              <a:t> ở </a:t>
            </a:r>
            <a:r>
              <a:rPr lang="en-US" sz="1100" b="0" i="1" u="none" strike="noStrike" cap="none" dirty="0" err="1">
                <a:solidFill>
                  <a:srgbClr val="64748B"/>
                </a:solidFill>
                <a:latin typeface="Lato"/>
                <a:ea typeface="Lato"/>
                <a:cs typeface="Lato"/>
                <a:sym typeface="Lato"/>
              </a:rPr>
              <a:t>dạng</a:t>
            </a:r>
            <a:r>
              <a:rPr lang="en-US" sz="1100" b="0" i="1" u="none" strike="noStrike" cap="none" dirty="0">
                <a:solidFill>
                  <a:srgbClr val="64748B"/>
                </a:solidFill>
                <a:latin typeface="Lato"/>
                <a:ea typeface="Lato"/>
                <a:cs typeface="Lato"/>
                <a:sym typeface="Lato"/>
              </a:rPr>
              <a:t> event-level </a:t>
            </a:r>
            <a:r>
              <a:rPr lang="en-US" sz="1100" b="0" i="1" u="none" strike="noStrike" cap="none" dirty="0" err="1">
                <a:solidFill>
                  <a:srgbClr val="64748B"/>
                </a:solidFill>
                <a:latin typeface="Lato"/>
                <a:ea typeface="Lato"/>
                <a:cs typeface="Lato"/>
                <a:sym typeface="Lato"/>
              </a:rPr>
              <a:t>nên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cần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tổng</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hợp</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về</a:t>
            </a:r>
            <a:r>
              <a:rPr lang="en-US" sz="1100" b="0" i="1" u="none" strike="noStrike" cap="none" dirty="0">
                <a:solidFill>
                  <a:srgbClr val="64748B"/>
                </a:solidFill>
                <a:latin typeface="Lato"/>
                <a:ea typeface="Lato"/>
                <a:cs typeface="Lato"/>
                <a:sym typeface="Lato"/>
              </a:rPr>
              <a:t> user-level </a:t>
            </a:r>
            <a:r>
              <a:rPr lang="en-US" sz="1100" b="0" i="1" u="none" strike="noStrike" cap="none" dirty="0" err="1">
                <a:solidFill>
                  <a:srgbClr val="64748B"/>
                </a:solidFill>
                <a:latin typeface="Lato"/>
                <a:ea typeface="Lato"/>
                <a:cs typeface="Lato"/>
                <a:sym typeface="Lato"/>
              </a:rPr>
              <a:t>để</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phân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tích</a:t>
            </a:r>
            <a:r>
              <a:rPr lang="en-US" sz="1100" b="0" i="1" u="none" strike="noStrike" cap="none" dirty="0">
                <a:solidFill>
                  <a:srgbClr val="64748B"/>
                </a:solidFill>
                <a:latin typeface="Lato"/>
                <a:ea typeface="Lato"/>
                <a:cs typeface="Lato"/>
                <a:sym typeface="Lato"/>
              </a:rPr>
              <a:t>. </a:t>
            </a:r>
            <a:endParaRPr dirty="0"/>
          </a:p>
        </p:txBody>
      </p:sp>
      <p:sp>
        <p:nvSpPr>
          <p:cNvPr id="125" name="Google Shape;12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err="1">
                <a:solidFill>
                  <a:srgbClr val="64748B"/>
                </a:solidFill>
                <a:latin typeface="Lato"/>
                <a:ea typeface="Lato"/>
                <a:cs typeface="Lato"/>
                <a:sym typeface="Lato"/>
              </a:rPr>
              <a:t>user.json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chứa</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thông</a:t>
            </a:r>
            <a:r>
              <a:rPr lang="en-US" sz="1100" b="0" i="1" u="none" strike="noStrike" cap="none" dirty="0">
                <a:solidFill>
                  <a:srgbClr val="64748B"/>
                </a:solidFill>
                <a:latin typeface="Lato"/>
                <a:ea typeface="Lato"/>
                <a:cs typeface="Lato"/>
                <a:sym typeface="Lato"/>
              </a:rPr>
              <a:t> tin </a:t>
            </a:r>
            <a:r>
              <a:rPr lang="en-US" sz="1100" b="0" i="1" u="none" strike="noStrike" cap="none" dirty="0" err="1">
                <a:solidFill>
                  <a:srgbClr val="64748B"/>
                </a:solidFill>
                <a:latin typeface="Lato"/>
                <a:ea typeface="Lato"/>
                <a:cs typeface="Lato"/>
                <a:sym typeface="Lato"/>
              </a:rPr>
              <a:t>người</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học</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tuy</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nhiên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có</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vấn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đề</a:t>
            </a:r>
            <a:r>
              <a:rPr lang="en-US" sz="1100" b="0" i="1" u="none" strike="noStrike" cap="none" dirty="0">
                <a:solidFill>
                  <a:srgbClr val="64748B"/>
                </a:solidFill>
                <a:latin typeface="Lato"/>
                <a:ea typeface="Lato"/>
                <a:cs typeface="Lato"/>
                <a:sym typeface="Lato"/>
              </a:rPr>
              <a:t> missing ở </a:t>
            </a:r>
            <a:r>
              <a:rPr lang="en-US" sz="1100" b="0" i="1" u="none" strike="noStrike" cap="none" dirty="0" err="1">
                <a:solidFill>
                  <a:srgbClr val="64748B"/>
                </a:solidFill>
                <a:latin typeface="Lato"/>
                <a:ea typeface="Lato"/>
                <a:cs typeface="Lato"/>
                <a:sym typeface="Lato"/>
              </a:rPr>
              <a:t>year_of_birth</a:t>
            </a:r>
            <a:r>
              <a:rPr lang="en-US" sz="1100" b="0" i="1" u="none" strike="noStrike" cap="none" dirty="0">
                <a:solidFill>
                  <a:srgbClr val="64748B"/>
                </a:solidFill>
                <a:latin typeface="Lato"/>
                <a:ea typeface="Lato"/>
                <a:cs typeface="Lato"/>
                <a:sym typeface="Lato"/>
              </a:rPr>
              <a:t>.</a:t>
            </a:r>
            <a:endParaRPr dirty="0"/>
          </a:p>
        </p:txBody>
      </p:sp>
      <p:sp>
        <p:nvSpPr>
          <p:cNvPr id="141" name="Google Shape;14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a:solidFill>
                  <a:srgbClr val="64748B"/>
                </a:solidFill>
                <a:latin typeface="Lato"/>
                <a:ea typeface="Lato"/>
                <a:cs typeface="Lato"/>
                <a:sym typeface="Lato"/>
              </a:rPr>
              <a:t>dataset </a:t>
            </a:r>
            <a:r>
              <a:rPr lang="en-US" sz="1100" b="0" i="1" u="none" strike="noStrike" cap="none" dirty="0" err="1">
                <a:solidFill>
                  <a:srgbClr val="64748B"/>
                </a:solidFill>
                <a:latin typeface="Lato"/>
                <a:ea typeface="Lato"/>
                <a:cs typeface="Lato"/>
                <a:sym typeface="Lato"/>
              </a:rPr>
              <a:t>này</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phản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ánh</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hành</a:t>
            </a:r>
            <a:r>
              <a:rPr lang="en-US" sz="1100" b="0" i="1" u="none" strike="noStrike" cap="none" dirty="0">
                <a:solidFill>
                  <a:srgbClr val="64748B"/>
                </a:solidFill>
                <a:latin typeface="Lato"/>
                <a:ea typeface="Lato"/>
                <a:cs typeface="Lato"/>
                <a:sym typeface="Lato"/>
              </a:rPr>
              <a:t> vi </a:t>
            </a:r>
            <a:r>
              <a:rPr lang="en-US" sz="1100" b="0" i="1" u="none" strike="noStrike" cap="none" dirty="0" err="1">
                <a:solidFill>
                  <a:srgbClr val="64748B"/>
                </a:solidFill>
                <a:latin typeface="Lato"/>
                <a:ea typeface="Lato"/>
                <a:cs typeface="Lato"/>
                <a:sym typeface="Lato"/>
              </a:rPr>
              <a:t>làm</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bài</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là</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nguồn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quan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trọng</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để</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đo</a:t>
            </a:r>
            <a:r>
              <a:rPr lang="en-US" sz="1100" b="0" i="1" u="none" strike="noStrike" cap="none" dirty="0">
                <a:solidFill>
                  <a:srgbClr val="64748B"/>
                </a:solidFill>
                <a:latin typeface="Lato"/>
                <a:ea typeface="Lato"/>
                <a:cs typeface="Lato"/>
                <a:sym typeface="Lato"/>
              </a:rPr>
              <a:t> learning behavior</a:t>
            </a:r>
            <a:endParaRPr dirty="0"/>
          </a:p>
        </p:txBody>
      </p:sp>
      <p:sp>
        <p:nvSpPr>
          <p:cNvPr id="156" name="Google Shape;15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err="1">
                <a:solidFill>
                  <a:srgbClr val="64748B"/>
                </a:solidFill>
                <a:latin typeface="Lato"/>
                <a:ea typeface="Lato"/>
                <a:cs typeface="Lato"/>
                <a:sym typeface="Lato"/>
              </a:rPr>
              <a:t>dữ</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liệu</a:t>
            </a:r>
            <a:r>
              <a:rPr lang="en-US" sz="1100" b="0" i="1" u="none" strike="noStrike" cap="none" dirty="0">
                <a:solidFill>
                  <a:srgbClr val="64748B"/>
                </a:solidFill>
                <a:latin typeface="Lato"/>
                <a:ea typeface="Lato"/>
                <a:cs typeface="Lato"/>
                <a:sym typeface="Lato"/>
              </a:rPr>
              <a:t> video </a:t>
            </a:r>
            <a:r>
              <a:rPr lang="en-US" sz="1100" b="0" i="1" u="none" strike="noStrike" cap="none" dirty="0" err="1">
                <a:solidFill>
                  <a:srgbClr val="64748B"/>
                </a:solidFill>
                <a:latin typeface="Lato"/>
                <a:ea typeface="Lato"/>
                <a:cs typeface="Lato"/>
                <a:sym typeface="Lato"/>
              </a:rPr>
              <a:t>có</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dạng</a:t>
            </a:r>
            <a:r>
              <a:rPr lang="en-US" sz="1100" b="0" i="1" u="none" strike="noStrike" cap="none" dirty="0">
                <a:solidFill>
                  <a:srgbClr val="64748B"/>
                </a:solidFill>
                <a:latin typeface="Lato"/>
                <a:ea typeface="Lato"/>
                <a:cs typeface="Lato"/>
                <a:sym typeface="Lato"/>
              </a:rPr>
              <a:t> nested </a:t>
            </a:r>
            <a:r>
              <a:rPr lang="en-US" sz="1100" b="0" i="1" u="none" strike="noStrike" cap="none" dirty="0" err="1">
                <a:solidFill>
                  <a:srgbClr val="64748B"/>
                </a:solidFill>
                <a:latin typeface="Lato"/>
                <a:ea typeface="Lato"/>
                <a:cs typeface="Lato"/>
                <a:sym typeface="Lato"/>
              </a:rPr>
              <a:t>nên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cần</a:t>
            </a:r>
            <a:r>
              <a:rPr lang="en-US" sz="1100" b="0" i="1" u="none" strike="noStrike" cap="none" dirty="0">
                <a:solidFill>
                  <a:srgbClr val="64748B"/>
                </a:solidFill>
                <a:latin typeface="Lato"/>
                <a:ea typeface="Lato"/>
                <a:cs typeface="Lato"/>
                <a:sym typeface="Lato"/>
              </a:rPr>
              <a:t> flatten </a:t>
            </a:r>
            <a:r>
              <a:rPr lang="en-US" sz="1100" b="0" i="1" u="none" strike="noStrike" cap="none" dirty="0" err="1">
                <a:solidFill>
                  <a:srgbClr val="64748B"/>
                </a:solidFill>
                <a:latin typeface="Lato"/>
                <a:ea typeface="Lato"/>
                <a:cs typeface="Lato"/>
                <a:sym typeface="Lato"/>
              </a:rPr>
              <a:t>để</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phân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tích</a:t>
            </a:r>
            <a:endParaRPr dirty="0"/>
          </a:p>
        </p:txBody>
      </p:sp>
      <p:sp>
        <p:nvSpPr>
          <p:cNvPr id="171" name="Google Shape;17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62AD5026-442E-5157-0A56-33C807685287}"/>
            </a:ext>
          </a:extLst>
        </p:cNvPr>
        <p:cNvGrpSpPr/>
        <p:nvPr/>
      </p:nvGrpSpPr>
      <p:grpSpPr>
        <a:xfrm>
          <a:off x="0" y="0"/>
          <a:ext cx="0" cy="0"/>
          <a:chOff x="0" y="0"/>
          <a:chExt cx="0" cy="0"/>
        </a:xfrm>
      </p:grpSpPr>
      <p:sp>
        <p:nvSpPr>
          <p:cNvPr id="140" name="Google Shape;140;p4:notes">
            <a:extLst>
              <a:ext uri="{FF2B5EF4-FFF2-40B4-BE49-F238E27FC236}">
                <a16:creationId xmlns:a16="http://schemas.microsoft.com/office/drawing/2014/main" id="{7B40FA04-173F-5DBB-770E-49FFD6B6B6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sz="1100" b="0" i="0" u="none" strike="noStrike" cap="none" dirty="0">
                <a:solidFill>
                  <a:srgbClr val="000000"/>
                </a:solidFill>
                <a:effectLst/>
                <a:latin typeface="Arial"/>
                <a:ea typeface="Arial"/>
                <a:cs typeface="Arial"/>
                <a:sym typeface="Arial"/>
              </a:rPr>
              <a:t>reply lớn hơn nhiều → phản ánh tương tác sâu hơn.</a:t>
            </a:r>
          </a:p>
        </p:txBody>
      </p:sp>
      <p:sp>
        <p:nvSpPr>
          <p:cNvPr id="141" name="Google Shape;141;p4:notes">
            <a:extLst>
              <a:ext uri="{FF2B5EF4-FFF2-40B4-BE49-F238E27FC236}">
                <a16:creationId xmlns:a16="http://schemas.microsoft.com/office/drawing/2014/main" id="{3072CA28-37D3-F3FE-2101-D24C144177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370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sz="1100" b="0" i="0" u="none" strike="noStrike" cap="none" dirty="0">
                <a:solidFill>
                  <a:srgbClr val="000000"/>
                </a:solidFill>
                <a:effectLst/>
                <a:latin typeface="Arial"/>
                <a:ea typeface="Arial"/>
                <a:cs typeface="Arial"/>
                <a:sym typeface="Arial"/>
              </a:rPr>
              <a:t>đa số học viên làm đúng và chỉ cần 1 lần thử</a:t>
            </a:r>
          </a:p>
        </p:txBody>
      </p:sp>
      <p:sp>
        <p:nvSpPr>
          <p:cNvPr id="190" name="Google Shape;19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sz="1100" b="0" i="0" u="none" strike="noStrike" cap="none" dirty="0">
                <a:solidFill>
                  <a:srgbClr val="000000"/>
                </a:solidFill>
                <a:effectLst/>
                <a:latin typeface="Arial"/>
                <a:ea typeface="Arial"/>
                <a:cs typeface="Arial"/>
                <a:sym typeface="Arial"/>
              </a:rPr>
              <a:t>cho thấy phân phối lệch phải (long-tail)</a:t>
            </a:r>
          </a:p>
        </p:txBody>
      </p:sp>
      <p:sp>
        <p:nvSpPr>
          <p:cNvPr id="205" name="Google Shape;20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err="1">
                <a:solidFill>
                  <a:srgbClr val="64748B"/>
                </a:solidFill>
                <a:latin typeface="Lato"/>
                <a:ea typeface="Lato"/>
                <a:cs typeface="Lato"/>
                <a:sym typeface="Lato"/>
              </a:rPr>
              <a:t>Tương</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tự</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với</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số</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lần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làm</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bài</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tập</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điều</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đó</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cho</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thấy</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dữ</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liệu</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có</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phân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phối</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lệch</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phải</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đa</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số</a:t>
            </a:r>
            <a:r>
              <a:rPr lang="en-US" sz="1100" b="0" i="1" u="none" strike="noStrike" cap="none" dirty="0">
                <a:solidFill>
                  <a:srgbClr val="64748B"/>
                </a:solidFill>
                <a:latin typeface="Lato"/>
                <a:ea typeface="Lato"/>
                <a:cs typeface="Lato"/>
                <a:sym typeface="Lato"/>
              </a:rPr>
              <a:t> user </a:t>
            </a:r>
            <a:r>
              <a:rPr lang="en-US" sz="1100" b="0" i="1" u="none" strike="noStrike" cap="none" dirty="0" err="1">
                <a:solidFill>
                  <a:srgbClr val="64748B"/>
                </a:solidFill>
                <a:latin typeface="Lato"/>
                <a:ea typeface="Lato"/>
                <a:cs typeface="Lato"/>
                <a:sym typeface="Lato"/>
              </a:rPr>
              <a:t>hoạt</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động</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ít</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một</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số</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rất</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nhiều</a:t>
            </a:r>
            <a:endParaRPr dirty="0"/>
          </a:p>
        </p:txBody>
      </p:sp>
      <p:sp>
        <p:nvSpPr>
          <p:cNvPr id="220" name="Google Shape;22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a:solidFill>
                  <a:srgbClr val="64748B"/>
                </a:solidFill>
                <a:latin typeface="Lato"/>
                <a:ea typeface="Lato"/>
                <a:cs typeface="Lato"/>
                <a:sym typeface="Lato"/>
              </a:rPr>
              <a:t>accuracy </a:t>
            </a:r>
            <a:r>
              <a:rPr lang="en-US" sz="1100" b="0" i="1" u="none" strike="noStrike" cap="none" dirty="0" err="1">
                <a:solidFill>
                  <a:srgbClr val="64748B"/>
                </a:solidFill>
                <a:latin typeface="Lato"/>
                <a:ea typeface="Lato"/>
                <a:cs typeface="Lato"/>
                <a:sym typeface="Lato"/>
              </a:rPr>
              <a:t>có</a:t>
            </a:r>
            <a:r>
              <a:rPr lang="en-US" sz="1100" b="0" i="1" u="none" strike="noStrike" cap="none" dirty="0">
                <a:solidFill>
                  <a:srgbClr val="64748B"/>
                </a:solidFill>
                <a:latin typeface="Lato"/>
                <a:ea typeface="Lato"/>
                <a:cs typeface="Lato"/>
                <a:sym typeface="Lato"/>
              </a:rPr>
              <a:t> 2 </a:t>
            </a:r>
            <a:r>
              <a:rPr lang="en-US" sz="1100" b="0" i="1" u="none" strike="noStrike" cap="none" dirty="0" err="1">
                <a:solidFill>
                  <a:srgbClr val="64748B"/>
                </a:solidFill>
                <a:latin typeface="Lato"/>
                <a:ea typeface="Lato"/>
                <a:cs typeface="Lato"/>
                <a:sym typeface="Lato"/>
              </a:rPr>
              <a:t>đỉnh</a:t>
            </a:r>
            <a:r>
              <a:rPr lang="en-US" sz="1100" b="0" i="1" u="none" strike="noStrike" cap="none" dirty="0">
                <a:solidFill>
                  <a:srgbClr val="64748B"/>
                </a:solidFill>
                <a:latin typeface="Lato"/>
                <a:ea typeface="Lato"/>
                <a:cs typeface="Lato"/>
                <a:sym typeface="Lato"/>
              </a:rPr>
              <a:t> → </a:t>
            </a:r>
            <a:r>
              <a:rPr lang="en-US" sz="1100" b="0" i="1" u="none" strike="noStrike" cap="none" dirty="0" err="1">
                <a:solidFill>
                  <a:srgbClr val="64748B"/>
                </a:solidFill>
                <a:latin typeface="Lato"/>
                <a:ea typeface="Lato"/>
                <a:cs typeface="Lato"/>
                <a:sym typeface="Lato"/>
              </a:rPr>
              <a:t>nhóm</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yếu</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và</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nhóm</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giỏi</a:t>
            </a:r>
            <a:endParaRPr dirty="0"/>
          </a:p>
        </p:txBody>
      </p:sp>
      <p:sp>
        <p:nvSpPr>
          <p:cNvPr id="235" name="Google Shape;23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err="1">
                <a:solidFill>
                  <a:srgbClr val="000000"/>
                </a:solidFill>
                <a:effectLst/>
                <a:latin typeface="Arial"/>
                <a:ea typeface="Arial"/>
                <a:cs typeface="Arial"/>
                <a:sym typeface="Arial"/>
              </a:rPr>
              <a:t>Sự</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tồn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tại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của</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các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biến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có</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tương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quan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cao</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cho</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thấy</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cần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áp</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dụng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các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kỹ</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thuật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giảm</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chiều</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dữ</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liệu</a:t>
            </a:r>
            <a:r>
              <a:rPr lang="en-US" sz="1100" b="0" i="0" u="none" strike="noStrike" cap="none" dirty="0">
                <a:solidFill>
                  <a:srgbClr val="000000"/>
                </a:solidFill>
                <a:effectLst/>
                <a:latin typeface="Arial"/>
                <a:ea typeface="Arial"/>
                <a:cs typeface="Arial"/>
                <a:sym typeface="Arial"/>
              </a:rPr>
              <a:t> (PCA) ở </a:t>
            </a:r>
            <a:r>
              <a:rPr lang="en-US" sz="1100" b="0" i="0" u="none" strike="noStrike" cap="none" dirty="0" err="1">
                <a:solidFill>
                  <a:srgbClr val="000000"/>
                </a:solidFill>
                <a:effectLst/>
                <a:latin typeface="Arial"/>
                <a:ea typeface="Arial"/>
                <a:cs typeface="Arial"/>
                <a:sym typeface="Arial"/>
              </a:rPr>
              <a:t>các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bước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sau</a:t>
            </a:r>
            <a:r>
              <a:rPr lang="en-US" sz="1100" b="0" i="0" u="none" strike="noStrike" cap="none" dirty="0">
                <a:solidFill>
                  <a:srgbClr val="000000"/>
                </a:solidFill>
                <a:effectLst/>
                <a:latin typeface="Arial"/>
                <a:ea typeface="Arial"/>
                <a:cs typeface="Arial"/>
                <a:sym typeface="Arial"/>
              </a:rPr>
              <a:t>.</a:t>
            </a:r>
            <a:endParaRPr lang="vi-VN" sz="1100" b="0" i="0" u="none" strike="noStrike" cap="none" dirty="0">
              <a:solidFill>
                <a:srgbClr val="000000"/>
              </a:solidFill>
              <a:effectLst/>
              <a:latin typeface="Arial"/>
              <a:ea typeface="Arial"/>
              <a:cs typeface="Arial"/>
              <a:sym typeface="Arial"/>
            </a:endParaRPr>
          </a:p>
        </p:txBody>
      </p:sp>
      <p:sp>
        <p:nvSpPr>
          <p:cNvPr id="246" name="Google Shape;24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err="1">
                <a:solidFill>
                  <a:srgbClr val="64748B"/>
                </a:solidFill>
                <a:latin typeface="Lato"/>
                <a:ea typeface="Lato"/>
                <a:cs typeface="Lato"/>
                <a:sym typeface="Lato"/>
              </a:rPr>
              <a:t>xem</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nhiều</a:t>
            </a:r>
            <a:r>
              <a:rPr lang="en-US" sz="1100" b="0" i="1" u="none" strike="noStrike" cap="none" dirty="0">
                <a:solidFill>
                  <a:srgbClr val="64748B"/>
                </a:solidFill>
                <a:latin typeface="Lato"/>
                <a:ea typeface="Lato"/>
                <a:cs typeface="Lato"/>
                <a:sym typeface="Lato"/>
              </a:rPr>
              <a:t> video </a:t>
            </a:r>
            <a:r>
              <a:rPr lang="en-US" sz="1100" b="0" i="1" u="none" strike="noStrike" cap="none" dirty="0" err="1">
                <a:solidFill>
                  <a:srgbClr val="64748B"/>
                </a:solidFill>
                <a:latin typeface="Lato"/>
                <a:ea typeface="Lato"/>
                <a:cs typeface="Lato"/>
                <a:sym typeface="Lato"/>
              </a:rPr>
              <a:t>không</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đồng</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nghĩa</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làm</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nhiều</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bài</a:t>
            </a:r>
            <a:endParaRPr dirty="0"/>
          </a:p>
        </p:txBody>
      </p:sp>
      <p:sp>
        <p:nvSpPr>
          <p:cNvPr id="273" name="Google Shape;27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err="1">
                <a:solidFill>
                  <a:srgbClr val="64748B"/>
                </a:solidFill>
                <a:latin typeface="Lato"/>
                <a:ea typeface="Lato"/>
                <a:cs typeface="Lato"/>
                <a:sym typeface="Lato"/>
              </a:rPr>
              <a:t>một</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số</a:t>
            </a:r>
            <a:r>
              <a:rPr lang="en-US" sz="1100" b="0" i="1" u="none" strike="noStrike" cap="none" dirty="0">
                <a:solidFill>
                  <a:srgbClr val="64748B"/>
                </a:solidFill>
                <a:latin typeface="Lato"/>
                <a:ea typeface="Lato"/>
                <a:cs typeface="Lato"/>
                <a:sym typeface="Lato"/>
              </a:rPr>
              <a:t> user </a:t>
            </a:r>
            <a:r>
              <a:rPr lang="en-US" sz="1100" b="0" i="1" u="none" strike="noStrike" cap="none" dirty="0" err="1">
                <a:solidFill>
                  <a:srgbClr val="64748B"/>
                </a:solidFill>
                <a:latin typeface="Lato"/>
                <a:ea typeface="Lato"/>
                <a:cs typeface="Lato"/>
                <a:sym typeface="Lato"/>
              </a:rPr>
              <a:t>cực</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kỳ</a:t>
            </a:r>
            <a:r>
              <a:rPr lang="en-US" sz="1100" b="0" i="1" u="none" strike="noStrike" cap="none" dirty="0">
                <a:solidFill>
                  <a:srgbClr val="64748B"/>
                </a:solidFill>
                <a:latin typeface="Lato"/>
                <a:ea typeface="Lato"/>
                <a:cs typeface="Lato"/>
                <a:sym typeface="Lato"/>
              </a:rPr>
              <a:t> active → </a:t>
            </a:r>
            <a:r>
              <a:rPr lang="en-US" sz="1100" b="0" i="1" u="none" strike="noStrike" cap="none" dirty="0" err="1">
                <a:solidFill>
                  <a:srgbClr val="64748B"/>
                </a:solidFill>
                <a:latin typeface="Lato"/>
                <a:ea typeface="Lato"/>
                <a:cs typeface="Lato"/>
                <a:sym typeface="Lato"/>
              </a:rPr>
              <a:t>cần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xử</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lý</a:t>
            </a:r>
            <a:endParaRPr dirty="0"/>
          </a:p>
        </p:txBody>
      </p:sp>
      <p:sp>
        <p:nvSpPr>
          <p:cNvPr id="288" name="Google Shape;28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a:solidFill>
                  <a:srgbClr val="64748B"/>
                </a:solidFill>
                <a:latin typeface="Arial"/>
                <a:ea typeface="Lato"/>
                <a:cs typeface="Lato"/>
                <a:sym typeface="Lato"/>
              </a:rPr>
              <a:t>boxplot </a:t>
            </a:r>
            <a:r>
              <a:rPr lang="en-US" sz="1100" b="0" i="1" u="none" strike="noStrike" cap="none" dirty="0" err="1">
                <a:solidFill>
                  <a:srgbClr val="64748B"/>
                </a:solidFill>
                <a:latin typeface="Arial"/>
                <a:ea typeface="Lato"/>
                <a:cs typeface="Lato"/>
                <a:sym typeface="Lato"/>
              </a:rPr>
              <a:t>cho</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thấy</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rõ</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các</a:t>
            </a:r>
            <a:r>
              <a:rPr lang="en-US" sz="1100" b="0" i="1" u="none" strike="noStrike" cap="none" dirty="0">
                <a:solidFill>
                  <a:srgbClr val="64748B"/>
                </a:solidFill>
                <a:latin typeface="Arial"/>
                <a:ea typeface="Lato"/>
                <a:cs typeface="Lato"/>
                <a:sym typeface="Lato"/>
              </a:rPr>
              <a:t> outliers</a:t>
            </a:r>
            <a:endParaRPr dirty="0"/>
          </a:p>
        </p:txBody>
      </p:sp>
      <p:sp>
        <p:nvSpPr>
          <p:cNvPr id="303" name="Google Shape;30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err="1">
                <a:solidFill>
                  <a:srgbClr val="64748B"/>
                </a:solidFill>
                <a:latin typeface="Lato"/>
                <a:ea typeface="Lato"/>
                <a:cs typeface="Lato"/>
                <a:sym typeface="Lato"/>
              </a:rPr>
              <a:t>đây</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là</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đặc</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điểm</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quan</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trọng</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ảnh</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hưởng</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trực</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tiếp</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đến</a:t>
            </a:r>
            <a:r>
              <a:rPr lang="en-US" sz="1100" b="0" i="1" u="none" strike="noStrike" cap="none" dirty="0">
                <a:solidFill>
                  <a:srgbClr val="64748B"/>
                </a:solidFill>
                <a:latin typeface="Lato"/>
                <a:ea typeface="Lato"/>
                <a:cs typeface="Lato"/>
                <a:sym typeface="Lato"/>
              </a:rPr>
              <a:t> model</a:t>
            </a:r>
            <a:endParaRPr dirty="0"/>
          </a:p>
        </p:txBody>
      </p:sp>
      <p:sp>
        <p:nvSpPr>
          <p:cNvPr id="318" name="Google Shape;31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err="1">
                <a:solidFill>
                  <a:srgbClr val="64748B"/>
                </a:solidFill>
                <a:latin typeface="Arial"/>
                <a:ea typeface="Lato"/>
                <a:cs typeface="Lato"/>
                <a:sym typeface="Lato"/>
              </a:rPr>
              <a:t>cần</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xử</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lý</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để</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giảm</a:t>
            </a:r>
            <a:r>
              <a:rPr lang="en-US" sz="1100" b="0" i="1" u="none" strike="noStrike" cap="none" dirty="0">
                <a:solidFill>
                  <a:srgbClr val="64748B"/>
                </a:solidFill>
                <a:latin typeface="Arial"/>
                <a:ea typeface="Lato"/>
                <a:cs typeface="Lato"/>
                <a:sym typeface="Lato"/>
              </a:rPr>
              <a:t> skewness </a:t>
            </a:r>
            <a:r>
              <a:rPr lang="en-US" sz="1100" b="0" i="1" u="none" strike="noStrike" cap="none" dirty="0" err="1">
                <a:solidFill>
                  <a:srgbClr val="64748B"/>
                </a:solidFill>
                <a:latin typeface="Arial"/>
                <a:ea typeface="Lato"/>
                <a:cs typeface="Lato"/>
                <a:sym typeface="Lato"/>
              </a:rPr>
              <a:t>và</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đưa</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về</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cùng</a:t>
            </a:r>
            <a:r>
              <a:rPr lang="en-US" sz="1100" b="0" i="1" u="none" strike="noStrike" cap="none" dirty="0">
                <a:solidFill>
                  <a:srgbClr val="64748B"/>
                </a:solidFill>
                <a:latin typeface="Arial"/>
                <a:ea typeface="Lato"/>
                <a:cs typeface="Lato"/>
                <a:sym typeface="Lato"/>
              </a:rPr>
              <a:t> thang </a:t>
            </a:r>
            <a:r>
              <a:rPr lang="en-US" sz="1100" b="0" i="1" u="none" strike="noStrike" cap="none" dirty="0" err="1">
                <a:solidFill>
                  <a:srgbClr val="64748B"/>
                </a:solidFill>
                <a:latin typeface="Arial"/>
                <a:ea typeface="Lato"/>
                <a:cs typeface="Lato"/>
                <a:sym typeface="Lato"/>
              </a:rPr>
              <a:t>đo</a:t>
            </a:r>
            <a:endParaRPr dirty="0"/>
          </a:p>
        </p:txBody>
      </p:sp>
      <p:sp>
        <p:nvSpPr>
          <p:cNvPr id="337" name="Google Shape;33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a:solidFill>
                  <a:srgbClr val="64748B"/>
                </a:solidFill>
                <a:latin typeface="Lato"/>
                <a:ea typeface="Lato"/>
                <a:cs typeface="Lato"/>
                <a:sym typeface="Lato"/>
              </a:rPr>
              <a:t>PCA </a:t>
            </a:r>
            <a:r>
              <a:rPr lang="en-US" sz="1100" b="0" i="1" u="none" strike="noStrike" cap="none" dirty="0" err="1">
                <a:solidFill>
                  <a:srgbClr val="64748B"/>
                </a:solidFill>
                <a:latin typeface="Lato"/>
                <a:ea typeface="Lato"/>
                <a:cs typeface="Lato"/>
                <a:sym typeface="Lato"/>
              </a:rPr>
              <a:t>giúp</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giảm</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nhiễu</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và</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tối</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ưu</a:t>
            </a:r>
            <a:r>
              <a:rPr lang="en-US" sz="1100" b="0" i="1" u="none" strike="noStrike" cap="none" dirty="0">
                <a:solidFill>
                  <a:srgbClr val="64748B"/>
                </a:solidFill>
                <a:latin typeface="Lato"/>
                <a:ea typeface="Lato"/>
                <a:cs typeface="Lato"/>
                <a:sym typeface="Lato"/>
              </a:rPr>
              <a:t> model</a:t>
            </a:r>
            <a:endParaRPr dirty="0"/>
          </a:p>
        </p:txBody>
      </p:sp>
      <p:sp>
        <p:nvSpPr>
          <p:cNvPr id="360" name="Google Shape;36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err="1">
                <a:solidFill>
                  <a:srgbClr val="64748B"/>
                </a:solidFill>
                <a:latin typeface="Arial"/>
                <a:ea typeface="Lato"/>
                <a:cs typeface="Lato"/>
                <a:sym typeface="Lato"/>
              </a:rPr>
              <a:t>KMeans</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chỉ</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dùng</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để</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khám</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phá</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không</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dùng</a:t>
            </a:r>
            <a:r>
              <a:rPr lang="en-US" sz="1100" b="0" i="1" u="none" strike="noStrike" cap="none" dirty="0">
                <a:solidFill>
                  <a:srgbClr val="64748B"/>
                </a:solidFill>
                <a:latin typeface="Arial"/>
                <a:ea typeface="Lato"/>
                <a:cs typeface="Lato"/>
                <a:sym typeface="Lato"/>
              </a:rPr>
              <a:t> </a:t>
            </a:r>
            <a:r>
              <a:rPr lang="en-US" sz="1100" b="0" i="1" u="none" strike="noStrike" cap="none" dirty="0" err="1">
                <a:solidFill>
                  <a:srgbClr val="64748B"/>
                </a:solidFill>
                <a:latin typeface="Arial"/>
                <a:ea typeface="Lato"/>
                <a:cs typeface="Lato"/>
                <a:sym typeface="Lato"/>
              </a:rPr>
              <a:t>trong</a:t>
            </a:r>
            <a:r>
              <a:rPr lang="en-US" sz="1100" b="0" i="1" u="none" strike="noStrike" cap="none" dirty="0">
                <a:solidFill>
                  <a:srgbClr val="64748B"/>
                </a:solidFill>
                <a:latin typeface="Arial"/>
                <a:ea typeface="Lato"/>
                <a:cs typeface="Lato"/>
                <a:sym typeface="Lato"/>
              </a:rPr>
              <a:t> model </a:t>
            </a:r>
            <a:r>
              <a:rPr lang="en-US" sz="1100" b="0" i="1" u="none" strike="noStrike" cap="none" dirty="0" err="1">
                <a:solidFill>
                  <a:srgbClr val="64748B"/>
                </a:solidFill>
                <a:latin typeface="Arial"/>
                <a:ea typeface="Lato"/>
                <a:cs typeface="Lato"/>
                <a:sym typeface="Lato"/>
              </a:rPr>
              <a:t>cuối</a:t>
            </a:r>
            <a:endParaRPr dirty="0"/>
          </a:p>
        </p:txBody>
      </p:sp>
      <p:sp>
        <p:nvSpPr>
          <p:cNvPr id="375" name="Google Shape;37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a:solidFill>
                  <a:srgbClr val="64748B"/>
                </a:solidFill>
                <a:latin typeface="Lato"/>
                <a:ea typeface="Lato"/>
                <a:cs typeface="Lato"/>
                <a:sym typeface="Lato"/>
              </a:rPr>
              <a:t>EDA </a:t>
            </a:r>
            <a:r>
              <a:rPr lang="en-US" sz="1100" b="0" i="1" u="none" strike="noStrike" cap="none" dirty="0" err="1">
                <a:solidFill>
                  <a:srgbClr val="64748B"/>
                </a:solidFill>
                <a:latin typeface="Lato"/>
                <a:ea typeface="Lato"/>
                <a:cs typeface="Lato"/>
                <a:sym typeface="Lato"/>
              </a:rPr>
              <a:t>giúp</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hiểu</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dữ</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liệu</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và</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định</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hướng</a:t>
            </a:r>
            <a:r>
              <a:rPr lang="en-US" sz="1100" b="0" i="1" u="none" strike="noStrike" cap="none" dirty="0">
                <a:solidFill>
                  <a:srgbClr val="64748B"/>
                </a:solidFill>
                <a:latin typeface="Lato"/>
                <a:ea typeface="Lato"/>
                <a:cs typeface="Lato"/>
                <a:sym typeface="Lato"/>
              </a:rPr>
              <a:t> pipeline </a:t>
            </a:r>
            <a:r>
              <a:rPr lang="en-US" sz="1100" b="0" i="1" u="none" strike="noStrike" cap="none" dirty="0" err="1">
                <a:solidFill>
                  <a:srgbClr val="64748B"/>
                </a:solidFill>
                <a:latin typeface="Lato"/>
                <a:ea typeface="Lato"/>
                <a:cs typeface="Lato"/>
                <a:sym typeface="Lato"/>
              </a:rPr>
              <a:t>phía</a:t>
            </a:r>
            <a:r>
              <a:rPr lang="en-US" sz="1100" b="0" i="1" u="none" strike="noStrike" cap="none" dirty="0">
                <a:solidFill>
                  <a:srgbClr val="64748B"/>
                </a:solidFill>
                <a:latin typeface="Lato"/>
                <a:ea typeface="Lato"/>
                <a:cs typeface="Lato"/>
                <a:sym typeface="Lato"/>
              </a:rPr>
              <a:t> </a:t>
            </a:r>
            <a:r>
              <a:rPr lang="en-US" sz="1100" b="0" i="1" u="none" strike="noStrike" cap="none" dirty="0" err="1">
                <a:solidFill>
                  <a:srgbClr val="64748B"/>
                </a:solidFill>
                <a:latin typeface="Lato"/>
                <a:ea typeface="Lato"/>
                <a:cs typeface="Lato"/>
                <a:sym typeface="Lato"/>
              </a:rPr>
              <a:t>sau</a:t>
            </a:r>
            <a:endParaRPr dirty="0"/>
          </a:p>
        </p:txBody>
      </p:sp>
      <p:sp>
        <p:nvSpPr>
          <p:cNvPr id="391" name="Google Shape;3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9.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9.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8.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0FE0E8C7-6406-AE9B-4121-EACEF70C9C49}"/>
            </a:ext>
          </a:extLst>
        </p:cNvPr>
        <p:cNvGrpSpPr/>
        <p:nvPr/>
      </p:nvGrpSpPr>
      <p:grpSpPr>
        <a:xfrm>
          <a:off x="0" y="0"/>
          <a:ext cx="0" cy="0"/>
          <a:chOff x="0" y="0"/>
          <a:chExt cx="0" cy="0"/>
        </a:xfrm>
      </p:grpSpPr>
      <p:pic>
        <p:nvPicPr>
          <p:cNvPr id="84" name="Google Shape;84;p13" descr="image.png">
            <a:extLst>
              <a:ext uri="{FF2B5EF4-FFF2-40B4-BE49-F238E27FC236}">
                <a16:creationId xmlns:a16="http://schemas.microsoft.com/office/drawing/2014/main" id="{56955130-2A01-757B-23A5-9099D335E450}"/>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85" name="Google Shape;85;p13">
            <a:extLst>
              <a:ext uri="{FF2B5EF4-FFF2-40B4-BE49-F238E27FC236}">
                <a16:creationId xmlns:a16="http://schemas.microsoft.com/office/drawing/2014/main" id="{1CE85AFD-4E31-4392-E456-52FF5D8D550B}"/>
              </a:ext>
            </a:extLst>
          </p:cNvPr>
          <p:cNvGrpSpPr/>
          <p:nvPr/>
        </p:nvGrpSpPr>
        <p:grpSpPr>
          <a:xfrm>
            <a:off x="762000" y="1707384"/>
            <a:ext cx="10668000" cy="666900"/>
            <a:chOff x="762000" y="381000"/>
            <a:chExt cx="10668000" cy="666900"/>
          </a:xfrm>
        </p:grpSpPr>
        <p:pic>
          <p:nvPicPr>
            <p:cNvPr id="86" name="Google Shape;86;p13">
              <a:extLst>
                <a:ext uri="{FF2B5EF4-FFF2-40B4-BE49-F238E27FC236}">
                  <a16:creationId xmlns:a16="http://schemas.microsoft.com/office/drawing/2014/main" id="{FA6A3269-E6FF-5BE9-A5F3-4B558115403D}"/>
                </a:ext>
              </a:extLst>
            </p:cNvPr>
            <p:cNvPicPr preferRelativeResize="0"/>
            <p:nvPr/>
          </p:nvPicPr>
          <p:blipFill rotWithShape="1">
            <a:blip r:embed="rId4">
              <a:alphaModFix/>
            </a:blip>
            <a:srcRect/>
            <a:stretch/>
          </p:blipFill>
          <p:spPr>
            <a:xfrm>
              <a:off x="762000" y="381000"/>
              <a:ext cx="10668000" cy="666900"/>
            </a:xfrm>
            <a:prstGeom prst="rect">
              <a:avLst/>
            </a:prstGeom>
            <a:noFill/>
            <a:ln>
              <a:noFill/>
            </a:ln>
          </p:spPr>
        </p:pic>
        <p:sp>
          <p:nvSpPr>
            <p:cNvPr id="87" name="Google Shape;87;p13">
              <a:extLst>
                <a:ext uri="{FF2B5EF4-FFF2-40B4-BE49-F238E27FC236}">
                  <a16:creationId xmlns:a16="http://schemas.microsoft.com/office/drawing/2014/main" id="{EDA11D2E-E647-48FB-895F-C33E3AAE746B}"/>
                </a:ext>
              </a:extLst>
            </p:cNvPr>
            <p:cNvSpPr txBox="1"/>
            <p:nvPr/>
          </p:nvSpPr>
          <p:spPr>
            <a:xfrm>
              <a:off x="1047750" y="476250"/>
              <a:ext cx="100965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550" b="0">
                  <a:solidFill>
                    <a:srgbClr val="00F2FF"/>
                  </a:solidFill>
                  <a:latin typeface="+mj-lt"/>
                  <a:ea typeface="Poppins"/>
                  <a:cs typeface="Poppins"/>
                  <a:sym typeface="Poppins"/>
                </a:rPr>
                <a:t>KHÁM PHÁ DỮ LIỆU (EXPLORATORY DATA ANALYSIS)</a:t>
              </a:r>
              <a:endParaRPr sz="2550" b="0">
                <a:solidFill>
                  <a:srgbClr val="00F2FF"/>
                </a:solidFill>
                <a:latin typeface="+mj-lt"/>
                <a:ea typeface="Poppins"/>
                <a:cs typeface="Poppins"/>
                <a:sym typeface="Poppins"/>
              </a:endParaRPr>
            </a:p>
          </p:txBody>
        </p:sp>
      </p:grpSp>
      <p:grpSp>
        <p:nvGrpSpPr>
          <p:cNvPr id="9" name="Google Shape;88;p13">
            <a:extLst>
              <a:ext uri="{FF2B5EF4-FFF2-40B4-BE49-F238E27FC236}">
                <a16:creationId xmlns:a16="http://schemas.microsoft.com/office/drawing/2014/main" id="{6CC4FA2F-1386-62C6-61FE-FE0EAAD52FE4}"/>
              </a:ext>
            </a:extLst>
          </p:cNvPr>
          <p:cNvGrpSpPr/>
          <p:nvPr/>
        </p:nvGrpSpPr>
        <p:grpSpPr>
          <a:xfrm>
            <a:off x="2845496" y="2841240"/>
            <a:ext cx="6501008" cy="3549804"/>
            <a:chOff x="762000" y="1524000"/>
            <a:chExt cx="3429000" cy="3549804"/>
          </a:xfrm>
        </p:grpSpPr>
        <p:sp>
          <p:nvSpPr>
            <p:cNvPr id="10" name="Google Shape;89;p13">
              <a:extLst>
                <a:ext uri="{FF2B5EF4-FFF2-40B4-BE49-F238E27FC236}">
                  <a16:creationId xmlns:a16="http://schemas.microsoft.com/office/drawing/2014/main" id="{33D12082-649A-2375-754B-0C7AA243B2FE}"/>
                </a:ext>
              </a:extLst>
            </p:cNvPr>
            <p:cNvSpPr/>
            <p:nvPr/>
          </p:nvSpPr>
          <p:spPr>
            <a:xfrm>
              <a:off x="762000" y="1524000"/>
              <a:ext cx="3429000" cy="3238500"/>
            </a:xfrm>
            <a:prstGeom prst="roundRect">
              <a:avLst>
                <a:gd name="adj" fmla="val 4411"/>
              </a:avLst>
            </a:prstGeom>
            <a:solidFill>
              <a:srgbClr val="1E293B">
                <a:alpha val="6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latin typeface="+mj-lt"/>
              </a:endParaRPr>
            </a:p>
          </p:txBody>
        </p:sp>
        <p:sp>
          <p:nvSpPr>
            <p:cNvPr id="11" name="Google Shape;90;p13">
              <a:extLst>
                <a:ext uri="{FF2B5EF4-FFF2-40B4-BE49-F238E27FC236}">
                  <a16:creationId xmlns:a16="http://schemas.microsoft.com/office/drawing/2014/main" id="{F5B91088-D55B-47C5-F356-B070AEBE508E}"/>
                </a:ext>
              </a:extLst>
            </p:cNvPr>
            <p:cNvSpPr txBox="1"/>
            <p:nvPr/>
          </p:nvSpPr>
          <p:spPr>
            <a:xfrm>
              <a:off x="1047750" y="1856486"/>
              <a:ext cx="28575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960" dirty="0" err="1">
                  <a:solidFill>
                    <a:srgbClr val="10B981"/>
                  </a:solidFill>
                  <a:latin typeface="+mj-lt"/>
                  <a:ea typeface="Material Icons"/>
                  <a:cs typeface="Material Icons"/>
                  <a:sym typeface="Material Icons"/>
                </a:rPr>
                <a:t>Nhóm</a:t>
              </a:r>
              <a:r>
                <a:rPr lang="en-US" sz="2960" dirty="0">
                  <a:solidFill>
                    <a:srgbClr val="10B981"/>
                  </a:solidFill>
                  <a:latin typeface="+mj-lt"/>
                  <a:ea typeface="Material Icons"/>
                  <a:cs typeface="Material Icons"/>
                  <a:sym typeface="Material Icons"/>
                </a:rPr>
                <a:t> 3 | Môn </a:t>
              </a:r>
              <a:r>
                <a:rPr lang="en-US" sz="2960" dirty="0" err="1">
                  <a:solidFill>
                    <a:srgbClr val="10B981"/>
                  </a:solidFill>
                  <a:latin typeface="+mj-lt"/>
                  <a:ea typeface="Material Icons"/>
                  <a:cs typeface="Material Icons"/>
                  <a:sym typeface="Material Icons"/>
                </a:rPr>
                <a:t>khai</a:t>
              </a:r>
              <a:r>
                <a:rPr lang="en-US" sz="2960" dirty="0">
                  <a:solidFill>
                    <a:srgbClr val="10B981"/>
                  </a:solidFill>
                  <a:latin typeface="+mj-lt"/>
                  <a:ea typeface="Material Icons"/>
                  <a:cs typeface="Material Icons"/>
                  <a:sym typeface="Material Icons"/>
                </a:rPr>
                <a:t> </a:t>
              </a:r>
              <a:r>
                <a:rPr lang="en-US" sz="2960" dirty="0" err="1">
                  <a:solidFill>
                    <a:srgbClr val="10B981"/>
                  </a:solidFill>
                  <a:latin typeface="+mj-lt"/>
                  <a:ea typeface="Material Icons"/>
                  <a:cs typeface="Material Icons"/>
                  <a:sym typeface="Material Icons"/>
                </a:rPr>
                <a:t>phá</a:t>
              </a:r>
              <a:r>
                <a:rPr lang="en-US" sz="2960" dirty="0">
                  <a:solidFill>
                    <a:srgbClr val="10B981"/>
                  </a:solidFill>
                  <a:latin typeface="+mj-lt"/>
                  <a:ea typeface="Material Icons"/>
                  <a:cs typeface="Material Icons"/>
                  <a:sym typeface="Material Icons"/>
                </a:rPr>
                <a:t> </a:t>
              </a:r>
              <a:r>
                <a:rPr lang="en-US" sz="2960" dirty="0" err="1">
                  <a:solidFill>
                    <a:srgbClr val="10B981"/>
                  </a:solidFill>
                  <a:latin typeface="+mj-lt"/>
                  <a:ea typeface="Material Icons"/>
                  <a:cs typeface="Material Icons"/>
                  <a:sym typeface="Material Icons"/>
                </a:rPr>
                <a:t>dữ</a:t>
              </a:r>
              <a:r>
                <a:rPr lang="en-US" sz="2960" dirty="0">
                  <a:solidFill>
                    <a:srgbClr val="10B981"/>
                  </a:solidFill>
                  <a:latin typeface="+mj-lt"/>
                  <a:ea typeface="Material Icons"/>
                  <a:cs typeface="Material Icons"/>
                  <a:sym typeface="Material Icons"/>
                </a:rPr>
                <a:t> </a:t>
              </a:r>
              <a:r>
                <a:rPr lang="en-US" sz="2960" dirty="0" err="1">
                  <a:solidFill>
                    <a:srgbClr val="10B981"/>
                  </a:solidFill>
                  <a:latin typeface="+mj-lt"/>
                  <a:ea typeface="Material Icons"/>
                  <a:cs typeface="Material Icons"/>
                  <a:sym typeface="Material Icons"/>
                </a:rPr>
                <a:t>liệu</a:t>
              </a:r>
              <a:endParaRPr sz="2960" b="0" dirty="0">
                <a:solidFill>
                  <a:srgbClr val="10B981"/>
                </a:solidFill>
                <a:latin typeface="+mj-lt"/>
                <a:ea typeface="Material Icons"/>
                <a:cs typeface="Material Icons"/>
                <a:sym typeface="Material Icons"/>
              </a:endParaRPr>
            </a:p>
          </p:txBody>
        </p:sp>
        <p:sp>
          <p:nvSpPr>
            <p:cNvPr id="12" name="Google Shape;91;p13">
              <a:extLst>
                <a:ext uri="{FF2B5EF4-FFF2-40B4-BE49-F238E27FC236}">
                  <a16:creationId xmlns:a16="http://schemas.microsoft.com/office/drawing/2014/main" id="{53B6F41E-FA27-B5A1-6C94-D82B6FCB07B5}"/>
                </a:ext>
              </a:extLst>
            </p:cNvPr>
            <p:cNvSpPr txBox="1"/>
            <p:nvPr/>
          </p:nvSpPr>
          <p:spPr>
            <a:xfrm>
              <a:off x="1047750" y="2978304"/>
              <a:ext cx="2857500" cy="20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00" b="1" dirty="0">
                  <a:solidFill>
                    <a:srgbClr val="00F2FF"/>
                  </a:solidFill>
                  <a:latin typeface="+mj-lt"/>
                  <a:ea typeface="Poppins"/>
                  <a:cs typeface="Poppins"/>
                  <a:sym typeface="Poppins"/>
                </a:rPr>
                <a:t>GVHD: </a:t>
              </a:r>
              <a:r>
                <a:rPr lang="en-US" sz="2000" b="1" dirty="0" err="1">
                  <a:solidFill>
                    <a:srgbClr val="00F2FF"/>
                  </a:solidFill>
                  <a:latin typeface="+mj-lt"/>
                  <a:ea typeface="Poppins"/>
                  <a:cs typeface="Poppins"/>
                  <a:sym typeface="Poppins"/>
                </a:rPr>
                <a:t>Ths</a:t>
              </a:r>
              <a:r>
                <a:rPr lang="en-US" sz="2000" b="1" dirty="0">
                  <a:solidFill>
                    <a:srgbClr val="00F2FF"/>
                  </a:solidFill>
                  <a:latin typeface="+mj-lt"/>
                  <a:ea typeface="Poppins"/>
                  <a:cs typeface="Poppins"/>
                  <a:sym typeface="Poppins"/>
                </a:rPr>
                <a:t>. Nguyễn Thị Anh Thư</a:t>
              </a:r>
              <a:endParaRPr sz="2000" b="1" dirty="0">
                <a:solidFill>
                  <a:srgbClr val="00F2FF"/>
                </a:solidFill>
                <a:latin typeface="+mj-lt"/>
                <a:ea typeface="Poppins"/>
                <a:cs typeface="Poppins"/>
                <a:sym typeface="Poppins"/>
              </a:endParaRPr>
            </a:p>
          </p:txBody>
        </p:sp>
      </p:grpSp>
    </p:spTree>
    <p:extLst>
      <p:ext uri="{BB962C8B-B14F-4D97-AF65-F5344CB8AC3E}">
        <p14:creationId xmlns:p14="http://schemas.microsoft.com/office/powerpoint/2010/main" val="131945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85" name="Google Shape;85;p13"/>
          <p:cNvGrpSpPr/>
          <p:nvPr/>
        </p:nvGrpSpPr>
        <p:grpSpPr>
          <a:xfrm>
            <a:off x="762000" y="381000"/>
            <a:ext cx="10668000" cy="666900"/>
            <a:chOff x="762000" y="381000"/>
            <a:chExt cx="10668000" cy="666900"/>
          </a:xfrm>
        </p:grpSpPr>
        <p:pic>
          <p:nvPicPr>
            <p:cNvPr id="86" name="Google Shape;86;p13"/>
            <p:cNvPicPr preferRelativeResize="0"/>
            <p:nvPr/>
          </p:nvPicPr>
          <p:blipFill rotWithShape="1">
            <a:blip r:embed="rId4">
              <a:alphaModFix/>
            </a:blip>
            <a:srcRect/>
            <a:stretch/>
          </p:blipFill>
          <p:spPr>
            <a:xfrm>
              <a:off x="762000" y="381000"/>
              <a:ext cx="10668000" cy="666900"/>
            </a:xfrm>
            <a:prstGeom prst="rect">
              <a:avLst/>
            </a:prstGeom>
            <a:noFill/>
            <a:ln>
              <a:noFill/>
            </a:ln>
          </p:spPr>
        </p:pic>
        <p:sp>
          <p:nvSpPr>
            <p:cNvPr id="87" name="Google Shape;87;p13"/>
            <p:cNvSpPr txBox="1"/>
            <p:nvPr/>
          </p:nvSpPr>
          <p:spPr>
            <a:xfrm>
              <a:off x="1047750" y="476250"/>
              <a:ext cx="100965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550" b="0" dirty="0">
                  <a:solidFill>
                    <a:srgbClr val="00F2FF"/>
                  </a:solidFill>
                  <a:latin typeface="+mj-lt"/>
                  <a:ea typeface="Poppins"/>
                  <a:cs typeface="Poppins"/>
                  <a:sym typeface="Poppins"/>
                </a:rPr>
                <a:t>MỤC TIÊU</a:t>
              </a:r>
              <a:endParaRPr sz="2550" b="0" dirty="0">
                <a:solidFill>
                  <a:srgbClr val="00F2FF"/>
                </a:solidFill>
                <a:latin typeface="+mj-lt"/>
                <a:ea typeface="Poppins"/>
                <a:cs typeface="Poppins"/>
                <a:sym typeface="Poppins"/>
              </a:endParaRPr>
            </a:p>
          </p:txBody>
        </p:sp>
      </p:grpSp>
      <p:grpSp>
        <p:nvGrpSpPr>
          <p:cNvPr id="88" name="Google Shape;88;p13"/>
          <p:cNvGrpSpPr/>
          <p:nvPr/>
        </p:nvGrpSpPr>
        <p:grpSpPr>
          <a:xfrm>
            <a:off x="762000" y="1524000"/>
            <a:ext cx="3429000" cy="3238500"/>
            <a:chOff x="762000" y="1524000"/>
            <a:chExt cx="3429000" cy="3238500"/>
          </a:xfrm>
        </p:grpSpPr>
        <p:sp>
          <p:nvSpPr>
            <p:cNvPr id="89" name="Google Shape;89;p13"/>
            <p:cNvSpPr/>
            <p:nvPr/>
          </p:nvSpPr>
          <p:spPr>
            <a:xfrm>
              <a:off x="762000" y="1524000"/>
              <a:ext cx="3429000" cy="3238500"/>
            </a:xfrm>
            <a:prstGeom prst="roundRect">
              <a:avLst>
                <a:gd name="adj" fmla="val 4411"/>
              </a:avLst>
            </a:prstGeom>
            <a:solidFill>
              <a:srgbClr val="1E293B">
                <a:alpha val="6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latin typeface="+mj-lt"/>
              </a:endParaRPr>
            </a:p>
          </p:txBody>
        </p:sp>
        <p:sp>
          <p:nvSpPr>
            <p:cNvPr id="90" name="Google Shape;90;p13"/>
            <p:cNvSpPr txBox="1"/>
            <p:nvPr/>
          </p:nvSpPr>
          <p:spPr>
            <a:xfrm>
              <a:off x="1047750" y="1856486"/>
              <a:ext cx="28575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960" b="0">
                  <a:solidFill>
                    <a:srgbClr val="10B981"/>
                  </a:solidFill>
                  <a:latin typeface="+mj-lt"/>
                  <a:ea typeface="Material Icons"/>
                  <a:cs typeface="Material Icons"/>
                  <a:sym typeface="Material Icons"/>
                </a:rPr>
                <a:t>account_tree</a:t>
              </a:r>
              <a:endParaRPr sz="2960" b="0">
                <a:solidFill>
                  <a:srgbClr val="10B981"/>
                </a:solidFill>
                <a:latin typeface="+mj-lt"/>
                <a:ea typeface="Material Icons"/>
                <a:cs typeface="Material Icons"/>
                <a:sym typeface="Material Icons"/>
              </a:endParaRPr>
            </a:p>
          </p:txBody>
        </p:sp>
        <p:sp>
          <p:nvSpPr>
            <p:cNvPr id="91" name="Google Shape;91;p13"/>
            <p:cNvSpPr txBox="1"/>
            <p:nvPr/>
          </p:nvSpPr>
          <p:spPr>
            <a:xfrm>
              <a:off x="1047750" y="2381250"/>
              <a:ext cx="2857500" cy="20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00" b="1">
                  <a:solidFill>
                    <a:srgbClr val="00F2FF"/>
                  </a:solidFill>
                  <a:latin typeface="+mj-lt"/>
                  <a:ea typeface="Poppins"/>
                  <a:cs typeface="Poppins"/>
                  <a:sym typeface="Poppins"/>
                </a:rPr>
                <a:t>Hiểu cấu trúc</a:t>
              </a:r>
              <a:endParaRPr sz="2000" b="1">
                <a:solidFill>
                  <a:srgbClr val="00F2FF"/>
                </a:solidFill>
                <a:latin typeface="+mj-lt"/>
                <a:ea typeface="Poppins"/>
                <a:cs typeface="Poppins"/>
                <a:sym typeface="Poppins"/>
              </a:endParaRPr>
            </a:p>
            <a:p>
              <a:pPr marL="0" lvl="0" indent="0" algn="l" rtl="0">
                <a:spcBef>
                  <a:spcPts val="1125"/>
                </a:spcBef>
                <a:spcAft>
                  <a:spcPts val="0"/>
                </a:spcAft>
                <a:buNone/>
              </a:pPr>
              <a:r>
                <a:rPr lang="en-US" sz="1400" b="0">
                  <a:solidFill>
                    <a:srgbClr val="94A3B8"/>
                  </a:solidFill>
                  <a:latin typeface="+mj-lt"/>
                  <a:ea typeface="Lato"/>
                  <a:cs typeface="Lato"/>
                  <a:sym typeface="Lato"/>
                </a:rPr>
                <a:t>Khám phá các thành phần và mối quan hệ giữa các bảng dữ liệu.</a:t>
              </a:r>
              <a:endParaRPr sz="1400" b="0">
                <a:solidFill>
                  <a:srgbClr val="94A3B8"/>
                </a:solidFill>
                <a:latin typeface="+mj-lt"/>
                <a:ea typeface="Lato"/>
                <a:cs typeface="Lato"/>
                <a:sym typeface="Lato"/>
              </a:endParaRPr>
            </a:p>
          </p:txBody>
        </p:sp>
      </p:grpSp>
      <p:grpSp>
        <p:nvGrpSpPr>
          <p:cNvPr id="92" name="Google Shape;92;p13"/>
          <p:cNvGrpSpPr/>
          <p:nvPr/>
        </p:nvGrpSpPr>
        <p:grpSpPr>
          <a:xfrm>
            <a:off x="4381500" y="1524000"/>
            <a:ext cx="3429000" cy="3238500"/>
            <a:chOff x="4381500" y="1524000"/>
            <a:chExt cx="3429000" cy="3238500"/>
          </a:xfrm>
        </p:grpSpPr>
        <p:sp>
          <p:nvSpPr>
            <p:cNvPr id="93" name="Google Shape;93;p13"/>
            <p:cNvSpPr/>
            <p:nvPr/>
          </p:nvSpPr>
          <p:spPr>
            <a:xfrm>
              <a:off x="4381500" y="1524000"/>
              <a:ext cx="3429000" cy="3238500"/>
            </a:xfrm>
            <a:prstGeom prst="roundRect">
              <a:avLst>
                <a:gd name="adj" fmla="val 4411"/>
              </a:avLst>
            </a:prstGeom>
            <a:solidFill>
              <a:srgbClr val="1E293B">
                <a:alpha val="6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latin typeface="+mj-lt"/>
              </a:endParaRPr>
            </a:p>
          </p:txBody>
        </p:sp>
        <p:sp>
          <p:nvSpPr>
            <p:cNvPr id="94" name="Google Shape;94;p13"/>
            <p:cNvSpPr txBox="1"/>
            <p:nvPr/>
          </p:nvSpPr>
          <p:spPr>
            <a:xfrm>
              <a:off x="4667250" y="1856486"/>
              <a:ext cx="28575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960" b="0">
                  <a:solidFill>
                    <a:srgbClr val="10B981"/>
                  </a:solidFill>
                  <a:latin typeface="+mj-lt"/>
                  <a:ea typeface="Material Icons"/>
                  <a:cs typeface="Material Icons"/>
                  <a:sym typeface="Material Icons"/>
                </a:rPr>
                <a:t>psychology</a:t>
              </a:r>
              <a:endParaRPr sz="2960" b="0">
                <a:solidFill>
                  <a:srgbClr val="10B981"/>
                </a:solidFill>
                <a:latin typeface="+mj-lt"/>
                <a:ea typeface="Material Icons"/>
                <a:cs typeface="Material Icons"/>
                <a:sym typeface="Material Icons"/>
              </a:endParaRPr>
            </a:p>
          </p:txBody>
        </p:sp>
        <p:sp>
          <p:nvSpPr>
            <p:cNvPr id="95" name="Google Shape;95;p13"/>
            <p:cNvSpPr txBox="1"/>
            <p:nvPr/>
          </p:nvSpPr>
          <p:spPr>
            <a:xfrm>
              <a:off x="4667250" y="2381250"/>
              <a:ext cx="2857500" cy="20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00" b="1">
                  <a:solidFill>
                    <a:srgbClr val="00F2FF"/>
                  </a:solidFill>
                  <a:latin typeface="+mj-lt"/>
                  <a:ea typeface="Poppins"/>
                  <a:cs typeface="Poppins"/>
                  <a:sym typeface="Poppins"/>
                </a:rPr>
                <a:t>Hành vi</a:t>
              </a:r>
              <a:endParaRPr sz="2000" b="1">
                <a:solidFill>
                  <a:srgbClr val="00F2FF"/>
                </a:solidFill>
                <a:latin typeface="+mj-lt"/>
                <a:ea typeface="Poppins"/>
                <a:cs typeface="Poppins"/>
                <a:sym typeface="Poppins"/>
              </a:endParaRPr>
            </a:p>
            <a:p>
              <a:pPr marL="0" lvl="0" indent="0" algn="l" rtl="0">
                <a:spcBef>
                  <a:spcPts val="1125"/>
                </a:spcBef>
                <a:spcAft>
                  <a:spcPts val="0"/>
                </a:spcAft>
                <a:buNone/>
              </a:pPr>
              <a:r>
                <a:rPr lang="en-US" sz="1400" b="0">
                  <a:solidFill>
                    <a:srgbClr val="94A3B8"/>
                  </a:solidFill>
                  <a:latin typeface="+mj-lt"/>
                  <a:ea typeface="Lato"/>
                  <a:cs typeface="Lato"/>
                  <a:sym typeface="Lato"/>
                </a:rPr>
                <a:t>Nhận diện các quy luật học tập đặc trưng của sinh viên.</a:t>
              </a:r>
              <a:endParaRPr sz="1400" b="0">
                <a:solidFill>
                  <a:srgbClr val="94A3B8"/>
                </a:solidFill>
                <a:latin typeface="+mj-lt"/>
                <a:ea typeface="Lato"/>
                <a:cs typeface="Lato"/>
                <a:sym typeface="Lato"/>
              </a:endParaRPr>
            </a:p>
          </p:txBody>
        </p:sp>
      </p:grpSp>
      <p:grpSp>
        <p:nvGrpSpPr>
          <p:cNvPr id="96" name="Google Shape;96;p13"/>
          <p:cNvGrpSpPr/>
          <p:nvPr/>
        </p:nvGrpSpPr>
        <p:grpSpPr>
          <a:xfrm>
            <a:off x="8001000" y="1524000"/>
            <a:ext cx="3429000" cy="3238500"/>
            <a:chOff x="8001000" y="1524000"/>
            <a:chExt cx="3429000" cy="3238500"/>
          </a:xfrm>
        </p:grpSpPr>
        <p:sp>
          <p:nvSpPr>
            <p:cNvPr id="97" name="Google Shape;97;p13"/>
            <p:cNvSpPr/>
            <p:nvPr/>
          </p:nvSpPr>
          <p:spPr>
            <a:xfrm>
              <a:off x="8001000" y="1524000"/>
              <a:ext cx="3429000" cy="3238500"/>
            </a:xfrm>
            <a:prstGeom prst="roundRect">
              <a:avLst>
                <a:gd name="adj" fmla="val 4411"/>
              </a:avLst>
            </a:prstGeom>
            <a:solidFill>
              <a:srgbClr val="1E293B">
                <a:alpha val="6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latin typeface="+mj-lt"/>
              </a:endParaRPr>
            </a:p>
          </p:txBody>
        </p:sp>
        <p:sp>
          <p:nvSpPr>
            <p:cNvPr id="98" name="Google Shape;98;p13"/>
            <p:cNvSpPr txBox="1"/>
            <p:nvPr/>
          </p:nvSpPr>
          <p:spPr>
            <a:xfrm>
              <a:off x="8286750" y="1856486"/>
              <a:ext cx="28575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960" b="0">
                  <a:solidFill>
                    <a:srgbClr val="10B981"/>
                  </a:solidFill>
                  <a:latin typeface="+mj-lt"/>
                  <a:ea typeface="Material Icons"/>
                  <a:cs typeface="Material Icons"/>
                  <a:sym typeface="Material Icons"/>
                </a:rPr>
                <a:t>model_training</a:t>
              </a:r>
              <a:endParaRPr sz="2960" b="0">
                <a:solidFill>
                  <a:srgbClr val="10B981"/>
                </a:solidFill>
                <a:latin typeface="+mj-lt"/>
                <a:ea typeface="Material Icons"/>
                <a:cs typeface="Material Icons"/>
                <a:sym typeface="Material Icons"/>
              </a:endParaRPr>
            </a:p>
          </p:txBody>
        </p:sp>
        <p:sp>
          <p:nvSpPr>
            <p:cNvPr id="99" name="Google Shape;99;p13"/>
            <p:cNvSpPr txBox="1"/>
            <p:nvPr/>
          </p:nvSpPr>
          <p:spPr>
            <a:xfrm>
              <a:off x="8286750" y="2381250"/>
              <a:ext cx="2857500" cy="20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00" b="1">
                  <a:solidFill>
                    <a:srgbClr val="00F2FF"/>
                  </a:solidFill>
                  <a:latin typeface="+mj-lt"/>
                  <a:ea typeface="Poppins"/>
                  <a:cs typeface="Poppins"/>
                  <a:sym typeface="Poppins"/>
                </a:rPr>
                <a:t>Modeling</a:t>
              </a:r>
              <a:endParaRPr sz="2000" b="1">
                <a:solidFill>
                  <a:srgbClr val="00F2FF"/>
                </a:solidFill>
                <a:latin typeface="+mj-lt"/>
                <a:ea typeface="Poppins"/>
                <a:cs typeface="Poppins"/>
                <a:sym typeface="Poppins"/>
              </a:endParaRPr>
            </a:p>
            <a:p>
              <a:pPr marL="0" lvl="0" indent="0" algn="l" rtl="0">
                <a:spcBef>
                  <a:spcPts val="1125"/>
                </a:spcBef>
                <a:spcAft>
                  <a:spcPts val="0"/>
                </a:spcAft>
                <a:buNone/>
              </a:pPr>
              <a:r>
                <a:rPr lang="en-US" sz="1400" b="0">
                  <a:solidFill>
                    <a:srgbClr val="94A3B8"/>
                  </a:solidFill>
                  <a:latin typeface="+mj-lt"/>
                  <a:ea typeface="Lato"/>
                  <a:cs typeface="Lato"/>
                  <a:sym typeface="Lato"/>
                </a:rPr>
                <a:t>Chuẩn bị tập dữ liệu tối ưu cho giai đoạn huấn luyện.</a:t>
              </a:r>
              <a:endParaRPr sz="1400" b="0">
                <a:solidFill>
                  <a:srgbClr val="94A3B8"/>
                </a:solidFill>
                <a:latin typeface="+mj-lt"/>
                <a:ea typeface="Lato"/>
                <a:cs typeface="Lato"/>
                <a:sym typeface="La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8" name="Google Shape;108;p14"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sp>
        <p:nvSpPr>
          <p:cNvPr id="110" name="Google Shape;110;p14"/>
          <p:cNvSpPr txBox="1"/>
          <p:nvPr/>
        </p:nvSpPr>
        <p:spPr>
          <a:xfrm>
            <a:off x="1047750" y="471487"/>
            <a:ext cx="6424166"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TỔNG QUAN DATASET (MOOCCUBEX)</a:t>
            </a:r>
            <a:endParaRPr>
              <a:latin typeface="+mj-lt"/>
            </a:endParaRPr>
          </a:p>
        </p:txBody>
      </p:sp>
      <p:sp>
        <p:nvSpPr>
          <p:cNvPr id="111" name="Google Shape;111;p14"/>
          <p:cNvSpPr txBox="1"/>
          <p:nvPr/>
        </p:nvSpPr>
        <p:spPr>
          <a:xfrm>
            <a:off x="2350976" y="3038475"/>
            <a:ext cx="4724400"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E2E8F0"/>
                </a:solidFill>
                <a:latin typeface="+mj-lt"/>
                <a:ea typeface="Lato"/>
                <a:cs typeface="Lato"/>
                <a:sym typeface="Lato"/>
              </a:rPr>
              <a:t>User:</a:t>
            </a:r>
            <a:r>
              <a:rPr lang="en-US" sz="1650" b="0" i="0" u="none" strike="noStrike" cap="none" dirty="0">
                <a:solidFill>
                  <a:srgbClr val="E2E8F0"/>
                </a:solidFill>
                <a:latin typeface="+mj-lt"/>
                <a:ea typeface="Lato"/>
                <a:cs typeface="Lato"/>
                <a:sym typeface="Lato"/>
              </a:rPr>
              <a:t> Thông tin </a:t>
            </a:r>
            <a:r>
              <a:rPr lang="en-US" sz="1650" b="0" i="0" u="none" strike="noStrike" cap="none" dirty="0" err="1">
                <a:solidFill>
                  <a:srgbClr val="E2E8F0"/>
                </a:solidFill>
                <a:latin typeface="+mj-lt"/>
                <a:ea typeface="Lato"/>
                <a:cs typeface="Lato"/>
                <a:sym typeface="Lato"/>
              </a:rPr>
              <a:t>nhân</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khẩu</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học</a:t>
            </a:r>
            <a:r>
              <a:rPr lang="en-US" sz="1650" b="0" i="0" u="none" strike="noStrike" cap="none" dirty="0">
                <a:solidFill>
                  <a:srgbClr val="E2E8F0"/>
                </a:solidFill>
                <a:latin typeface="+mj-lt"/>
                <a:ea typeface="Lato"/>
                <a:cs typeface="Lato"/>
                <a:sym typeface="Lato"/>
              </a:rPr>
              <a:t>.</a:t>
            </a:r>
            <a:endParaRPr dirty="0">
              <a:latin typeface="+mj-lt"/>
            </a:endParaRPr>
          </a:p>
        </p:txBody>
      </p:sp>
      <p:sp>
        <p:nvSpPr>
          <p:cNvPr id="112" name="Google Shape;112;p14"/>
          <p:cNvSpPr txBox="1"/>
          <p:nvPr/>
        </p:nvSpPr>
        <p:spPr>
          <a:xfrm>
            <a:off x="2379551" y="3495675"/>
            <a:ext cx="4695825"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E2E8F0"/>
                </a:solidFill>
                <a:latin typeface="+mj-lt"/>
                <a:ea typeface="Lato"/>
                <a:cs typeface="Lato"/>
                <a:sym typeface="Lato"/>
              </a:rPr>
              <a:t>User-Video:</a:t>
            </a:r>
            <a:r>
              <a:rPr lang="en-US" sz="1650" b="0" i="0" u="none" strike="noStrike" cap="none">
                <a:solidFill>
                  <a:srgbClr val="E2E8F0"/>
                </a:solidFill>
                <a:latin typeface="+mj-lt"/>
                <a:ea typeface="Lato"/>
                <a:cs typeface="Lato"/>
                <a:sym typeface="Lato"/>
              </a:rPr>
              <a:t> Nhật ký xem bài giảng.</a:t>
            </a:r>
            <a:endParaRPr>
              <a:latin typeface="+mj-lt"/>
            </a:endParaRPr>
          </a:p>
        </p:txBody>
      </p:sp>
      <p:sp>
        <p:nvSpPr>
          <p:cNvPr id="113" name="Google Shape;113;p14"/>
          <p:cNvSpPr txBox="1"/>
          <p:nvPr/>
        </p:nvSpPr>
        <p:spPr>
          <a:xfrm>
            <a:off x="2379551" y="3952875"/>
            <a:ext cx="4695825"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E2E8F0"/>
                </a:solidFill>
                <a:latin typeface="+mj-lt"/>
                <a:ea typeface="Lato"/>
                <a:cs typeface="Lato"/>
                <a:sym typeface="Lato"/>
              </a:rPr>
              <a:t>User-Problem:</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Kết</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quả</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làm</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bài</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tập</a:t>
            </a:r>
            <a:r>
              <a:rPr lang="en-US" sz="1650" b="0" i="0" u="none" strike="noStrike" cap="none" dirty="0">
                <a:solidFill>
                  <a:srgbClr val="E2E8F0"/>
                </a:solidFill>
                <a:latin typeface="+mj-lt"/>
                <a:ea typeface="Lato"/>
                <a:cs typeface="Lato"/>
                <a:sym typeface="Lato"/>
              </a:rPr>
              <a:t>.</a:t>
            </a:r>
            <a:endParaRPr dirty="0">
              <a:latin typeface="+mj-lt"/>
            </a:endParaRPr>
          </a:p>
        </p:txBody>
      </p:sp>
      <p:sp>
        <p:nvSpPr>
          <p:cNvPr id="114" name="Google Shape;114;p14"/>
          <p:cNvSpPr txBox="1"/>
          <p:nvPr/>
        </p:nvSpPr>
        <p:spPr>
          <a:xfrm>
            <a:off x="2436701" y="4410075"/>
            <a:ext cx="4638675"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E2E8F0"/>
                </a:solidFill>
                <a:latin typeface="+mj-lt"/>
                <a:ea typeface="Lato"/>
                <a:cs typeface="Lato"/>
                <a:sym typeface="Lato"/>
              </a:rPr>
              <a:t>Comment &amp; Reply:</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Tương</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tác</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xã</a:t>
            </a:r>
            <a:r>
              <a:rPr lang="en-US" sz="1650" b="0" i="0" u="none" strike="noStrike" cap="none" dirty="0">
                <a:solidFill>
                  <a:srgbClr val="E2E8F0"/>
                </a:solidFill>
                <a:latin typeface="+mj-lt"/>
                <a:ea typeface="Lato"/>
                <a:cs typeface="Lato"/>
                <a:sym typeface="Lato"/>
              </a:rPr>
              <a:t> </a:t>
            </a:r>
            <a:r>
              <a:rPr lang="en-US" sz="1650" b="0" i="0" u="none" strike="noStrike" cap="none" dirty="0" err="1">
                <a:solidFill>
                  <a:srgbClr val="E2E8F0"/>
                </a:solidFill>
                <a:latin typeface="+mj-lt"/>
                <a:ea typeface="Lato"/>
                <a:cs typeface="Lato"/>
                <a:sym typeface="Lato"/>
              </a:rPr>
              <a:t>hội</a:t>
            </a:r>
            <a:r>
              <a:rPr lang="en-US" sz="1650" b="0" i="0" u="none" strike="noStrike" cap="none" dirty="0">
                <a:solidFill>
                  <a:srgbClr val="E2E8F0"/>
                </a:solidFill>
                <a:latin typeface="+mj-lt"/>
                <a:ea typeface="Lato"/>
                <a:cs typeface="Lato"/>
                <a:sym typeface="Lato"/>
              </a:rPr>
              <a:t>.</a:t>
            </a:r>
            <a:endParaRPr dirty="0">
              <a:latin typeface="+mj-lt"/>
            </a:endParaRPr>
          </a:p>
        </p:txBody>
      </p:sp>
      <p:pic>
        <p:nvPicPr>
          <p:cNvPr id="116" name="Google Shape;116;p14" descr="image.png"/>
          <p:cNvPicPr preferRelativeResize="0"/>
          <p:nvPr/>
        </p:nvPicPr>
        <p:blipFill rotWithShape="1">
          <a:blip r:embed="rId5">
            <a:alphaModFix/>
          </a:blip>
          <a:srcRect/>
          <a:stretch/>
        </p:blipFill>
        <p:spPr>
          <a:xfrm>
            <a:off x="2027126" y="3081337"/>
            <a:ext cx="180975" cy="219075"/>
          </a:xfrm>
          <a:prstGeom prst="rect">
            <a:avLst/>
          </a:prstGeom>
          <a:noFill/>
          <a:ln>
            <a:noFill/>
          </a:ln>
        </p:spPr>
      </p:pic>
      <p:pic>
        <p:nvPicPr>
          <p:cNvPr id="117" name="Google Shape;117;p14" descr="image.png"/>
          <p:cNvPicPr preferRelativeResize="0"/>
          <p:nvPr/>
        </p:nvPicPr>
        <p:blipFill rotWithShape="1">
          <a:blip r:embed="rId6">
            <a:alphaModFix/>
          </a:blip>
          <a:srcRect/>
          <a:stretch/>
        </p:blipFill>
        <p:spPr>
          <a:xfrm>
            <a:off x="2027126" y="3538537"/>
            <a:ext cx="209550" cy="219075"/>
          </a:xfrm>
          <a:prstGeom prst="rect">
            <a:avLst/>
          </a:prstGeom>
          <a:noFill/>
          <a:ln>
            <a:noFill/>
          </a:ln>
        </p:spPr>
      </p:pic>
      <p:pic>
        <p:nvPicPr>
          <p:cNvPr id="118" name="Google Shape;118;p14" descr="image.png"/>
          <p:cNvPicPr preferRelativeResize="0"/>
          <p:nvPr/>
        </p:nvPicPr>
        <p:blipFill rotWithShape="1">
          <a:blip r:embed="rId7">
            <a:alphaModFix/>
          </a:blip>
          <a:srcRect/>
          <a:stretch/>
        </p:blipFill>
        <p:spPr>
          <a:xfrm>
            <a:off x="2027126" y="3995737"/>
            <a:ext cx="209550" cy="219075"/>
          </a:xfrm>
          <a:prstGeom prst="rect">
            <a:avLst/>
          </a:prstGeom>
          <a:noFill/>
          <a:ln>
            <a:noFill/>
          </a:ln>
        </p:spPr>
      </p:pic>
      <p:pic>
        <p:nvPicPr>
          <p:cNvPr id="119" name="Google Shape;119;p14" descr="image.png"/>
          <p:cNvPicPr preferRelativeResize="0"/>
          <p:nvPr/>
        </p:nvPicPr>
        <p:blipFill rotWithShape="1">
          <a:blip r:embed="rId8">
            <a:alphaModFix/>
          </a:blip>
          <a:srcRect/>
          <a:stretch/>
        </p:blipFill>
        <p:spPr>
          <a:xfrm>
            <a:off x="2027126" y="4452937"/>
            <a:ext cx="266700" cy="219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127" name="Google Shape;127;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8" name="Google Shape;128;p15"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pic>
        <p:nvPicPr>
          <p:cNvPr id="129" name="Google Shape;129;p15" descr="image.png"/>
          <p:cNvPicPr preferRelativeResize="0"/>
          <p:nvPr/>
        </p:nvPicPr>
        <p:blipFill rotWithShape="1">
          <a:blip r:embed="rId5">
            <a:alphaModFix/>
          </a:blip>
          <a:srcRect/>
          <a:stretch/>
        </p:blipFill>
        <p:spPr>
          <a:xfrm>
            <a:off x="762000" y="3257550"/>
            <a:ext cx="5048250" cy="1390650"/>
          </a:xfrm>
          <a:prstGeom prst="rect">
            <a:avLst/>
          </a:prstGeom>
          <a:noFill/>
          <a:ln>
            <a:noFill/>
          </a:ln>
        </p:spPr>
      </p:pic>
      <p:pic>
        <p:nvPicPr>
          <p:cNvPr id="130" name="Google Shape;130;p15" descr="image.png"/>
          <p:cNvPicPr preferRelativeResize="0"/>
          <p:nvPr/>
        </p:nvPicPr>
        <p:blipFill rotWithShape="1">
          <a:blip r:embed="rId5">
            <a:alphaModFix/>
          </a:blip>
          <a:srcRect/>
          <a:stretch/>
        </p:blipFill>
        <p:spPr>
          <a:xfrm>
            <a:off x="6381750" y="3257550"/>
            <a:ext cx="5048250" cy="1390650"/>
          </a:xfrm>
          <a:prstGeom prst="rect">
            <a:avLst/>
          </a:prstGeom>
          <a:noFill/>
          <a:ln>
            <a:noFill/>
          </a:ln>
        </p:spPr>
      </p:pic>
      <p:sp>
        <p:nvSpPr>
          <p:cNvPr id="131" name="Google Shape;131;p15"/>
          <p:cNvSpPr txBox="1"/>
          <p:nvPr/>
        </p:nvSpPr>
        <p:spPr>
          <a:xfrm>
            <a:off x="1047750" y="528637"/>
            <a:ext cx="4148732"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ĐẶC ĐIỂM DỮ LIỆU LOG</a:t>
            </a:r>
            <a:endParaRPr>
              <a:latin typeface="+mj-lt"/>
            </a:endParaRPr>
          </a:p>
        </p:txBody>
      </p:sp>
      <p:sp>
        <p:nvSpPr>
          <p:cNvPr id="132" name="Google Shape;132;p15"/>
          <p:cNvSpPr txBox="1"/>
          <p:nvPr/>
        </p:nvSpPr>
        <p:spPr>
          <a:xfrm>
            <a:off x="1057275" y="3552825"/>
            <a:ext cx="46805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Event-Level Data</a:t>
            </a:r>
            <a:endParaRPr>
              <a:latin typeface="+mj-lt"/>
            </a:endParaRPr>
          </a:p>
        </p:txBody>
      </p:sp>
      <p:sp>
        <p:nvSpPr>
          <p:cNvPr id="133" name="Google Shape;133;p15"/>
          <p:cNvSpPr txBox="1"/>
          <p:nvPr/>
        </p:nvSpPr>
        <p:spPr>
          <a:xfrm>
            <a:off x="1057275" y="3952875"/>
            <a:ext cx="445770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Mỗi dòng tương ứng với một hành động cụ thể tại một thời điểm (Click, Play, Submit).</a:t>
            </a:r>
            <a:endParaRPr>
              <a:latin typeface="+mj-lt"/>
            </a:endParaRPr>
          </a:p>
        </p:txBody>
      </p:sp>
      <p:sp>
        <p:nvSpPr>
          <p:cNvPr id="134" name="Google Shape;134;p15"/>
          <p:cNvSpPr txBox="1"/>
          <p:nvPr/>
        </p:nvSpPr>
        <p:spPr>
          <a:xfrm>
            <a:off x="6677025" y="3552825"/>
            <a:ext cx="46805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User-Level Aggregation</a:t>
            </a:r>
            <a:endParaRPr>
              <a:latin typeface="+mj-lt"/>
            </a:endParaRPr>
          </a:p>
        </p:txBody>
      </p:sp>
      <p:sp>
        <p:nvSpPr>
          <p:cNvPr id="135" name="Google Shape;135;p15"/>
          <p:cNvSpPr txBox="1"/>
          <p:nvPr/>
        </p:nvSpPr>
        <p:spPr>
          <a:xfrm>
            <a:off x="6677025" y="3952875"/>
            <a:ext cx="445770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Cần chuyển đổi (Pivot/Groupby) để tổng hợp thành các đặc trưng cho từng học viên.</a:t>
            </a:r>
            <a:endParaRPr>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4" name="Google Shape;144;p16"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pic>
        <p:nvPicPr>
          <p:cNvPr id="145" name="Google Shape;145;p16" descr="image.png"/>
          <p:cNvPicPr preferRelativeResize="0"/>
          <p:nvPr/>
        </p:nvPicPr>
        <p:blipFill rotWithShape="1">
          <a:blip r:embed="rId5">
            <a:alphaModFix/>
          </a:blip>
          <a:srcRect/>
          <a:stretch/>
        </p:blipFill>
        <p:spPr>
          <a:xfrm>
            <a:off x="6381750" y="3090862"/>
            <a:ext cx="5048250" cy="1724025"/>
          </a:xfrm>
          <a:prstGeom prst="rect">
            <a:avLst/>
          </a:prstGeom>
          <a:noFill/>
          <a:ln>
            <a:noFill/>
          </a:ln>
        </p:spPr>
      </p:pic>
      <p:sp>
        <p:nvSpPr>
          <p:cNvPr id="146" name="Google Shape;146;p16"/>
          <p:cNvSpPr txBox="1"/>
          <p:nvPr/>
        </p:nvSpPr>
        <p:spPr>
          <a:xfrm>
            <a:off x="1047750" y="471487"/>
            <a:ext cx="3848100"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PHÂN TÍCH USER.JSON</a:t>
            </a:r>
            <a:endParaRPr>
              <a:latin typeface="+mj-lt"/>
            </a:endParaRPr>
          </a:p>
        </p:txBody>
      </p:sp>
      <p:sp>
        <p:nvSpPr>
          <p:cNvPr id="147" name="Google Shape;147;p16"/>
          <p:cNvSpPr txBox="1"/>
          <p:nvPr/>
        </p:nvSpPr>
        <p:spPr>
          <a:xfrm>
            <a:off x="762000" y="3295650"/>
            <a:ext cx="5048250" cy="115416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i="0" u="none" strike="noStrike" cap="none">
                <a:solidFill>
                  <a:srgbClr val="00F2FF"/>
                </a:solidFill>
                <a:latin typeface="+mj-lt"/>
                <a:ea typeface="Poppins"/>
                <a:cs typeface="Poppins"/>
                <a:sym typeface="Poppins"/>
              </a:rPr>
              <a:t>719K</a:t>
            </a:r>
            <a:endParaRPr>
              <a:latin typeface="+mj-lt"/>
            </a:endParaRPr>
          </a:p>
        </p:txBody>
      </p:sp>
      <p:sp>
        <p:nvSpPr>
          <p:cNvPr id="148" name="Google Shape;148;p16"/>
          <p:cNvSpPr txBox="1"/>
          <p:nvPr/>
        </p:nvSpPr>
        <p:spPr>
          <a:xfrm>
            <a:off x="762000" y="4343400"/>
            <a:ext cx="5048250" cy="25391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94A3B8"/>
                </a:solidFill>
                <a:latin typeface="+mj-lt"/>
                <a:ea typeface="Lato"/>
                <a:cs typeface="Lato"/>
                <a:sym typeface="Lato"/>
              </a:rPr>
              <a:t>Người dùng đăng ký</a:t>
            </a:r>
            <a:endParaRPr>
              <a:latin typeface="+mj-lt"/>
            </a:endParaRPr>
          </a:p>
        </p:txBody>
      </p:sp>
      <p:sp>
        <p:nvSpPr>
          <p:cNvPr id="149" name="Google Shape;149;p16"/>
          <p:cNvSpPr txBox="1"/>
          <p:nvPr/>
        </p:nvSpPr>
        <p:spPr>
          <a:xfrm>
            <a:off x="6677025" y="3386137"/>
            <a:ext cx="46805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Đặc trưng nhân khẩu học</a:t>
            </a:r>
            <a:endParaRPr>
              <a:latin typeface="+mj-lt"/>
            </a:endParaRPr>
          </a:p>
        </p:txBody>
      </p:sp>
      <p:sp>
        <p:nvSpPr>
          <p:cNvPr id="150" name="Google Shape;150;p16"/>
          <p:cNvSpPr txBox="1"/>
          <p:nvPr/>
        </p:nvSpPr>
        <p:spPr>
          <a:xfrm>
            <a:off x="6677025" y="3862387"/>
            <a:ext cx="4457700" cy="6232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 Giới tính (Gender)</a:t>
            </a:r>
            <a:br>
              <a:rPr lang="en-US" sz="1800" b="0" i="0" u="none" strike="noStrike" cap="none">
                <a:solidFill>
                  <a:schemeClr val="dk1"/>
                </a:solidFill>
                <a:latin typeface="+mj-lt"/>
                <a:ea typeface="Calibri"/>
                <a:cs typeface="Calibri"/>
                <a:sym typeface="Calibri"/>
              </a:rPr>
            </a:br>
            <a:r>
              <a:rPr lang="en-US" sz="1350" b="0" i="0" u="none" strike="noStrike" cap="none">
                <a:solidFill>
                  <a:srgbClr val="94A3B8"/>
                </a:solidFill>
                <a:latin typeface="+mj-lt"/>
                <a:ea typeface="Lato"/>
                <a:cs typeface="Lato"/>
                <a:sym typeface="Lato"/>
              </a:rPr>
              <a:t> • Trường học (School)</a:t>
            </a:r>
            <a:br>
              <a:rPr lang="en-US" sz="1800" b="0" i="0" u="none" strike="noStrike" cap="none">
                <a:solidFill>
                  <a:schemeClr val="dk1"/>
                </a:solidFill>
                <a:latin typeface="+mj-lt"/>
                <a:ea typeface="Calibri"/>
                <a:cs typeface="Calibri"/>
                <a:sym typeface="Calibri"/>
              </a:rPr>
            </a:br>
            <a:r>
              <a:rPr lang="en-US" sz="1350" b="0" i="0" u="none" strike="noStrike" cap="none">
                <a:solidFill>
                  <a:srgbClr val="94A3B8"/>
                </a:solidFill>
                <a:latin typeface="+mj-lt"/>
                <a:ea typeface="Lato"/>
                <a:cs typeface="Lato"/>
                <a:sym typeface="Lato"/>
              </a:rPr>
              <a:t> • Năm sinh (Year of Birth) - </a:t>
            </a:r>
            <a:r>
              <a:rPr lang="en-US" sz="1350" b="0" i="1" u="none" strike="noStrike" cap="none">
                <a:solidFill>
                  <a:srgbClr val="94A3B8"/>
                </a:solidFill>
                <a:latin typeface="+mj-lt"/>
                <a:ea typeface="Lato"/>
                <a:cs typeface="Lato"/>
                <a:sym typeface="Lato"/>
              </a:rPr>
              <a:t>Cảnh báo: Tỷ lệ thiếu hụt cao</a:t>
            </a:r>
            <a:endParaRPr>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9" name="Google Shape;159;p17"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pic>
        <p:nvPicPr>
          <p:cNvPr id="161" name="Google Shape;161;p17" descr="image.png"/>
          <p:cNvPicPr preferRelativeResize="0"/>
          <p:nvPr/>
        </p:nvPicPr>
        <p:blipFill rotWithShape="1">
          <a:blip r:embed="rId5">
            <a:alphaModFix/>
          </a:blip>
          <a:srcRect/>
          <a:stretch/>
        </p:blipFill>
        <p:spPr>
          <a:xfrm>
            <a:off x="6381750" y="2047875"/>
            <a:ext cx="5048250" cy="3810000"/>
          </a:xfrm>
          <a:prstGeom prst="rect">
            <a:avLst/>
          </a:prstGeom>
          <a:noFill/>
          <a:ln>
            <a:noFill/>
          </a:ln>
        </p:spPr>
      </p:pic>
      <p:sp>
        <p:nvSpPr>
          <p:cNvPr id="162" name="Google Shape;162;p17"/>
          <p:cNvSpPr txBox="1"/>
          <p:nvPr/>
        </p:nvSpPr>
        <p:spPr>
          <a:xfrm>
            <a:off x="1047750" y="471487"/>
            <a:ext cx="5991225"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dirty="0">
                <a:solidFill>
                  <a:srgbClr val="00F2FF"/>
                </a:solidFill>
                <a:latin typeface="+mj-lt"/>
                <a:ea typeface="Poppins"/>
                <a:cs typeface="Poppins"/>
                <a:sym typeface="Poppins"/>
              </a:rPr>
              <a:t>HÀNH VI LÀM BÀI (PROBLEM.JSON)</a:t>
            </a:r>
            <a:endParaRPr dirty="0">
              <a:latin typeface="+mj-lt"/>
            </a:endParaRPr>
          </a:p>
        </p:txBody>
      </p:sp>
      <p:sp>
        <p:nvSpPr>
          <p:cNvPr id="164" name="Google Shape;164;p17"/>
          <p:cNvSpPr txBox="1"/>
          <p:nvPr/>
        </p:nvSpPr>
        <p:spPr>
          <a:xfrm>
            <a:off x="6677025" y="2343150"/>
            <a:ext cx="46805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Learning Performance</a:t>
            </a:r>
            <a:endParaRPr>
              <a:latin typeface="+mj-lt"/>
            </a:endParaRPr>
          </a:p>
        </p:txBody>
      </p:sp>
      <p:sp>
        <p:nvSpPr>
          <p:cNvPr id="165" name="Google Shape;165;p17"/>
          <p:cNvSpPr txBox="1"/>
          <p:nvPr/>
        </p:nvSpPr>
        <p:spPr>
          <a:xfrm>
            <a:off x="6677025" y="2819400"/>
            <a:ext cx="4457700" cy="83099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Phản ánh khả năng tiếp thu thông qua:</a:t>
            </a:r>
            <a:br>
              <a:rPr lang="en-US" sz="1800" b="0" i="0" u="none" strike="noStrike" cap="none">
                <a:solidFill>
                  <a:schemeClr val="dk1"/>
                </a:solidFill>
                <a:latin typeface="+mj-lt"/>
                <a:ea typeface="Calibri"/>
                <a:cs typeface="Calibri"/>
                <a:sym typeface="Calibri"/>
              </a:rPr>
            </a:br>
            <a:r>
              <a:rPr lang="en-US" sz="1350" b="0" i="0" u="none" strike="noStrike" cap="none">
                <a:solidFill>
                  <a:srgbClr val="94A3B8"/>
                </a:solidFill>
                <a:latin typeface="+mj-lt"/>
                <a:ea typeface="Lato"/>
                <a:cs typeface="Lato"/>
                <a:sym typeface="Lato"/>
              </a:rPr>
              <a:t> • Số lần thử (Attempts)</a:t>
            </a:r>
            <a:br>
              <a:rPr lang="en-US" sz="1800" b="0" i="0" u="none" strike="noStrike" cap="none">
                <a:solidFill>
                  <a:schemeClr val="dk1"/>
                </a:solidFill>
                <a:latin typeface="+mj-lt"/>
                <a:ea typeface="Calibri"/>
                <a:cs typeface="Calibri"/>
                <a:sym typeface="Calibri"/>
              </a:rPr>
            </a:br>
            <a:r>
              <a:rPr lang="en-US" sz="1350" b="0" i="0" u="none" strike="noStrike" cap="none">
                <a:solidFill>
                  <a:srgbClr val="94A3B8"/>
                </a:solidFill>
                <a:latin typeface="+mj-lt"/>
                <a:ea typeface="Lato"/>
                <a:cs typeface="Lato"/>
                <a:sym typeface="Lato"/>
              </a:rPr>
              <a:t> • Điểm số (Score)</a:t>
            </a:r>
            <a:br>
              <a:rPr lang="en-US" sz="1800" b="0" i="0" u="none" strike="noStrike" cap="none">
                <a:solidFill>
                  <a:schemeClr val="dk1"/>
                </a:solidFill>
                <a:latin typeface="+mj-lt"/>
                <a:ea typeface="Calibri"/>
                <a:cs typeface="Calibri"/>
                <a:sym typeface="Calibri"/>
              </a:rPr>
            </a:br>
            <a:r>
              <a:rPr lang="en-US" sz="1350" b="0" i="0" u="none" strike="noStrike" cap="none">
                <a:solidFill>
                  <a:srgbClr val="94A3B8"/>
                </a:solidFill>
                <a:latin typeface="+mj-lt"/>
                <a:ea typeface="Lato"/>
                <a:cs typeface="Lato"/>
                <a:sym typeface="Lato"/>
              </a:rPr>
              <a:t> • Kết quả đúng/sai (Is_Correct)</a:t>
            </a:r>
            <a:endParaRPr>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4" name="Google Shape;174;p18"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pic>
        <p:nvPicPr>
          <p:cNvPr id="175" name="Google Shape;175;p18" descr="image.png"/>
          <p:cNvPicPr preferRelativeResize="0"/>
          <p:nvPr/>
        </p:nvPicPr>
        <p:blipFill rotWithShape="1">
          <a:blip r:embed="rId5">
            <a:alphaModFix/>
          </a:blip>
          <a:srcRect/>
          <a:stretch/>
        </p:blipFill>
        <p:spPr>
          <a:xfrm>
            <a:off x="762000" y="2047875"/>
            <a:ext cx="5048250" cy="3810000"/>
          </a:xfrm>
          <a:prstGeom prst="rect">
            <a:avLst/>
          </a:prstGeom>
          <a:noFill/>
          <a:ln>
            <a:noFill/>
          </a:ln>
        </p:spPr>
      </p:pic>
      <p:sp>
        <p:nvSpPr>
          <p:cNvPr id="177" name="Google Shape;177;p18"/>
          <p:cNvSpPr txBox="1"/>
          <p:nvPr/>
        </p:nvSpPr>
        <p:spPr>
          <a:xfrm>
            <a:off x="1047750" y="471487"/>
            <a:ext cx="4771132"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DỮ LIỆU TƯƠNG TÁC VIDEO</a:t>
            </a:r>
            <a:endParaRPr>
              <a:latin typeface="+mj-lt"/>
            </a:endParaRPr>
          </a:p>
        </p:txBody>
      </p:sp>
      <p:sp>
        <p:nvSpPr>
          <p:cNvPr id="178" name="Google Shape;178;p18"/>
          <p:cNvSpPr txBox="1"/>
          <p:nvPr/>
        </p:nvSpPr>
        <p:spPr>
          <a:xfrm>
            <a:off x="1057275" y="2343150"/>
            <a:ext cx="46805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Nested Data Structure</a:t>
            </a:r>
            <a:endParaRPr>
              <a:latin typeface="+mj-lt"/>
            </a:endParaRPr>
          </a:p>
        </p:txBody>
      </p:sp>
      <p:sp>
        <p:nvSpPr>
          <p:cNvPr id="179" name="Google Shape;179;p18"/>
          <p:cNvSpPr txBox="1"/>
          <p:nvPr/>
        </p:nvSpPr>
        <p:spPr>
          <a:xfrm>
            <a:off x="1057275" y="2819400"/>
            <a:ext cx="445770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Trường 'seq' chứa danh sách các tương tác video lồng nhau, yêu cầu kỹ thuật Flattening để xử lý.</a:t>
            </a:r>
            <a:endParaRPr>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8AF9E710-F484-2908-9BC5-108778B6E54C}"/>
            </a:ext>
          </a:extLst>
        </p:cNvPr>
        <p:cNvGrpSpPr/>
        <p:nvPr/>
      </p:nvGrpSpPr>
      <p:grpSpPr>
        <a:xfrm>
          <a:off x="0" y="0"/>
          <a:ext cx="0" cy="0"/>
          <a:chOff x="0" y="0"/>
          <a:chExt cx="0" cy="0"/>
        </a:xfrm>
      </p:grpSpPr>
      <p:pic>
        <p:nvPicPr>
          <p:cNvPr id="143" name="Google Shape;143;p16" descr="image.png">
            <a:extLst>
              <a:ext uri="{FF2B5EF4-FFF2-40B4-BE49-F238E27FC236}">
                <a16:creationId xmlns:a16="http://schemas.microsoft.com/office/drawing/2014/main" id="{8880B124-729B-8303-947F-D7749E42E73D}"/>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4" name="Google Shape;144;p16" descr="image.png">
            <a:extLst>
              <a:ext uri="{FF2B5EF4-FFF2-40B4-BE49-F238E27FC236}">
                <a16:creationId xmlns:a16="http://schemas.microsoft.com/office/drawing/2014/main" id="{6E72F03A-3A62-FC43-8744-2A6E5EE04E49}"/>
              </a:ext>
            </a:extLst>
          </p:cNvPr>
          <p:cNvPicPr preferRelativeResize="0"/>
          <p:nvPr/>
        </p:nvPicPr>
        <p:blipFill rotWithShape="1">
          <a:blip r:embed="rId4">
            <a:alphaModFix/>
          </a:blip>
          <a:srcRect/>
          <a:stretch/>
        </p:blipFill>
        <p:spPr>
          <a:xfrm>
            <a:off x="762000" y="380999"/>
            <a:ext cx="10668000" cy="875317"/>
          </a:xfrm>
          <a:prstGeom prst="rect">
            <a:avLst/>
          </a:prstGeom>
          <a:noFill/>
          <a:ln>
            <a:noFill/>
          </a:ln>
        </p:spPr>
      </p:pic>
      <p:sp>
        <p:nvSpPr>
          <p:cNvPr id="146" name="Google Shape;146;p16">
            <a:extLst>
              <a:ext uri="{FF2B5EF4-FFF2-40B4-BE49-F238E27FC236}">
                <a16:creationId xmlns:a16="http://schemas.microsoft.com/office/drawing/2014/main" id="{2B14996E-5DC3-F609-BBDA-B74ED493648E}"/>
              </a:ext>
            </a:extLst>
          </p:cNvPr>
          <p:cNvSpPr txBox="1"/>
          <p:nvPr/>
        </p:nvSpPr>
        <p:spPr>
          <a:xfrm>
            <a:off x="1047749" y="471487"/>
            <a:ext cx="10551351" cy="7848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dirty="0">
                <a:solidFill>
                  <a:srgbClr val="00F2FF"/>
                </a:solidFill>
                <a:latin typeface="+mj-lt"/>
                <a:ea typeface="Poppins"/>
                <a:cs typeface="Poppins"/>
                <a:sym typeface="Poppins"/>
              </a:rPr>
              <a:t>PHÂN TÍCH HÀNH VI TƯƠNG TÁC XÃ HỘI (COMMENT.JSON VÀ REPLY.JSON) </a:t>
            </a:r>
            <a:endParaRPr dirty="0">
              <a:latin typeface="+mj-lt"/>
            </a:endParaRPr>
          </a:p>
        </p:txBody>
      </p:sp>
      <p:sp>
        <p:nvSpPr>
          <p:cNvPr id="147" name="Google Shape;147;p16">
            <a:extLst>
              <a:ext uri="{FF2B5EF4-FFF2-40B4-BE49-F238E27FC236}">
                <a16:creationId xmlns:a16="http://schemas.microsoft.com/office/drawing/2014/main" id="{56D21636-079F-F3C9-97E4-07C1EC08BE53}"/>
              </a:ext>
            </a:extLst>
          </p:cNvPr>
          <p:cNvSpPr txBox="1"/>
          <p:nvPr/>
        </p:nvSpPr>
        <p:spPr>
          <a:xfrm>
            <a:off x="762000" y="3295650"/>
            <a:ext cx="5048250" cy="115416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dirty="0">
                <a:solidFill>
                  <a:srgbClr val="00F2FF"/>
                </a:solidFill>
                <a:latin typeface="+mj-lt"/>
                <a:ea typeface="Poppins"/>
                <a:cs typeface="Poppins"/>
                <a:sym typeface="Poppins"/>
              </a:rPr>
              <a:t>4</a:t>
            </a:r>
            <a:r>
              <a:rPr lang="en-US" sz="7500" b="1" i="0" u="none" strike="noStrike" cap="none" dirty="0">
                <a:solidFill>
                  <a:srgbClr val="00F2FF"/>
                </a:solidFill>
                <a:latin typeface="+mj-lt"/>
                <a:ea typeface="Poppins"/>
                <a:cs typeface="Poppins"/>
                <a:sym typeface="Poppins"/>
              </a:rPr>
              <a:t>K</a:t>
            </a:r>
            <a:endParaRPr dirty="0">
              <a:latin typeface="+mj-lt"/>
            </a:endParaRPr>
          </a:p>
        </p:txBody>
      </p:sp>
      <p:sp>
        <p:nvSpPr>
          <p:cNvPr id="148" name="Google Shape;148;p16">
            <a:extLst>
              <a:ext uri="{FF2B5EF4-FFF2-40B4-BE49-F238E27FC236}">
                <a16:creationId xmlns:a16="http://schemas.microsoft.com/office/drawing/2014/main" id="{25B5DB4B-C459-36EF-5857-1B6AE3710393}"/>
              </a:ext>
            </a:extLst>
          </p:cNvPr>
          <p:cNvSpPr txBox="1"/>
          <p:nvPr/>
        </p:nvSpPr>
        <p:spPr>
          <a:xfrm>
            <a:off x="762000" y="4343400"/>
            <a:ext cx="5048250" cy="25391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dirty="0">
                <a:solidFill>
                  <a:srgbClr val="94A3B8"/>
                </a:solidFill>
                <a:latin typeface="+mj-lt"/>
                <a:ea typeface="Lato"/>
                <a:cs typeface="Lato"/>
                <a:sym typeface="Lato"/>
              </a:rPr>
              <a:t>Comments </a:t>
            </a:r>
            <a:endParaRPr dirty="0">
              <a:latin typeface="+mj-lt"/>
            </a:endParaRPr>
          </a:p>
        </p:txBody>
      </p:sp>
      <p:sp>
        <p:nvSpPr>
          <p:cNvPr id="2" name="Google Shape;147;p16">
            <a:extLst>
              <a:ext uri="{FF2B5EF4-FFF2-40B4-BE49-F238E27FC236}">
                <a16:creationId xmlns:a16="http://schemas.microsoft.com/office/drawing/2014/main" id="{9BE778F0-F924-41F6-5F7A-D779C23E4438}"/>
              </a:ext>
            </a:extLst>
          </p:cNvPr>
          <p:cNvSpPr txBox="1"/>
          <p:nvPr/>
        </p:nvSpPr>
        <p:spPr>
          <a:xfrm>
            <a:off x="5810250" y="3316196"/>
            <a:ext cx="5048250" cy="115416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i="0" u="none" strike="noStrike" cap="none" dirty="0">
                <a:solidFill>
                  <a:srgbClr val="00F2FF"/>
                </a:solidFill>
                <a:latin typeface="+mj-lt"/>
                <a:ea typeface="Poppins"/>
                <a:cs typeface="Poppins"/>
                <a:sym typeface="Poppins"/>
              </a:rPr>
              <a:t>330K</a:t>
            </a:r>
            <a:endParaRPr dirty="0">
              <a:latin typeface="+mj-lt"/>
            </a:endParaRPr>
          </a:p>
        </p:txBody>
      </p:sp>
      <p:sp>
        <p:nvSpPr>
          <p:cNvPr id="3" name="Google Shape;148;p16">
            <a:extLst>
              <a:ext uri="{FF2B5EF4-FFF2-40B4-BE49-F238E27FC236}">
                <a16:creationId xmlns:a16="http://schemas.microsoft.com/office/drawing/2014/main" id="{0C427233-68DF-E048-18C6-6D25C5130C3E}"/>
              </a:ext>
            </a:extLst>
          </p:cNvPr>
          <p:cNvSpPr txBox="1"/>
          <p:nvPr/>
        </p:nvSpPr>
        <p:spPr>
          <a:xfrm>
            <a:off x="5810250" y="4346766"/>
            <a:ext cx="5048250" cy="25391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dirty="0">
                <a:solidFill>
                  <a:srgbClr val="94A3B8"/>
                </a:solidFill>
                <a:latin typeface="+mj-lt"/>
                <a:ea typeface="Lato"/>
                <a:cs typeface="Lato"/>
                <a:sym typeface="Lato"/>
              </a:rPr>
              <a:t>Replies </a:t>
            </a:r>
            <a:endParaRPr dirty="0">
              <a:latin typeface="+mj-lt"/>
            </a:endParaRPr>
          </a:p>
        </p:txBody>
      </p:sp>
    </p:spTree>
    <p:extLst>
      <p:ext uri="{BB962C8B-B14F-4D97-AF65-F5344CB8AC3E}">
        <p14:creationId xmlns:p14="http://schemas.microsoft.com/office/powerpoint/2010/main" val="1975509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3" name="Google Shape;193;p20"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sp>
        <p:nvSpPr>
          <p:cNvPr id="194" name="Google Shape;194;p20"/>
          <p:cNvSpPr txBox="1"/>
          <p:nvPr/>
        </p:nvSpPr>
        <p:spPr>
          <a:xfrm>
            <a:off x="1047750" y="471487"/>
            <a:ext cx="5681513"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dirty="0">
                <a:solidFill>
                  <a:srgbClr val="00F2FF"/>
                </a:solidFill>
                <a:latin typeface="+mj-lt"/>
                <a:ea typeface="Poppins"/>
                <a:cs typeface="Poppins"/>
                <a:sym typeface="Poppins"/>
              </a:rPr>
              <a:t>HIỆU SUẤT HỌC TẬP TRUNG BÌNH</a:t>
            </a:r>
            <a:endParaRPr dirty="0">
              <a:latin typeface="+mj-lt"/>
            </a:endParaRPr>
          </a:p>
        </p:txBody>
      </p:sp>
      <p:sp>
        <p:nvSpPr>
          <p:cNvPr id="195" name="Google Shape;195;p20"/>
          <p:cNvSpPr txBox="1"/>
          <p:nvPr/>
        </p:nvSpPr>
        <p:spPr>
          <a:xfrm>
            <a:off x="8236743" y="3952875"/>
            <a:ext cx="3193256"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0B981"/>
                </a:solidFill>
                <a:latin typeface="+mj-lt"/>
                <a:ea typeface="Lato"/>
                <a:cs typeface="Lato"/>
                <a:sym typeface="Lato"/>
              </a:rPr>
              <a:t>Kết luận: Đa số học viên nắm vững kiến thức ngay từ lần thử đầu tiên.</a:t>
            </a:r>
            <a:endParaRPr>
              <a:latin typeface="+mj-lt"/>
            </a:endParaRPr>
          </a:p>
        </p:txBody>
      </p:sp>
      <p:sp>
        <p:nvSpPr>
          <p:cNvPr id="196" name="Google Shape;196;p20"/>
          <p:cNvSpPr txBox="1"/>
          <p:nvPr/>
        </p:nvSpPr>
        <p:spPr>
          <a:xfrm>
            <a:off x="762000" y="3295650"/>
            <a:ext cx="3451621" cy="115416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i="0" u="none" strike="noStrike" cap="none">
                <a:solidFill>
                  <a:srgbClr val="00F2FF"/>
                </a:solidFill>
                <a:latin typeface="+mj-lt"/>
                <a:ea typeface="Poppins"/>
                <a:cs typeface="Poppins"/>
                <a:sym typeface="Poppins"/>
              </a:rPr>
              <a:t>0.82</a:t>
            </a:r>
            <a:endParaRPr>
              <a:latin typeface="+mj-lt"/>
            </a:endParaRPr>
          </a:p>
        </p:txBody>
      </p:sp>
      <p:sp>
        <p:nvSpPr>
          <p:cNvPr id="197" name="Google Shape;197;p20"/>
          <p:cNvSpPr txBox="1"/>
          <p:nvPr/>
        </p:nvSpPr>
        <p:spPr>
          <a:xfrm>
            <a:off x="762000" y="4343400"/>
            <a:ext cx="3451621" cy="25391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94A3B8"/>
                </a:solidFill>
                <a:latin typeface="+mj-lt"/>
                <a:ea typeface="Lato"/>
                <a:cs typeface="Lato"/>
                <a:sym typeface="Lato"/>
              </a:rPr>
              <a:t>Độ chính xác (Accuracy)</a:t>
            </a:r>
            <a:endParaRPr>
              <a:latin typeface="+mj-lt"/>
            </a:endParaRPr>
          </a:p>
        </p:txBody>
      </p:sp>
      <p:sp>
        <p:nvSpPr>
          <p:cNvPr id="198" name="Google Shape;198;p20"/>
          <p:cNvSpPr txBox="1"/>
          <p:nvPr/>
        </p:nvSpPr>
        <p:spPr>
          <a:xfrm>
            <a:off x="4785121" y="3295650"/>
            <a:ext cx="3451621" cy="115416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i="0" u="none" strike="noStrike" cap="none">
                <a:solidFill>
                  <a:srgbClr val="00F2FF"/>
                </a:solidFill>
                <a:latin typeface="+mj-lt"/>
                <a:ea typeface="Poppins"/>
                <a:cs typeface="Poppins"/>
                <a:sym typeface="Poppins"/>
              </a:rPr>
              <a:t>1.0</a:t>
            </a:r>
            <a:endParaRPr>
              <a:latin typeface="+mj-lt"/>
            </a:endParaRPr>
          </a:p>
        </p:txBody>
      </p:sp>
      <p:sp>
        <p:nvSpPr>
          <p:cNvPr id="199" name="Google Shape;199;p20"/>
          <p:cNvSpPr txBox="1"/>
          <p:nvPr/>
        </p:nvSpPr>
        <p:spPr>
          <a:xfrm>
            <a:off x="4785121" y="4343400"/>
            <a:ext cx="3451621" cy="25391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94A3B8"/>
                </a:solidFill>
                <a:latin typeface="+mj-lt"/>
                <a:ea typeface="Lato"/>
                <a:cs typeface="Lato"/>
                <a:sym typeface="Lato"/>
              </a:rPr>
              <a:t>Số lần thử trung bình</a:t>
            </a:r>
            <a:endParaRPr>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8" name="Google Shape;208;p21"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pic>
        <p:nvPicPr>
          <p:cNvPr id="209" name="Google Shape;209;p21" descr="image.png"/>
          <p:cNvPicPr preferRelativeResize="0"/>
          <p:nvPr/>
        </p:nvPicPr>
        <p:blipFill rotWithShape="1">
          <a:blip r:embed="rId5">
            <a:alphaModFix/>
          </a:blip>
          <a:srcRect/>
          <a:stretch/>
        </p:blipFill>
        <p:spPr>
          <a:xfrm>
            <a:off x="762000" y="3200400"/>
            <a:ext cx="5048250" cy="1504950"/>
          </a:xfrm>
          <a:prstGeom prst="rect">
            <a:avLst/>
          </a:prstGeom>
          <a:noFill/>
          <a:ln>
            <a:noFill/>
          </a:ln>
        </p:spPr>
      </p:pic>
      <p:sp>
        <p:nvSpPr>
          <p:cNvPr id="210" name="Google Shape;210;p21"/>
          <p:cNvSpPr txBox="1"/>
          <p:nvPr/>
        </p:nvSpPr>
        <p:spPr>
          <a:xfrm>
            <a:off x="1047750" y="471487"/>
            <a:ext cx="3737223"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ĐẶC ĐIỂM XEM VIDEO</a:t>
            </a:r>
            <a:endParaRPr>
              <a:latin typeface="+mj-lt"/>
            </a:endParaRPr>
          </a:p>
        </p:txBody>
      </p:sp>
      <p:sp>
        <p:nvSpPr>
          <p:cNvPr id="211" name="Google Shape;211;p21"/>
          <p:cNvSpPr txBox="1"/>
          <p:nvPr/>
        </p:nvSpPr>
        <p:spPr>
          <a:xfrm>
            <a:off x="1057275" y="3495675"/>
            <a:ext cx="46805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Lệch phải (Long-tail)</a:t>
            </a:r>
            <a:endParaRPr>
              <a:latin typeface="+mj-lt"/>
            </a:endParaRPr>
          </a:p>
        </p:txBody>
      </p:sp>
      <p:sp>
        <p:nvSpPr>
          <p:cNvPr id="212" name="Google Shape;212;p21"/>
          <p:cNvSpPr txBox="1"/>
          <p:nvPr/>
        </p:nvSpPr>
        <p:spPr>
          <a:xfrm>
            <a:off x="1057275" y="3971925"/>
            <a:ext cx="445770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Median thấp nhưng Mean cao cho thấy phân phối dữ liệu bị kéo dài bởi một nhóm nhỏ người dùng cực kỳ năng nổ.</a:t>
            </a:r>
            <a:endParaRPr>
              <a:latin typeface="+mj-lt"/>
            </a:endParaRPr>
          </a:p>
        </p:txBody>
      </p:sp>
      <p:pic>
        <p:nvPicPr>
          <p:cNvPr id="3" name="Picture 2">
            <a:extLst>
              <a:ext uri="{FF2B5EF4-FFF2-40B4-BE49-F238E27FC236}">
                <a16:creationId xmlns:a16="http://schemas.microsoft.com/office/drawing/2014/main" id="{2A3ACD1B-8CF2-D6B5-1724-12B48FC1BBEB}"/>
              </a:ext>
            </a:extLst>
          </p:cNvPr>
          <p:cNvPicPr>
            <a:picLocks noChangeAspect="1"/>
          </p:cNvPicPr>
          <p:nvPr/>
        </p:nvPicPr>
        <p:blipFill>
          <a:blip r:embed="rId6"/>
          <a:stretch>
            <a:fillRect/>
          </a:stretch>
        </p:blipFill>
        <p:spPr>
          <a:xfrm>
            <a:off x="6096000" y="2221668"/>
            <a:ext cx="5664649" cy="35005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Google Shape;22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3" name="Google Shape;223;p22" descr="image.png"/>
          <p:cNvPicPr preferRelativeResize="0"/>
          <p:nvPr/>
        </p:nvPicPr>
        <p:blipFill rotWithShape="1">
          <a:blip r:embed="rId4">
            <a:alphaModFix/>
          </a:blip>
          <a:srcRect/>
          <a:stretch/>
        </p:blipFill>
        <p:spPr>
          <a:xfrm>
            <a:off x="762000" y="571500"/>
            <a:ext cx="4572000" cy="666750"/>
          </a:xfrm>
          <a:prstGeom prst="rect">
            <a:avLst/>
          </a:prstGeom>
          <a:noFill/>
          <a:ln>
            <a:noFill/>
          </a:ln>
        </p:spPr>
      </p:pic>
      <p:sp>
        <p:nvSpPr>
          <p:cNvPr id="225" name="Google Shape;225;p22"/>
          <p:cNvSpPr txBox="1"/>
          <p:nvPr/>
        </p:nvSpPr>
        <p:spPr>
          <a:xfrm>
            <a:off x="1047750" y="533400"/>
            <a:ext cx="4000500"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HÌNH DÁNG PHÂN PHỐI</a:t>
            </a:r>
            <a:endParaRPr>
              <a:latin typeface="+mj-lt"/>
            </a:endParaRPr>
          </a:p>
        </p:txBody>
      </p:sp>
      <p:sp>
        <p:nvSpPr>
          <p:cNvPr id="226" name="Google Shape;226;p22"/>
          <p:cNvSpPr txBox="1"/>
          <p:nvPr/>
        </p:nvSpPr>
        <p:spPr>
          <a:xfrm>
            <a:off x="1067990" y="1619250"/>
            <a:ext cx="4266009"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E2E8F0"/>
                </a:solidFill>
                <a:latin typeface="+mj-lt"/>
                <a:ea typeface="Lato"/>
                <a:cs typeface="Lato"/>
                <a:sym typeface="Lato"/>
              </a:rPr>
              <a:t>Đa số người dùng hoạt động rất ít.</a:t>
            </a:r>
            <a:endParaRPr>
              <a:latin typeface="+mj-lt"/>
            </a:endParaRPr>
          </a:p>
        </p:txBody>
      </p:sp>
      <p:sp>
        <p:nvSpPr>
          <p:cNvPr id="227" name="Google Shape;227;p22"/>
          <p:cNvSpPr txBox="1"/>
          <p:nvPr/>
        </p:nvSpPr>
        <p:spPr>
          <a:xfrm>
            <a:off x="1067990" y="2066925"/>
            <a:ext cx="4266009"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E2E8F0"/>
                </a:solidFill>
                <a:latin typeface="+mj-lt"/>
                <a:ea typeface="Lato"/>
                <a:cs typeface="Lato"/>
                <a:sym typeface="Lato"/>
              </a:rPr>
              <a:t>Nhóm "Power Users" tạo ra nhiễu về thống kê trung bình.</a:t>
            </a:r>
            <a:endParaRPr>
              <a:latin typeface="+mj-lt"/>
            </a:endParaRPr>
          </a:p>
        </p:txBody>
      </p:sp>
      <p:pic>
        <p:nvPicPr>
          <p:cNvPr id="228" name="Google Shape;228;p22" descr="image.png"/>
          <p:cNvPicPr preferRelativeResize="0"/>
          <p:nvPr/>
        </p:nvPicPr>
        <p:blipFill rotWithShape="1">
          <a:blip r:embed="rId5">
            <a:alphaModFix/>
          </a:blip>
          <a:srcRect/>
          <a:stretch/>
        </p:blipFill>
        <p:spPr>
          <a:xfrm>
            <a:off x="762000" y="1647825"/>
            <a:ext cx="163115" cy="247650"/>
          </a:xfrm>
          <a:prstGeom prst="rect">
            <a:avLst/>
          </a:prstGeom>
          <a:noFill/>
          <a:ln>
            <a:noFill/>
          </a:ln>
        </p:spPr>
      </p:pic>
      <p:pic>
        <p:nvPicPr>
          <p:cNvPr id="229" name="Google Shape;229;p22" descr="image.png"/>
          <p:cNvPicPr preferRelativeResize="0"/>
          <p:nvPr/>
        </p:nvPicPr>
        <p:blipFill rotWithShape="1">
          <a:blip r:embed="rId6">
            <a:alphaModFix/>
          </a:blip>
          <a:srcRect/>
          <a:stretch/>
        </p:blipFill>
        <p:spPr>
          <a:xfrm>
            <a:off x="762000" y="2095500"/>
            <a:ext cx="163115" cy="247650"/>
          </a:xfrm>
          <a:prstGeom prst="rect">
            <a:avLst/>
          </a:prstGeom>
          <a:noFill/>
          <a:ln>
            <a:noFill/>
          </a:ln>
        </p:spPr>
      </p:pic>
      <p:pic>
        <p:nvPicPr>
          <p:cNvPr id="5" name="Picture 4">
            <a:extLst>
              <a:ext uri="{FF2B5EF4-FFF2-40B4-BE49-F238E27FC236}">
                <a16:creationId xmlns:a16="http://schemas.microsoft.com/office/drawing/2014/main" id="{F47BA6E8-A395-31C0-AC85-D899E43AD66A}"/>
              </a:ext>
            </a:extLst>
          </p:cNvPr>
          <p:cNvPicPr>
            <a:picLocks noChangeAspect="1"/>
          </p:cNvPicPr>
          <p:nvPr/>
        </p:nvPicPr>
        <p:blipFill>
          <a:blip r:embed="rId7"/>
          <a:stretch>
            <a:fillRect/>
          </a:stretch>
        </p:blipFill>
        <p:spPr>
          <a:xfrm>
            <a:off x="6401989" y="1002255"/>
            <a:ext cx="5045797" cy="48534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8" name="Google Shape;238;p23" descr="image.png"/>
          <p:cNvPicPr preferRelativeResize="0"/>
          <p:nvPr/>
        </p:nvPicPr>
        <p:blipFill rotWithShape="1">
          <a:blip r:embed="rId4">
            <a:alphaModFix/>
          </a:blip>
          <a:srcRect/>
          <a:stretch/>
        </p:blipFill>
        <p:spPr>
          <a:xfrm>
            <a:off x="2286000" y="1247775"/>
            <a:ext cx="7620000" cy="5229225"/>
          </a:xfrm>
          <a:prstGeom prst="rect">
            <a:avLst/>
          </a:prstGeom>
          <a:noFill/>
          <a:ln>
            <a:noFill/>
          </a:ln>
        </p:spPr>
      </p:pic>
      <p:sp>
        <p:nvSpPr>
          <p:cNvPr id="239" name="Google Shape;239;p23"/>
          <p:cNvSpPr txBox="1"/>
          <p:nvPr/>
        </p:nvSpPr>
        <p:spPr>
          <a:xfrm>
            <a:off x="1902979" y="381000"/>
            <a:ext cx="8385891" cy="581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00F2FF"/>
                </a:solidFill>
                <a:latin typeface="+mj-lt"/>
                <a:ea typeface="Lato"/>
                <a:cs typeface="Lato"/>
                <a:sym typeface="Lato"/>
              </a:rPr>
              <a:t>HIỆN TƯỢNG ĐỈNH KÉP (BIMODAL)</a:t>
            </a:r>
            <a:endParaRPr>
              <a:latin typeface="+mj-lt"/>
            </a:endParaRPr>
          </a:p>
        </p:txBody>
      </p:sp>
      <p:sp>
        <p:nvSpPr>
          <p:cNvPr id="240" name="Google Shape;240;p23"/>
          <p:cNvSpPr txBox="1"/>
          <p:nvPr/>
        </p:nvSpPr>
        <p:spPr>
          <a:xfrm>
            <a:off x="2581275" y="1543050"/>
            <a:ext cx="7029450"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FFFFF"/>
                </a:solidFill>
                <a:latin typeface="+mj-lt"/>
                <a:ea typeface="Lato"/>
                <a:cs typeface="Lato"/>
                <a:sym typeface="Lato"/>
              </a:rPr>
              <a:t>Biểu đồ Accuracy cho thấy 2 đỉnh rõ rệt tại 0.0 và 1.0, chứng minh sự phân cực giữa nhóm học viên yếu và nhóm học viên xuất sắc.</a:t>
            </a:r>
            <a:endParaRPr>
              <a:latin typeface="+mj-lt"/>
            </a:endParaRPr>
          </a:p>
        </p:txBody>
      </p:sp>
      <p:pic>
        <p:nvPicPr>
          <p:cNvPr id="3" name="Picture 2">
            <a:extLst>
              <a:ext uri="{FF2B5EF4-FFF2-40B4-BE49-F238E27FC236}">
                <a16:creationId xmlns:a16="http://schemas.microsoft.com/office/drawing/2014/main" id="{F5EDF0D9-E416-7E20-5237-0255C1503F24}"/>
              </a:ext>
            </a:extLst>
          </p:cNvPr>
          <p:cNvPicPr>
            <a:picLocks noChangeAspect="1"/>
          </p:cNvPicPr>
          <p:nvPr/>
        </p:nvPicPr>
        <p:blipFill>
          <a:blip r:embed="rId5"/>
          <a:stretch>
            <a:fillRect/>
          </a:stretch>
        </p:blipFill>
        <p:spPr>
          <a:xfrm>
            <a:off x="3835334" y="2283746"/>
            <a:ext cx="4320914" cy="40313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9" name="Google Shape;249;p24"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sp>
        <p:nvSpPr>
          <p:cNvPr id="250" name="Google Shape;250;p24"/>
          <p:cNvSpPr txBox="1"/>
          <p:nvPr/>
        </p:nvSpPr>
        <p:spPr>
          <a:xfrm>
            <a:off x="1047750" y="528637"/>
            <a:ext cx="4468117"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PHÂN TÍCH TƯƠNG QUAN</a:t>
            </a:r>
            <a:endParaRPr>
              <a:latin typeface="+mj-lt"/>
            </a:endParaRPr>
          </a:p>
        </p:txBody>
      </p:sp>
      <p:pic>
        <p:nvPicPr>
          <p:cNvPr id="5" name="Picture 4">
            <a:extLst>
              <a:ext uri="{FF2B5EF4-FFF2-40B4-BE49-F238E27FC236}">
                <a16:creationId xmlns:a16="http://schemas.microsoft.com/office/drawing/2014/main" id="{50E918EC-13E4-632B-2647-C7A921BBB610}"/>
              </a:ext>
            </a:extLst>
          </p:cNvPr>
          <p:cNvPicPr>
            <a:picLocks noChangeAspect="1"/>
          </p:cNvPicPr>
          <p:nvPr/>
        </p:nvPicPr>
        <p:blipFill>
          <a:blip r:embed="rId5"/>
          <a:stretch>
            <a:fillRect/>
          </a:stretch>
        </p:blipFill>
        <p:spPr>
          <a:xfrm>
            <a:off x="2676395" y="1195387"/>
            <a:ext cx="6839209" cy="535702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275" name="Google Shape;275;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6" name="Google Shape;276;p25"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pic>
        <p:nvPicPr>
          <p:cNvPr id="277" name="Google Shape;277;p25" descr="image.png"/>
          <p:cNvPicPr preferRelativeResize="0"/>
          <p:nvPr/>
        </p:nvPicPr>
        <p:blipFill rotWithShape="1">
          <a:blip r:embed="rId5">
            <a:alphaModFix/>
          </a:blip>
          <a:srcRect/>
          <a:stretch/>
        </p:blipFill>
        <p:spPr>
          <a:xfrm>
            <a:off x="762000" y="2047875"/>
            <a:ext cx="5048250" cy="3810000"/>
          </a:xfrm>
          <a:prstGeom prst="rect">
            <a:avLst/>
          </a:prstGeom>
          <a:noFill/>
          <a:ln>
            <a:noFill/>
          </a:ln>
        </p:spPr>
      </p:pic>
      <p:sp>
        <p:nvSpPr>
          <p:cNvPr id="279" name="Google Shape;279;p25"/>
          <p:cNvSpPr txBox="1"/>
          <p:nvPr/>
        </p:nvSpPr>
        <p:spPr>
          <a:xfrm>
            <a:off x="1047750" y="471487"/>
            <a:ext cx="5840462"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dirty="0">
                <a:solidFill>
                  <a:srgbClr val="00F2FF"/>
                </a:solidFill>
                <a:latin typeface="+mj-lt"/>
                <a:ea typeface="Poppins"/>
                <a:cs typeface="Poppins"/>
                <a:sym typeface="Poppins"/>
              </a:rPr>
              <a:t>MỐI QUAN HỆ GIỮA CÁC HÀNH VI</a:t>
            </a:r>
            <a:endParaRPr dirty="0">
              <a:latin typeface="+mj-lt"/>
            </a:endParaRPr>
          </a:p>
        </p:txBody>
      </p:sp>
      <p:sp>
        <p:nvSpPr>
          <p:cNvPr id="280" name="Google Shape;280;p25"/>
          <p:cNvSpPr txBox="1"/>
          <p:nvPr/>
        </p:nvSpPr>
        <p:spPr>
          <a:xfrm>
            <a:off x="1123950" y="2343150"/>
            <a:ext cx="4610576"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Weak Correlation</a:t>
            </a:r>
            <a:endParaRPr>
              <a:latin typeface="+mj-lt"/>
            </a:endParaRPr>
          </a:p>
        </p:txBody>
      </p:sp>
      <p:sp>
        <p:nvSpPr>
          <p:cNvPr id="281" name="Google Shape;281;p25"/>
          <p:cNvSpPr txBox="1"/>
          <p:nvPr/>
        </p:nvSpPr>
        <p:spPr>
          <a:xfrm>
            <a:off x="1123950" y="2819400"/>
            <a:ext cx="4391025" cy="6232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err="1">
                <a:solidFill>
                  <a:srgbClr val="94A3B8"/>
                </a:solidFill>
                <a:latin typeface="+mj-lt"/>
                <a:ea typeface="Lato"/>
                <a:cs typeface="Lato"/>
                <a:sym typeface="Lato"/>
              </a:rPr>
              <a:t>Dữ</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liệu</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cho</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thấy</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tương</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quan</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yếu</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giữa</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việc</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xem</a:t>
            </a:r>
            <a:r>
              <a:rPr lang="en-US" sz="1350" b="0" i="0" u="none" strike="noStrike" cap="none" dirty="0">
                <a:solidFill>
                  <a:srgbClr val="94A3B8"/>
                </a:solidFill>
                <a:latin typeface="+mj-lt"/>
                <a:ea typeface="Lato"/>
                <a:cs typeface="Lato"/>
                <a:sym typeface="Lato"/>
              </a:rPr>
              <a:t> video </a:t>
            </a:r>
            <a:r>
              <a:rPr lang="en-US" sz="1350" b="0" i="0" u="none" strike="noStrike" cap="none" dirty="0" err="1">
                <a:solidFill>
                  <a:srgbClr val="94A3B8"/>
                </a:solidFill>
                <a:latin typeface="+mj-lt"/>
                <a:ea typeface="Lato"/>
                <a:cs typeface="Lato"/>
                <a:sym typeface="Lato"/>
              </a:rPr>
              <a:t>và</a:t>
            </a:r>
            <a:r>
              <a:rPr lang="en-US" sz="1350"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làm</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bài</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tập</a:t>
            </a:r>
            <a:r>
              <a:rPr lang="en-US" sz="1350" b="0" i="0" u="none" strike="noStrike" cap="none" dirty="0">
                <a:solidFill>
                  <a:srgbClr val="94A3B8"/>
                </a:solidFill>
                <a:latin typeface="+mj-lt"/>
                <a:ea typeface="Lato"/>
                <a:cs typeface="Lato"/>
                <a:sym typeface="Lato"/>
              </a:rPr>
              <a:t>. Xem </a:t>
            </a:r>
            <a:r>
              <a:rPr lang="en-US" sz="1350" b="0" i="0" u="none" strike="noStrike" cap="none" dirty="0" err="1">
                <a:solidFill>
                  <a:srgbClr val="94A3B8"/>
                </a:solidFill>
                <a:latin typeface="+mj-lt"/>
                <a:ea typeface="Lato"/>
                <a:cs typeface="Lato"/>
                <a:sym typeface="Lato"/>
              </a:rPr>
              <a:t>nhiều</a:t>
            </a:r>
            <a:r>
              <a:rPr lang="en-US" sz="1350" b="0" i="0" u="none" strike="noStrike" cap="none" dirty="0">
                <a:solidFill>
                  <a:srgbClr val="94A3B8"/>
                </a:solidFill>
                <a:latin typeface="+mj-lt"/>
                <a:ea typeface="Lato"/>
                <a:cs typeface="Lato"/>
                <a:sym typeface="Lato"/>
              </a:rPr>
              <a:t> video </a:t>
            </a:r>
            <a:r>
              <a:rPr lang="en-US" sz="1350" b="0" i="0" u="none" strike="noStrike" cap="none" dirty="0" err="1">
                <a:solidFill>
                  <a:srgbClr val="94A3B8"/>
                </a:solidFill>
                <a:latin typeface="+mj-lt"/>
                <a:ea typeface="Lato"/>
                <a:cs typeface="Lato"/>
                <a:sym typeface="Lato"/>
              </a:rPr>
              <a:t>không</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đảm</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bảo</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rằng</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người</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học</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sẽ</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làm</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nhiều</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bài</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tập</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hơn</a:t>
            </a:r>
            <a:endParaRPr dirty="0">
              <a:latin typeface="+mj-lt"/>
            </a:endParaRPr>
          </a:p>
        </p:txBody>
      </p:sp>
      <p:pic>
        <p:nvPicPr>
          <p:cNvPr id="3" name="Picture 2">
            <a:extLst>
              <a:ext uri="{FF2B5EF4-FFF2-40B4-BE49-F238E27FC236}">
                <a16:creationId xmlns:a16="http://schemas.microsoft.com/office/drawing/2014/main" id="{AD4F590B-4B8A-F921-C5B5-461C1E8D8D24}"/>
              </a:ext>
            </a:extLst>
          </p:cNvPr>
          <p:cNvPicPr>
            <a:picLocks noChangeAspect="1"/>
          </p:cNvPicPr>
          <p:nvPr/>
        </p:nvPicPr>
        <p:blipFill>
          <a:blip r:embed="rId6"/>
          <a:stretch>
            <a:fillRect/>
          </a:stretch>
        </p:blipFill>
        <p:spPr>
          <a:xfrm>
            <a:off x="6293106" y="2047875"/>
            <a:ext cx="5105212" cy="381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91" name="Google Shape;291;p26"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pic>
        <p:nvPicPr>
          <p:cNvPr id="293" name="Google Shape;293;p26" descr="image.png"/>
          <p:cNvPicPr preferRelativeResize="0"/>
          <p:nvPr/>
        </p:nvPicPr>
        <p:blipFill rotWithShape="1">
          <a:blip r:embed="rId5">
            <a:alphaModFix/>
          </a:blip>
          <a:srcRect/>
          <a:stretch/>
        </p:blipFill>
        <p:spPr>
          <a:xfrm>
            <a:off x="6381750" y="2047875"/>
            <a:ext cx="5048250" cy="3810000"/>
          </a:xfrm>
          <a:prstGeom prst="rect">
            <a:avLst/>
          </a:prstGeom>
          <a:noFill/>
          <a:ln>
            <a:noFill/>
          </a:ln>
        </p:spPr>
      </p:pic>
      <p:sp>
        <p:nvSpPr>
          <p:cNvPr id="294" name="Google Shape;294;p26"/>
          <p:cNvSpPr txBox="1"/>
          <p:nvPr/>
        </p:nvSpPr>
        <p:spPr>
          <a:xfrm>
            <a:off x="1047750" y="471487"/>
            <a:ext cx="5721846"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NHẬN DIỆN NGOẠI LỆ (OUTLIERS)</a:t>
            </a:r>
            <a:endParaRPr>
              <a:latin typeface="+mj-lt"/>
            </a:endParaRPr>
          </a:p>
        </p:txBody>
      </p:sp>
      <p:sp>
        <p:nvSpPr>
          <p:cNvPr id="296" name="Google Shape;296;p26"/>
          <p:cNvSpPr txBox="1"/>
          <p:nvPr/>
        </p:nvSpPr>
        <p:spPr>
          <a:xfrm>
            <a:off x="6677025" y="2343150"/>
            <a:ext cx="46805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Xử lý Outliers</a:t>
            </a:r>
            <a:endParaRPr>
              <a:latin typeface="+mj-lt"/>
            </a:endParaRPr>
          </a:p>
        </p:txBody>
      </p:sp>
      <p:sp>
        <p:nvSpPr>
          <p:cNvPr id="297" name="Google Shape;297;p26"/>
          <p:cNvSpPr txBox="1"/>
          <p:nvPr/>
        </p:nvSpPr>
        <p:spPr>
          <a:xfrm>
            <a:off x="6677025" y="2819400"/>
            <a:ext cx="4457700" cy="6232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Sự tồn tại của các học viên "siêu cấp" có thể làm sai lệch mô hình. Nhóm cần thực hiện phương pháp loại bỏ hoặc biến đổi để trung hòa các điểm dữ liệu này.</a:t>
            </a:r>
            <a:endParaRPr>
              <a:latin typeface="+mj-lt"/>
            </a:endParaRPr>
          </a:p>
        </p:txBody>
      </p:sp>
      <p:pic>
        <p:nvPicPr>
          <p:cNvPr id="3" name="Picture 2">
            <a:extLst>
              <a:ext uri="{FF2B5EF4-FFF2-40B4-BE49-F238E27FC236}">
                <a16:creationId xmlns:a16="http://schemas.microsoft.com/office/drawing/2014/main" id="{00BE98C2-CB2B-E9BB-00FB-B9FFC2D8909F}"/>
              </a:ext>
            </a:extLst>
          </p:cNvPr>
          <p:cNvPicPr>
            <a:picLocks noChangeAspect="1"/>
          </p:cNvPicPr>
          <p:nvPr/>
        </p:nvPicPr>
        <p:blipFill>
          <a:blip r:embed="rId6"/>
          <a:stretch>
            <a:fillRect/>
          </a:stretch>
        </p:blipFill>
        <p:spPr>
          <a:xfrm>
            <a:off x="834390" y="1910297"/>
            <a:ext cx="4599140" cy="40788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5" name="Google Shape;305;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6" name="Google Shape;306;p27"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pic>
        <p:nvPicPr>
          <p:cNvPr id="307" name="Google Shape;307;p27" descr="image.png"/>
          <p:cNvPicPr preferRelativeResize="0"/>
          <p:nvPr/>
        </p:nvPicPr>
        <p:blipFill rotWithShape="1">
          <a:blip r:embed="rId5">
            <a:alphaModFix/>
          </a:blip>
          <a:srcRect/>
          <a:stretch/>
        </p:blipFill>
        <p:spPr>
          <a:xfrm>
            <a:off x="762000" y="2047875"/>
            <a:ext cx="4010416" cy="3810000"/>
          </a:xfrm>
          <a:prstGeom prst="rect">
            <a:avLst/>
          </a:prstGeom>
          <a:noFill/>
          <a:ln>
            <a:noFill/>
          </a:ln>
        </p:spPr>
      </p:pic>
      <p:sp>
        <p:nvSpPr>
          <p:cNvPr id="309" name="Google Shape;309;p27"/>
          <p:cNvSpPr txBox="1"/>
          <p:nvPr/>
        </p:nvSpPr>
        <p:spPr>
          <a:xfrm>
            <a:off x="1047750" y="471487"/>
            <a:ext cx="4601021"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TRỰC QUAN HÓA BOXPLOT</a:t>
            </a:r>
            <a:endParaRPr>
              <a:latin typeface="+mj-lt"/>
            </a:endParaRPr>
          </a:p>
        </p:txBody>
      </p:sp>
      <p:sp>
        <p:nvSpPr>
          <p:cNvPr id="310" name="Google Shape;310;p27"/>
          <p:cNvSpPr txBox="1"/>
          <p:nvPr/>
        </p:nvSpPr>
        <p:spPr>
          <a:xfrm>
            <a:off x="1057275" y="2343150"/>
            <a:ext cx="46805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Phương pháp Interquartile Range</a:t>
            </a:r>
            <a:endParaRPr>
              <a:latin typeface="+mj-lt"/>
            </a:endParaRPr>
          </a:p>
        </p:txBody>
      </p:sp>
      <p:sp>
        <p:nvSpPr>
          <p:cNvPr id="311" name="Google Shape;311;p27"/>
          <p:cNvSpPr txBox="1"/>
          <p:nvPr/>
        </p:nvSpPr>
        <p:spPr>
          <a:xfrm>
            <a:off x="1057275" y="2819400"/>
            <a:ext cx="3427043" cy="6232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94A3B8"/>
                </a:solidFill>
                <a:latin typeface="+mj-lt"/>
                <a:ea typeface="Lato"/>
                <a:cs typeface="Lato"/>
                <a:sym typeface="Lato"/>
              </a:rPr>
              <a:t>Boxplot </a:t>
            </a:r>
            <a:r>
              <a:rPr lang="en-US" sz="1350" b="0" i="0" u="none" strike="noStrike" cap="none" dirty="0" err="1">
                <a:solidFill>
                  <a:srgbClr val="94A3B8"/>
                </a:solidFill>
                <a:latin typeface="+mj-lt"/>
                <a:ea typeface="Lato"/>
                <a:cs typeface="Lato"/>
                <a:sym typeface="Lato"/>
              </a:rPr>
              <a:t>giúp</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xác</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định</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chính</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xác</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các</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điểm</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nằm</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ngoài</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râu</a:t>
            </a:r>
            <a:r>
              <a:rPr lang="en-US" sz="1350" b="0" i="0" u="none" strike="noStrike" cap="none" dirty="0">
                <a:solidFill>
                  <a:srgbClr val="94A3B8"/>
                </a:solidFill>
                <a:latin typeface="+mj-lt"/>
                <a:ea typeface="Lato"/>
                <a:cs typeface="Lato"/>
                <a:sym typeface="Lato"/>
              </a:rPr>
              <a:t> (whiskers), </a:t>
            </a:r>
            <a:r>
              <a:rPr lang="en-US" sz="1350" b="0" i="0" u="none" strike="noStrike" cap="none" dirty="0" err="1">
                <a:solidFill>
                  <a:srgbClr val="94A3B8"/>
                </a:solidFill>
                <a:latin typeface="+mj-lt"/>
                <a:ea typeface="Lato"/>
                <a:cs typeface="Lato"/>
                <a:sym typeface="Lato"/>
              </a:rPr>
              <a:t>từ</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đó</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xác</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định</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ngưỡng</a:t>
            </a:r>
            <a:r>
              <a:rPr lang="en-US" sz="1350" b="0" i="0" u="none" strike="noStrike" cap="none" dirty="0">
                <a:solidFill>
                  <a:srgbClr val="94A3B8"/>
                </a:solidFill>
                <a:latin typeface="+mj-lt"/>
                <a:ea typeface="Lato"/>
                <a:cs typeface="Lato"/>
                <a:sym typeface="Lato"/>
              </a:rPr>
              <a:t> Outlier </a:t>
            </a:r>
            <a:r>
              <a:rPr lang="en-US" sz="1350" b="0" i="0" u="none" strike="noStrike" cap="none" dirty="0" err="1">
                <a:solidFill>
                  <a:srgbClr val="94A3B8"/>
                </a:solidFill>
                <a:latin typeface="+mj-lt"/>
                <a:ea typeface="Lato"/>
                <a:cs typeface="Lato"/>
                <a:sym typeface="Lato"/>
              </a:rPr>
              <a:t>cho</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từng</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biến</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đặc</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trưng</a:t>
            </a:r>
            <a:r>
              <a:rPr lang="en-US" sz="1350" b="0" i="0" u="none" strike="noStrike" cap="none" dirty="0">
                <a:solidFill>
                  <a:srgbClr val="94A3B8"/>
                </a:solidFill>
                <a:latin typeface="+mj-lt"/>
                <a:ea typeface="Lato"/>
                <a:cs typeface="Lato"/>
                <a:sym typeface="Lato"/>
              </a:rPr>
              <a:t>.</a:t>
            </a:r>
            <a:endParaRPr dirty="0">
              <a:latin typeface="+mj-lt"/>
            </a:endParaRPr>
          </a:p>
        </p:txBody>
      </p:sp>
      <p:pic>
        <p:nvPicPr>
          <p:cNvPr id="3" name="Picture 2">
            <a:extLst>
              <a:ext uri="{FF2B5EF4-FFF2-40B4-BE49-F238E27FC236}">
                <a16:creationId xmlns:a16="http://schemas.microsoft.com/office/drawing/2014/main" id="{7C48AE0C-B63B-E612-9305-F6663B566BE3}"/>
              </a:ext>
            </a:extLst>
          </p:cNvPr>
          <p:cNvPicPr>
            <a:picLocks noChangeAspect="1"/>
          </p:cNvPicPr>
          <p:nvPr/>
        </p:nvPicPr>
        <p:blipFill>
          <a:blip r:embed="rId6"/>
          <a:stretch>
            <a:fillRect/>
          </a:stretch>
        </p:blipFill>
        <p:spPr>
          <a:xfrm>
            <a:off x="5049873" y="1926500"/>
            <a:ext cx="6912798" cy="40527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pic>
        <p:nvPicPr>
          <p:cNvPr id="320" name="Google Shape;320;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1" name="Google Shape;321;p28"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pic>
        <p:nvPicPr>
          <p:cNvPr id="322" name="Google Shape;322;p28" descr="image.png"/>
          <p:cNvPicPr preferRelativeResize="0"/>
          <p:nvPr/>
        </p:nvPicPr>
        <p:blipFill rotWithShape="1">
          <a:blip r:embed="rId5">
            <a:alphaModFix/>
          </a:blip>
          <a:srcRect/>
          <a:stretch/>
        </p:blipFill>
        <p:spPr>
          <a:xfrm>
            <a:off x="762000" y="3200400"/>
            <a:ext cx="3429000" cy="1504950"/>
          </a:xfrm>
          <a:prstGeom prst="rect">
            <a:avLst/>
          </a:prstGeom>
          <a:noFill/>
          <a:ln>
            <a:noFill/>
          </a:ln>
        </p:spPr>
      </p:pic>
      <p:pic>
        <p:nvPicPr>
          <p:cNvPr id="323" name="Google Shape;323;p28" descr="image.png"/>
          <p:cNvPicPr preferRelativeResize="0"/>
          <p:nvPr/>
        </p:nvPicPr>
        <p:blipFill rotWithShape="1">
          <a:blip r:embed="rId5">
            <a:alphaModFix/>
          </a:blip>
          <a:srcRect/>
          <a:stretch/>
        </p:blipFill>
        <p:spPr>
          <a:xfrm>
            <a:off x="4381500" y="3200400"/>
            <a:ext cx="3429000" cy="1504950"/>
          </a:xfrm>
          <a:prstGeom prst="rect">
            <a:avLst/>
          </a:prstGeom>
          <a:noFill/>
          <a:ln>
            <a:noFill/>
          </a:ln>
        </p:spPr>
      </p:pic>
      <p:pic>
        <p:nvPicPr>
          <p:cNvPr id="324" name="Google Shape;324;p28" descr="image.png"/>
          <p:cNvPicPr preferRelativeResize="0"/>
          <p:nvPr/>
        </p:nvPicPr>
        <p:blipFill rotWithShape="1">
          <a:blip r:embed="rId5">
            <a:alphaModFix/>
          </a:blip>
          <a:srcRect/>
          <a:stretch/>
        </p:blipFill>
        <p:spPr>
          <a:xfrm>
            <a:off x="8001000" y="3200400"/>
            <a:ext cx="3429000" cy="1504950"/>
          </a:xfrm>
          <a:prstGeom prst="rect">
            <a:avLst/>
          </a:prstGeom>
          <a:noFill/>
          <a:ln>
            <a:noFill/>
          </a:ln>
        </p:spPr>
      </p:pic>
      <p:sp>
        <p:nvSpPr>
          <p:cNvPr id="325" name="Google Shape;325;p28"/>
          <p:cNvSpPr txBox="1"/>
          <p:nvPr/>
        </p:nvSpPr>
        <p:spPr>
          <a:xfrm>
            <a:off x="1047750" y="471487"/>
            <a:ext cx="5763071"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TỔNG HỢP INSIGHT QUAN TRỌNG</a:t>
            </a:r>
            <a:endParaRPr>
              <a:latin typeface="+mj-lt"/>
            </a:endParaRPr>
          </a:p>
        </p:txBody>
      </p:sp>
      <p:sp>
        <p:nvSpPr>
          <p:cNvPr id="326" name="Google Shape;326;p28"/>
          <p:cNvSpPr txBox="1"/>
          <p:nvPr/>
        </p:nvSpPr>
        <p:spPr>
          <a:xfrm>
            <a:off x="1057275" y="3495675"/>
            <a:ext cx="298037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Skewness</a:t>
            </a:r>
            <a:endParaRPr>
              <a:latin typeface="+mj-lt"/>
            </a:endParaRPr>
          </a:p>
        </p:txBody>
      </p:sp>
      <p:sp>
        <p:nvSpPr>
          <p:cNvPr id="327" name="Google Shape;327;p28"/>
          <p:cNvSpPr txBox="1"/>
          <p:nvPr/>
        </p:nvSpPr>
        <p:spPr>
          <a:xfrm>
            <a:off x="1057275" y="3971925"/>
            <a:ext cx="283845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Dữ liệu tập trung vào nhóm hành vi thấp.</a:t>
            </a:r>
            <a:endParaRPr>
              <a:latin typeface="+mj-lt"/>
            </a:endParaRPr>
          </a:p>
        </p:txBody>
      </p:sp>
      <p:sp>
        <p:nvSpPr>
          <p:cNvPr id="328" name="Google Shape;328;p28"/>
          <p:cNvSpPr txBox="1"/>
          <p:nvPr/>
        </p:nvSpPr>
        <p:spPr>
          <a:xfrm>
            <a:off x="4676775" y="3495675"/>
            <a:ext cx="298037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Anomalies</a:t>
            </a:r>
            <a:endParaRPr>
              <a:latin typeface="+mj-lt"/>
            </a:endParaRPr>
          </a:p>
        </p:txBody>
      </p:sp>
      <p:sp>
        <p:nvSpPr>
          <p:cNvPr id="329" name="Google Shape;329;p28"/>
          <p:cNvSpPr txBox="1"/>
          <p:nvPr/>
        </p:nvSpPr>
        <p:spPr>
          <a:xfrm>
            <a:off x="4676775" y="3971925"/>
            <a:ext cx="2838450"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Nhiều outliers cần được xử lý kỹ.</a:t>
            </a:r>
            <a:endParaRPr>
              <a:latin typeface="+mj-lt"/>
            </a:endParaRPr>
          </a:p>
        </p:txBody>
      </p:sp>
      <p:sp>
        <p:nvSpPr>
          <p:cNvPr id="330" name="Google Shape;330;p28"/>
          <p:cNvSpPr txBox="1"/>
          <p:nvPr/>
        </p:nvSpPr>
        <p:spPr>
          <a:xfrm>
            <a:off x="8296275" y="3495675"/>
            <a:ext cx="298037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Non-linear</a:t>
            </a:r>
            <a:endParaRPr>
              <a:latin typeface="+mj-lt"/>
            </a:endParaRPr>
          </a:p>
        </p:txBody>
      </p:sp>
      <p:sp>
        <p:nvSpPr>
          <p:cNvPr id="331" name="Google Shape;331;p28"/>
          <p:cNvSpPr txBox="1"/>
          <p:nvPr/>
        </p:nvSpPr>
        <p:spPr>
          <a:xfrm>
            <a:off x="8296275" y="3971925"/>
            <a:ext cx="2838450" cy="4286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Mối quan hệ phức tạp, không tuyến tính.</a:t>
            </a:r>
            <a:endParaRPr>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pic>
        <p:nvPicPr>
          <p:cNvPr id="339" name="Google Shape;339;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40" name="Google Shape;340;p29"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sp>
        <p:nvSpPr>
          <p:cNvPr id="341" name="Google Shape;341;p29"/>
          <p:cNvSpPr txBox="1"/>
          <p:nvPr/>
        </p:nvSpPr>
        <p:spPr>
          <a:xfrm>
            <a:off x="1047750" y="471487"/>
            <a:ext cx="5357217"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QUY TRÌNH TIỀN XỬ LÝ DỮ LIỆU</a:t>
            </a:r>
            <a:endParaRPr>
              <a:latin typeface="+mj-lt"/>
            </a:endParaRPr>
          </a:p>
        </p:txBody>
      </p:sp>
      <p:sp>
        <p:nvSpPr>
          <p:cNvPr id="342" name="Google Shape;342;p29"/>
          <p:cNvSpPr/>
          <p:nvPr/>
        </p:nvSpPr>
        <p:spPr>
          <a:xfrm>
            <a:off x="762000" y="3943350"/>
            <a:ext cx="10668000" cy="19050"/>
          </a:xfrm>
          <a:prstGeom prst="rect">
            <a:avLst/>
          </a:prstGeom>
          <a:solidFill>
            <a:srgbClr val="00F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43" name="Google Shape;343;p29"/>
          <p:cNvSpPr/>
          <p:nvPr/>
        </p:nvSpPr>
        <p:spPr>
          <a:xfrm>
            <a:off x="2000250" y="3586162"/>
            <a:ext cx="190500" cy="190500"/>
          </a:xfrm>
          <a:prstGeom prst="roundRect">
            <a:avLst>
              <a:gd name="adj" fmla="val 50000"/>
            </a:avLst>
          </a:prstGeom>
          <a:solidFill>
            <a:srgbClr val="00F2FF"/>
          </a:solidFill>
          <a:ln w="38100" cap="flat" cmpd="sng">
            <a:solidFill>
              <a:srgbClr val="02061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44" name="Google Shape;344;p29"/>
          <p:cNvSpPr txBox="1"/>
          <p:nvPr/>
        </p:nvSpPr>
        <p:spPr>
          <a:xfrm>
            <a:off x="695325" y="4026217"/>
            <a:ext cx="2800350"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dirty="0">
                <a:solidFill>
                  <a:srgbClr val="E2E8F0"/>
                </a:solidFill>
                <a:latin typeface="+mj-lt"/>
                <a:ea typeface="Lato"/>
                <a:cs typeface="Lato"/>
                <a:sym typeface="Lato"/>
              </a:rPr>
              <a:t>Log Transform</a:t>
            </a:r>
            <a:endParaRPr dirty="0">
              <a:latin typeface="+mj-lt"/>
            </a:endParaRPr>
          </a:p>
        </p:txBody>
      </p:sp>
      <p:sp>
        <p:nvSpPr>
          <p:cNvPr id="345" name="Google Shape;345;p29"/>
          <p:cNvSpPr txBox="1"/>
          <p:nvPr/>
        </p:nvSpPr>
        <p:spPr>
          <a:xfrm>
            <a:off x="762000" y="4235767"/>
            <a:ext cx="26670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err="1">
                <a:solidFill>
                  <a:srgbClr val="E2E8F0"/>
                </a:solidFill>
                <a:latin typeface="+mj-lt"/>
                <a:ea typeface="Lato"/>
                <a:cs typeface="Lato"/>
                <a:sym typeface="Lato"/>
              </a:rPr>
              <a:t>Giảm</a:t>
            </a:r>
            <a:r>
              <a:rPr lang="en-US" sz="1200" b="0" i="0" u="none" strike="noStrike" cap="none" dirty="0">
                <a:solidFill>
                  <a:srgbClr val="E2E8F0"/>
                </a:solidFill>
                <a:latin typeface="+mj-lt"/>
                <a:ea typeface="Lato"/>
                <a:cs typeface="Lato"/>
                <a:sym typeface="Lato"/>
              </a:rPr>
              <a:t> Skewness</a:t>
            </a:r>
            <a:endParaRPr dirty="0">
              <a:latin typeface="+mj-lt"/>
            </a:endParaRPr>
          </a:p>
        </p:txBody>
      </p:sp>
      <p:sp>
        <p:nvSpPr>
          <p:cNvPr id="346" name="Google Shape;346;p29"/>
          <p:cNvSpPr/>
          <p:nvPr/>
        </p:nvSpPr>
        <p:spPr>
          <a:xfrm>
            <a:off x="4667250" y="3586162"/>
            <a:ext cx="190500" cy="190500"/>
          </a:xfrm>
          <a:prstGeom prst="roundRect">
            <a:avLst>
              <a:gd name="adj" fmla="val 50000"/>
            </a:avLst>
          </a:prstGeom>
          <a:solidFill>
            <a:srgbClr val="00F2FF"/>
          </a:solidFill>
          <a:ln w="38100" cap="flat" cmpd="sng">
            <a:solidFill>
              <a:srgbClr val="02061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47" name="Google Shape;347;p29"/>
          <p:cNvSpPr txBox="1"/>
          <p:nvPr/>
        </p:nvSpPr>
        <p:spPr>
          <a:xfrm>
            <a:off x="3362325" y="4003357"/>
            <a:ext cx="2800350"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E2E8F0"/>
                </a:solidFill>
                <a:latin typeface="+mj-lt"/>
                <a:ea typeface="Lato"/>
                <a:cs typeface="Lato"/>
                <a:sym typeface="Lato"/>
              </a:rPr>
              <a:t>Scaling</a:t>
            </a:r>
            <a:endParaRPr>
              <a:latin typeface="+mj-lt"/>
            </a:endParaRPr>
          </a:p>
        </p:txBody>
      </p:sp>
      <p:sp>
        <p:nvSpPr>
          <p:cNvPr id="348" name="Google Shape;348;p29"/>
          <p:cNvSpPr txBox="1"/>
          <p:nvPr/>
        </p:nvSpPr>
        <p:spPr>
          <a:xfrm>
            <a:off x="3429000" y="4192587"/>
            <a:ext cx="26670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E2E8F0"/>
                </a:solidFill>
                <a:latin typeface="+mj-lt"/>
                <a:ea typeface="Lato"/>
                <a:cs typeface="Lato"/>
                <a:sym typeface="Lato"/>
              </a:rPr>
              <a:t>Chuẩn hóa thang đo</a:t>
            </a:r>
            <a:endParaRPr>
              <a:latin typeface="+mj-lt"/>
            </a:endParaRPr>
          </a:p>
        </p:txBody>
      </p:sp>
      <p:sp>
        <p:nvSpPr>
          <p:cNvPr id="349" name="Google Shape;349;p29"/>
          <p:cNvSpPr/>
          <p:nvPr/>
        </p:nvSpPr>
        <p:spPr>
          <a:xfrm>
            <a:off x="7334250" y="3586162"/>
            <a:ext cx="190500" cy="190500"/>
          </a:xfrm>
          <a:prstGeom prst="roundRect">
            <a:avLst>
              <a:gd name="adj" fmla="val 50000"/>
            </a:avLst>
          </a:prstGeom>
          <a:solidFill>
            <a:srgbClr val="00F2FF"/>
          </a:solidFill>
          <a:ln w="38100" cap="flat" cmpd="sng">
            <a:solidFill>
              <a:srgbClr val="02061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50" name="Google Shape;350;p29"/>
          <p:cNvSpPr txBox="1"/>
          <p:nvPr/>
        </p:nvSpPr>
        <p:spPr>
          <a:xfrm>
            <a:off x="6029325" y="4041457"/>
            <a:ext cx="2800350"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dirty="0">
                <a:solidFill>
                  <a:srgbClr val="E2E8F0"/>
                </a:solidFill>
                <a:latin typeface="+mj-lt"/>
                <a:ea typeface="Lato"/>
                <a:cs typeface="Lato"/>
                <a:sym typeface="Lato"/>
              </a:rPr>
              <a:t>Missing Value</a:t>
            </a:r>
            <a:endParaRPr dirty="0">
              <a:latin typeface="+mj-lt"/>
            </a:endParaRPr>
          </a:p>
        </p:txBody>
      </p:sp>
      <p:sp>
        <p:nvSpPr>
          <p:cNvPr id="351" name="Google Shape;351;p29"/>
          <p:cNvSpPr txBox="1"/>
          <p:nvPr/>
        </p:nvSpPr>
        <p:spPr>
          <a:xfrm>
            <a:off x="6096000" y="4235767"/>
            <a:ext cx="26670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E2E8F0"/>
                </a:solidFill>
                <a:latin typeface="+mj-lt"/>
                <a:ea typeface="Lato"/>
                <a:cs typeface="Lato"/>
                <a:sym typeface="Lato"/>
              </a:rPr>
              <a:t>Xử lý dữ liệu thiếu</a:t>
            </a:r>
            <a:endParaRPr>
              <a:latin typeface="+mj-lt"/>
            </a:endParaRPr>
          </a:p>
        </p:txBody>
      </p:sp>
      <p:sp>
        <p:nvSpPr>
          <p:cNvPr id="352" name="Google Shape;352;p29"/>
          <p:cNvSpPr/>
          <p:nvPr/>
        </p:nvSpPr>
        <p:spPr>
          <a:xfrm>
            <a:off x="10001250" y="3586162"/>
            <a:ext cx="190500" cy="190500"/>
          </a:xfrm>
          <a:prstGeom prst="roundRect">
            <a:avLst>
              <a:gd name="adj" fmla="val 50000"/>
            </a:avLst>
          </a:prstGeom>
          <a:solidFill>
            <a:srgbClr val="00F2FF"/>
          </a:solidFill>
          <a:ln w="38100" cap="flat" cmpd="sng">
            <a:solidFill>
              <a:srgbClr val="02061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53" name="Google Shape;353;p29"/>
          <p:cNvSpPr txBox="1"/>
          <p:nvPr/>
        </p:nvSpPr>
        <p:spPr>
          <a:xfrm>
            <a:off x="8696325" y="4026217"/>
            <a:ext cx="2800350"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dirty="0">
                <a:solidFill>
                  <a:srgbClr val="E2E8F0"/>
                </a:solidFill>
                <a:latin typeface="+mj-lt"/>
                <a:ea typeface="Lato"/>
                <a:cs typeface="Lato"/>
                <a:sym typeface="Lato"/>
              </a:rPr>
              <a:t>Encoding</a:t>
            </a:r>
            <a:endParaRPr dirty="0">
              <a:latin typeface="+mj-lt"/>
            </a:endParaRPr>
          </a:p>
        </p:txBody>
      </p:sp>
      <p:sp>
        <p:nvSpPr>
          <p:cNvPr id="354" name="Google Shape;354;p29"/>
          <p:cNvSpPr txBox="1"/>
          <p:nvPr/>
        </p:nvSpPr>
        <p:spPr>
          <a:xfrm>
            <a:off x="8763000" y="4235767"/>
            <a:ext cx="26670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E2E8F0"/>
                </a:solidFill>
                <a:latin typeface="+mj-lt"/>
                <a:ea typeface="Lato"/>
                <a:cs typeface="Lato"/>
                <a:sym typeface="Lato"/>
              </a:rPr>
              <a:t>Mã hóa biến hạng mục</a:t>
            </a:r>
            <a:endParaRPr>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pic>
        <p:nvPicPr>
          <p:cNvPr id="362" name="Google Shape;362;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63" name="Google Shape;363;p30"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sp>
        <p:nvSpPr>
          <p:cNvPr id="365" name="Google Shape;365;p30"/>
          <p:cNvSpPr txBox="1"/>
          <p:nvPr/>
        </p:nvSpPr>
        <p:spPr>
          <a:xfrm>
            <a:off x="1047750" y="471487"/>
            <a:ext cx="4782294"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GIẢM CHIỀU DỮ LIỆU (PCA)</a:t>
            </a:r>
            <a:endParaRPr>
              <a:latin typeface="+mj-lt"/>
            </a:endParaRPr>
          </a:p>
        </p:txBody>
      </p:sp>
      <p:sp>
        <p:nvSpPr>
          <p:cNvPr id="367" name="Google Shape;367;p30"/>
          <p:cNvSpPr txBox="1"/>
          <p:nvPr/>
        </p:nvSpPr>
        <p:spPr>
          <a:xfrm>
            <a:off x="6381750" y="3014662"/>
            <a:ext cx="5048250" cy="115416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i="0" u="none" strike="noStrike" cap="none" dirty="0">
                <a:solidFill>
                  <a:srgbClr val="00F2FF"/>
                </a:solidFill>
                <a:latin typeface="+mj-lt"/>
                <a:ea typeface="Poppins"/>
                <a:cs typeface="Poppins"/>
                <a:sym typeface="Poppins"/>
              </a:rPr>
              <a:t>90%</a:t>
            </a:r>
            <a:endParaRPr dirty="0">
              <a:latin typeface="+mj-lt"/>
            </a:endParaRPr>
          </a:p>
        </p:txBody>
      </p:sp>
      <p:sp>
        <p:nvSpPr>
          <p:cNvPr id="368" name="Google Shape;368;p30"/>
          <p:cNvSpPr txBox="1"/>
          <p:nvPr/>
        </p:nvSpPr>
        <p:spPr>
          <a:xfrm>
            <a:off x="6381750" y="4062412"/>
            <a:ext cx="5048250" cy="25391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94A3B8"/>
                </a:solidFill>
                <a:latin typeface="+mj-lt"/>
                <a:ea typeface="Lato"/>
                <a:cs typeface="Lato"/>
                <a:sym typeface="Lato"/>
              </a:rPr>
              <a:t>Phương sai được giữ lại</a:t>
            </a:r>
            <a:endParaRPr>
              <a:latin typeface="+mj-lt"/>
            </a:endParaRPr>
          </a:p>
        </p:txBody>
      </p:sp>
      <p:sp>
        <p:nvSpPr>
          <p:cNvPr id="369" name="Google Shape;369;p30"/>
          <p:cNvSpPr txBox="1"/>
          <p:nvPr/>
        </p:nvSpPr>
        <p:spPr>
          <a:xfrm>
            <a:off x="6381750" y="4519612"/>
            <a:ext cx="5048250"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a:solidFill>
                  <a:srgbClr val="E2E8F0"/>
                </a:solidFill>
                <a:latin typeface="+mj-lt"/>
                <a:ea typeface="Lato"/>
                <a:cs typeface="Lato"/>
                <a:sym typeface="Lato"/>
              </a:rPr>
              <a:t>PCA </a:t>
            </a:r>
            <a:r>
              <a:rPr lang="en-US" sz="1200" b="0" i="0" u="none" strike="noStrike" cap="none" dirty="0" err="1">
                <a:solidFill>
                  <a:srgbClr val="E2E8F0"/>
                </a:solidFill>
                <a:latin typeface="+mj-lt"/>
                <a:ea typeface="Lato"/>
                <a:cs typeface="Lato"/>
                <a:sym typeface="Lato"/>
              </a:rPr>
              <a:t>giúp</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giảm</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nhiễu</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và</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loại</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bỏ</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các</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biến</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có</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tương</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quan</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quá</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cao</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tối</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ưu</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hóa</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quá</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trình</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tính</a:t>
            </a:r>
            <a:r>
              <a:rPr lang="en-US" sz="1200" b="0" i="0" u="none" strike="noStrike" cap="none" dirty="0">
                <a:solidFill>
                  <a:srgbClr val="E2E8F0"/>
                </a:solidFill>
                <a:latin typeface="+mj-lt"/>
                <a:ea typeface="Lato"/>
                <a:cs typeface="Lato"/>
                <a:sym typeface="Lato"/>
              </a:rPr>
              <a:t> </a:t>
            </a:r>
            <a:r>
              <a:rPr lang="en-US" sz="1200" b="0" i="0" u="none" strike="noStrike" cap="none" dirty="0" err="1">
                <a:solidFill>
                  <a:srgbClr val="E2E8F0"/>
                </a:solidFill>
                <a:latin typeface="+mj-lt"/>
                <a:ea typeface="Lato"/>
                <a:cs typeface="Lato"/>
                <a:sym typeface="Lato"/>
              </a:rPr>
              <a:t>toán</a:t>
            </a:r>
            <a:r>
              <a:rPr lang="en-US" sz="1200" b="0" i="0" u="none" strike="noStrike" cap="none" dirty="0">
                <a:solidFill>
                  <a:srgbClr val="E2E8F0"/>
                </a:solidFill>
                <a:latin typeface="+mj-lt"/>
                <a:ea typeface="Lato"/>
                <a:cs typeface="Lato"/>
                <a:sym typeface="Lato"/>
              </a:rPr>
              <a:t>.</a:t>
            </a:r>
            <a:endParaRPr dirty="0">
              <a:latin typeface="+mj-lt"/>
            </a:endParaRPr>
          </a:p>
        </p:txBody>
      </p:sp>
      <p:pic>
        <p:nvPicPr>
          <p:cNvPr id="3" name="Picture 2">
            <a:extLst>
              <a:ext uri="{FF2B5EF4-FFF2-40B4-BE49-F238E27FC236}">
                <a16:creationId xmlns:a16="http://schemas.microsoft.com/office/drawing/2014/main" id="{BEE10B85-ABC3-9D04-B1F8-0A386DF3104A}"/>
              </a:ext>
            </a:extLst>
          </p:cNvPr>
          <p:cNvPicPr>
            <a:picLocks noChangeAspect="1"/>
          </p:cNvPicPr>
          <p:nvPr/>
        </p:nvPicPr>
        <p:blipFill>
          <a:blip r:embed="rId5"/>
          <a:stretch>
            <a:fillRect/>
          </a:stretch>
        </p:blipFill>
        <p:spPr>
          <a:xfrm>
            <a:off x="548619" y="1978961"/>
            <a:ext cx="5780556" cy="416690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pic>
        <p:nvPicPr>
          <p:cNvPr id="377" name="Google Shape;377;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78" name="Google Shape;378;p31" descr="image.png"/>
          <p:cNvPicPr preferRelativeResize="0"/>
          <p:nvPr/>
        </p:nvPicPr>
        <p:blipFill rotWithShape="1">
          <a:blip r:embed="rId4">
            <a:alphaModFix/>
          </a:blip>
          <a:srcRect/>
          <a:stretch/>
        </p:blipFill>
        <p:spPr>
          <a:xfrm>
            <a:off x="762000" y="381000"/>
            <a:ext cx="10668000" cy="666750"/>
          </a:xfrm>
          <a:prstGeom prst="rect">
            <a:avLst/>
          </a:prstGeom>
          <a:noFill/>
          <a:ln>
            <a:noFill/>
          </a:ln>
        </p:spPr>
      </p:pic>
      <p:pic>
        <p:nvPicPr>
          <p:cNvPr id="379" name="Google Shape;379;p31" descr="image.png"/>
          <p:cNvPicPr preferRelativeResize="0"/>
          <p:nvPr/>
        </p:nvPicPr>
        <p:blipFill rotWithShape="1">
          <a:blip r:embed="rId5">
            <a:alphaModFix/>
          </a:blip>
          <a:srcRect/>
          <a:stretch/>
        </p:blipFill>
        <p:spPr>
          <a:xfrm>
            <a:off x="6381750" y="2102860"/>
            <a:ext cx="5048250" cy="1724025"/>
          </a:xfrm>
          <a:prstGeom prst="rect">
            <a:avLst/>
          </a:prstGeom>
          <a:noFill/>
          <a:ln>
            <a:noFill/>
          </a:ln>
        </p:spPr>
      </p:pic>
      <p:pic>
        <p:nvPicPr>
          <p:cNvPr id="380" name="Google Shape;380;p31" descr="image.png"/>
          <p:cNvPicPr preferRelativeResize="0"/>
          <p:nvPr/>
        </p:nvPicPr>
        <p:blipFill rotWithShape="1">
          <a:blip r:embed="rId5">
            <a:alphaModFix/>
          </a:blip>
          <a:srcRect/>
          <a:stretch/>
        </p:blipFill>
        <p:spPr>
          <a:xfrm>
            <a:off x="6381750" y="4363887"/>
            <a:ext cx="5048250" cy="1724025"/>
          </a:xfrm>
          <a:prstGeom prst="rect">
            <a:avLst/>
          </a:prstGeom>
          <a:noFill/>
          <a:ln>
            <a:noFill/>
          </a:ln>
        </p:spPr>
      </p:pic>
      <p:sp>
        <p:nvSpPr>
          <p:cNvPr id="381" name="Google Shape;381;p31"/>
          <p:cNvSpPr txBox="1"/>
          <p:nvPr/>
        </p:nvSpPr>
        <p:spPr>
          <a:xfrm>
            <a:off x="1047750" y="471487"/>
            <a:ext cx="5882282"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00F2FF"/>
                </a:solidFill>
                <a:latin typeface="+mj-lt"/>
                <a:ea typeface="Poppins"/>
                <a:cs typeface="Poppins"/>
                <a:sym typeface="Poppins"/>
              </a:rPr>
              <a:t>PHÂN CỤM KHÁM PHÁ (K-MEANS)</a:t>
            </a:r>
            <a:endParaRPr>
              <a:latin typeface="+mj-lt"/>
            </a:endParaRPr>
          </a:p>
        </p:txBody>
      </p:sp>
      <p:sp>
        <p:nvSpPr>
          <p:cNvPr id="382" name="Google Shape;382;p31"/>
          <p:cNvSpPr txBox="1"/>
          <p:nvPr/>
        </p:nvSpPr>
        <p:spPr>
          <a:xfrm>
            <a:off x="6772275" y="2398136"/>
            <a:ext cx="46805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00F2FF"/>
                </a:solidFill>
                <a:latin typeface="+mj-lt"/>
                <a:ea typeface="Poppins"/>
                <a:cs typeface="Poppins"/>
                <a:sym typeface="Poppins"/>
              </a:rPr>
              <a:t>EDA Only</a:t>
            </a:r>
            <a:endParaRPr dirty="0">
              <a:latin typeface="+mj-lt"/>
            </a:endParaRPr>
          </a:p>
        </p:txBody>
      </p:sp>
      <p:sp>
        <p:nvSpPr>
          <p:cNvPr id="383" name="Google Shape;383;p31"/>
          <p:cNvSpPr txBox="1"/>
          <p:nvPr/>
        </p:nvSpPr>
        <p:spPr>
          <a:xfrm>
            <a:off x="6772275" y="2874386"/>
            <a:ext cx="4457700" cy="6232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err="1">
                <a:solidFill>
                  <a:srgbClr val="94A3B8"/>
                </a:solidFill>
                <a:latin typeface="+mj-lt"/>
                <a:ea typeface="Lato"/>
                <a:cs typeface="Lato"/>
                <a:sym typeface="Lato"/>
              </a:rPr>
              <a:t>Sử</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dụng</a:t>
            </a:r>
            <a:r>
              <a:rPr lang="en-US" sz="1350" b="0" i="0" u="none" strike="noStrike" cap="none" dirty="0">
                <a:solidFill>
                  <a:srgbClr val="94A3B8"/>
                </a:solidFill>
                <a:latin typeface="+mj-lt"/>
                <a:ea typeface="Lato"/>
                <a:cs typeface="Lato"/>
                <a:sym typeface="Lato"/>
              </a:rPr>
              <a:t> K-Means </a:t>
            </a:r>
            <a:r>
              <a:rPr lang="en-US" sz="1350" b="0" i="0" u="none" strike="noStrike" cap="none" dirty="0" err="1">
                <a:solidFill>
                  <a:srgbClr val="94A3B8"/>
                </a:solidFill>
                <a:latin typeface="+mj-lt"/>
                <a:ea typeface="Lato"/>
                <a:cs typeface="Lato"/>
                <a:sym typeface="Lato"/>
              </a:rPr>
              <a:t>trong</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giai</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đoạn</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này</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chỉ</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nhằm</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mục</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đích</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khám</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phá</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các</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nhóm</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người</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học</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tiềm</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năng</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không</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dùng</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để</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gán</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nhãn</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cuối</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cùng</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cho</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mô</a:t>
            </a:r>
            <a:r>
              <a:rPr lang="en-US" sz="1350" b="0" i="0" u="none" strike="noStrike" cap="none" dirty="0">
                <a:solidFill>
                  <a:srgbClr val="94A3B8"/>
                </a:solidFill>
                <a:latin typeface="+mj-lt"/>
                <a:ea typeface="Lato"/>
                <a:cs typeface="Lato"/>
                <a:sym typeface="Lato"/>
              </a:rPr>
              <a:t> </a:t>
            </a:r>
            <a:r>
              <a:rPr lang="en-US" sz="1350" b="0" i="0" u="none" strike="noStrike" cap="none" dirty="0" err="1">
                <a:solidFill>
                  <a:srgbClr val="94A3B8"/>
                </a:solidFill>
                <a:latin typeface="+mj-lt"/>
                <a:ea typeface="Lato"/>
                <a:cs typeface="Lato"/>
                <a:sym typeface="Lato"/>
              </a:rPr>
              <a:t>hình</a:t>
            </a:r>
            <a:r>
              <a:rPr lang="en-US" sz="1350" b="0" i="0" u="none" strike="noStrike" cap="none" dirty="0">
                <a:solidFill>
                  <a:srgbClr val="94A3B8"/>
                </a:solidFill>
                <a:latin typeface="+mj-lt"/>
                <a:ea typeface="Lato"/>
                <a:cs typeface="Lato"/>
                <a:sym typeface="Lato"/>
              </a:rPr>
              <a:t> Supervised.</a:t>
            </a:r>
            <a:endParaRPr dirty="0">
              <a:latin typeface="+mj-lt"/>
            </a:endParaRPr>
          </a:p>
        </p:txBody>
      </p:sp>
      <p:sp>
        <p:nvSpPr>
          <p:cNvPr id="384" name="Google Shape;384;p31"/>
          <p:cNvSpPr txBox="1"/>
          <p:nvPr/>
        </p:nvSpPr>
        <p:spPr>
          <a:xfrm>
            <a:off x="6677025" y="4659162"/>
            <a:ext cx="46805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F2FF"/>
                </a:solidFill>
                <a:latin typeface="+mj-lt"/>
                <a:ea typeface="Poppins"/>
                <a:cs typeface="Poppins"/>
                <a:sym typeface="Poppins"/>
              </a:rPr>
              <a:t>Nhận diện cụm</a:t>
            </a:r>
            <a:endParaRPr>
              <a:latin typeface="+mj-lt"/>
            </a:endParaRPr>
          </a:p>
        </p:txBody>
      </p:sp>
      <p:sp>
        <p:nvSpPr>
          <p:cNvPr id="385" name="Google Shape;385;p31"/>
          <p:cNvSpPr txBox="1"/>
          <p:nvPr/>
        </p:nvSpPr>
        <p:spPr>
          <a:xfrm>
            <a:off x="6677025" y="5135412"/>
            <a:ext cx="445770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mj-lt"/>
                <a:ea typeface="Lato"/>
                <a:cs typeface="Lato"/>
                <a:sym typeface="Lato"/>
              </a:rPr>
              <a:t>Tìm ra điểm Elbow để xác định số lượng cụm (K) tối ưu giúp phân tách học viên rõ ràng nhất.</a:t>
            </a:r>
            <a:endParaRPr>
              <a:latin typeface="+mj-lt"/>
            </a:endParaRPr>
          </a:p>
        </p:txBody>
      </p:sp>
      <p:pic>
        <p:nvPicPr>
          <p:cNvPr id="3" name="Picture 2">
            <a:extLst>
              <a:ext uri="{FF2B5EF4-FFF2-40B4-BE49-F238E27FC236}">
                <a16:creationId xmlns:a16="http://schemas.microsoft.com/office/drawing/2014/main" id="{068FD0A6-2288-56A0-81D1-0D0005B38623}"/>
              </a:ext>
            </a:extLst>
          </p:cNvPr>
          <p:cNvPicPr>
            <a:picLocks noChangeAspect="1"/>
          </p:cNvPicPr>
          <p:nvPr/>
        </p:nvPicPr>
        <p:blipFill>
          <a:blip r:embed="rId6"/>
          <a:stretch>
            <a:fillRect/>
          </a:stretch>
        </p:blipFill>
        <p:spPr>
          <a:xfrm>
            <a:off x="1154709" y="2264898"/>
            <a:ext cx="4359018" cy="337595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pic>
        <p:nvPicPr>
          <p:cNvPr id="393" name="Google Shape;393;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96" name="Google Shape;396;p32"/>
          <p:cNvSpPr txBox="1"/>
          <p:nvPr/>
        </p:nvSpPr>
        <p:spPr>
          <a:xfrm>
            <a:off x="3816392" y="2244529"/>
            <a:ext cx="4327572" cy="6953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dirty="0">
                <a:solidFill>
                  <a:srgbClr val="00F2FF"/>
                </a:solidFill>
                <a:latin typeface="+mj-lt"/>
                <a:ea typeface="Lato"/>
                <a:cs typeface="Lato"/>
                <a:sym typeface="Lato"/>
              </a:rPr>
              <a:t>TỔNG KẾT EDA</a:t>
            </a:r>
            <a:endParaRPr dirty="0">
              <a:latin typeface="+mj-lt"/>
            </a:endParaRPr>
          </a:p>
        </p:txBody>
      </p:sp>
      <p:sp>
        <p:nvSpPr>
          <p:cNvPr id="397" name="Google Shape;397;p32"/>
          <p:cNvSpPr txBox="1"/>
          <p:nvPr/>
        </p:nvSpPr>
        <p:spPr>
          <a:xfrm>
            <a:off x="2285925" y="4003765"/>
            <a:ext cx="7620000" cy="90024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dirty="0" err="1">
                <a:solidFill>
                  <a:srgbClr val="E2E8F0"/>
                </a:solidFill>
                <a:latin typeface="+mj-lt"/>
                <a:ea typeface="Lato"/>
                <a:cs typeface="Lato"/>
                <a:sym typeface="Lato"/>
              </a:rPr>
              <a:t>Dữ</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liệu</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MOOCCubeX</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có</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cấu</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trúc</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phức</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tạp</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và</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nhiều</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biến</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động</a:t>
            </a:r>
            <a:r>
              <a:rPr lang="en-US" sz="1950" b="0" i="0" u="none" strike="noStrike" cap="none" dirty="0">
                <a:solidFill>
                  <a:srgbClr val="E2E8F0"/>
                </a:solidFill>
                <a:latin typeface="+mj-lt"/>
                <a:ea typeface="Lato"/>
                <a:cs typeface="Lato"/>
                <a:sym typeface="Lato"/>
              </a:rPr>
              <a:t>. Các Insight </a:t>
            </a:r>
            <a:r>
              <a:rPr lang="en-US" sz="1950" b="0" i="0" u="none" strike="noStrike" cap="none" dirty="0" err="1">
                <a:solidFill>
                  <a:srgbClr val="E2E8F0"/>
                </a:solidFill>
                <a:latin typeface="+mj-lt"/>
                <a:ea typeface="Lato"/>
                <a:cs typeface="Lato"/>
                <a:sym typeface="Lato"/>
              </a:rPr>
              <a:t>từ</a:t>
            </a:r>
            <a:r>
              <a:rPr lang="en-US" sz="1950" b="0" i="0" u="none" strike="noStrike" cap="none" dirty="0">
                <a:solidFill>
                  <a:srgbClr val="E2E8F0"/>
                </a:solidFill>
                <a:latin typeface="+mj-lt"/>
                <a:ea typeface="Lato"/>
                <a:cs typeface="Lato"/>
                <a:sym typeface="Lato"/>
              </a:rPr>
              <a:t> EDA </a:t>
            </a:r>
            <a:r>
              <a:rPr lang="en-US" sz="1950" b="0" i="0" u="none" strike="noStrike" cap="none" dirty="0" err="1">
                <a:solidFill>
                  <a:srgbClr val="E2E8F0"/>
                </a:solidFill>
                <a:latin typeface="+mj-lt"/>
                <a:ea typeface="Lato"/>
                <a:cs typeface="Lato"/>
                <a:sym typeface="Lato"/>
              </a:rPr>
              <a:t>chính</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là</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kim</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chỉ</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nam</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cho</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bước</a:t>
            </a:r>
            <a:r>
              <a:rPr lang="en-US" sz="1950" b="0" i="0" u="none" strike="noStrike" cap="none" dirty="0">
                <a:solidFill>
                  <a:srgbClr val="E2E8F0"/>
                </a:solidFill>
                <a:latin typeface="+mj-lt"/>
                <a:ea typeface="Lato"/>
                <a:cs typeface="Lato"/>
                <a:sym typeface="Lato"/>
              </a:rPr>
              <a:t> Feature Engineering </a:t>
            </a:r>
            <a:r>
              <a:rPr lang="en-US" sz="1950" b="0" i="0" u="none" strike="noStrike" cap="none" dirty="0" err="1">
                <a:solidFill>
                  <a:srgbClr val="E2E8F0"/>
                </a:solidFill>
                <a:latin typeface="+mj-lt"/>
                <a:ea typeface="Lato"/>
                <a:cs typeface="Lato"/>
                <a:sym typeface="Lato"/>
              </a:rPr>
              <a:t>và</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xây</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dựng</a:t>
            </a:r>
            <a:r>
              <a:rPr lang="en-US" sz="1950" b="0" i="0" u="none" strike="noStrike" cap="none" dirty="0">
                <a:solidFill>
                  <a:srgbClr val="E2E8F0"/>
                </a:solidFill>
                <a:latin typeface="+mj-lt"/>
                <a:ea typeface="Lato"/>
                <a:cs typeface="Lato"/>
                <a:sym typeface="Lato"/>
              </a:rPr>
              <a:t> Pipeline </a:t>
            </a:r>
            <a:r>
              <a:rPr lang="en-US" sz="1950" b="0" i="0" u="none" strike="noStrike" cap="none" dirty="0" err="1">
                <a:solidFill>
                  <a:srgbClr val="E2E8F0"/>
                </a:solidFill>
                <a:latin typeface="+mj-lt"/>
                <a:ea typeface="Lato"/>
                <a:cs typeface="Lato"/>
                <a:sym typeface="Lato"/>
              </a:rPr>
              <a:t>dự</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đoán</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phía</a:t>
            </a:r>
            <a:r>
              <a:rPr lang="en-US" sz="1950" b="0" i="0" u="none" strike="noStrike" cap="none" dirty="0">
                <a:solidFill>
                  <a:srgbClr val="E2E8F0"/>
                </a:solidFill>
                <a:latin typeface="+mj-lt"/>
                <a:ea typeface="Lato"/>
                <a:cs typeface="Lato"/>
                <a:sym typeface="Lato"/>
              </a:rPr>
              <a:t> </a:t>
            </a:r>
            <a:r>
              <a:rPr lang="en-US" sz="1950" b="0" i="0" u="none" strike="noStrike" cap="none" dirty="0" err="1">
                <a:solidFill>
                  <a:srgbClr val="E2E8F0"/>
                </a:solidFill>
                <a:latin typeface="+mj-lt"/>
                <a:ea typeface="Lato"/>
                <a:cs typeface="Lato"/>
                <a:sym typeface="Lato"/>
              </a:rPr>
              <a:t>sau</a:t>
            </a:r>
            <a:r>
              <a:rPr lang="en-US" sz="1950" b="0" i="0" u="none" strike="noStrike" cap="none" dirty="0">
                <a:solidFill>
                  <a:srgbClr val="E2E8F0"/>
                </a:solidFill>
                <a:latin typeface="+mj-lt"/>
                <a:ea typeface="Lato"/>
                <a:cs typeface="Lato"/>
                <a:sym typeface="Lato"/>
              </a:rPr>
              <a:t>.</a:t>
            </a:r>
            <a:endParaRPr dirty="0">
              <a:latin typeface="+mj-l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1092</Words>
  <Application>Microsoft Office PowerPoint</Application>
  <PresentationFormat>Widescreen</PresentationFormat>
  <Paragraphs>110</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Lato</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Nguyễn Thanh Sơn</cp:lastModifiedBy>
  <cp:revision>9</cp:revision>
  <dcterms:modified xsi:type="dcterms:W3CDTF">2026-05-07T08:35:22Z</dcterms:modified>
</cp:coreProperties>
</file>